
<file path=[Content_Types].xml><?xml version="1.0" encoding="utf-8"?>
<Types xmlns="http://schemas.openxmlformats.org/package/2006/content-types">
  <Default Extension="png" ContentType="image/png"/>
  <Default Extension="bin" ContentType="application/vnd.ms-office.activeX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5512D124-5CC6-11CF-8D67-00AA00BDCE1D}" ax:persistence="persistStream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5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7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9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8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9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4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6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9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2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36335-1EE7-44CF-80A0-7FF95EFFB4D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8F272-FF06-4F2A-B09A-3E4F0F11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7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316"/>
            <a:ext cx="5399314" cy="304057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903514" y="1632857"/>
            <a:ext cx="3570515" cy="67491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903514" y="1785257"/>
            <a:ext cx="3494315" cy="66402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51856" y="3073225"/>
            <a:ext cx="422365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 smtClean="0">
                <a:solidFill>
                  <a:srgbClr val="FF0000"/>
                </a:solidFill>
              </a:rPr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menjelaskan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prinsip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dasar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kerja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cuaca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dalam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mendeteksi</a:t>
            </a:r>
            <a:r>
              <a:rPr lang="en-US" sz="1200" b="1" dirty="0" smtClean="0"/>
              <a:t> target (</a:t>
            </a:r>
            <a:r>
              <a:rPr lang="en-US" sz="1200" b="1" dirty="0" err="1" smtClean="0"/>
              <a:t>hidrometeor</a:t>
            </a:r>
            <a:r>
              <a:rPr lang="en-US" sz="1200" b="1" dirty="0" smtClean="0"/>
              <a:t>)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,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,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awan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76200" y="3646149"/>
            <a:ext cx="539931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solidFill>
                  <a:srgbClr val="FF0000"/>
                </a:solidFill>
              </a:rPr>
              <a:t>Radar 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Antena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elektromagnetik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bentuk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b="1" dirty="0" err="1" smtClean="0"/>
              <a:t>merah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muda</a:t>
            </a:r>
            <a:r>
              <a:rPr lang="en-US" sz="1200" b="1" dirty="0" smtClean="0"/>
              <a:t> (Pulse going out)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5845628" y="287024"/>
            <a:ext cx="539931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Awan/</a:t>
            </a:r>
            <a:r>
              <a:rPr lang="en-US" sz="1400" b="1" dirty="0" err="1" smtClean="0">
                <a:solidFill>
                  <a:srgbClr val="FF0000"/>
                </a:solidFill>
              </a:rPr>
              <a:t>Hujan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awan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air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Kotak </a:t>
            </a:r>
            <a:r>
              <a:rPr lang="en-US" sz="1200" dirty="0" err="1" smtClean="0"/>
              <a:t>pembesaran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partikel-partikel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yang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target radar.</a:t>
            </a:r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5845628" y="1115851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Mengenai</a:t>
            </a:r>
            <a:r>
              <a:rPr lang="en-US" sz="1400" b="1" dirty="0" smtClean="0">
                <a:solidFill>
                  <a:srgbClr val="FF0000"/>
                </a:solidFill>
              </a:rPr>
              <a:t> Target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mencapai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es</a:t>
            </a:r>
            <a:r>
              <a:rPr lang="en-US" sz="1200" dirty="0" smtClean="0"/>
              <a:t>,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dipantulkan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segala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Fenomena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b="1" dirty="0" err="1" smtClean="0"/>
              <a:t>hamburan</a:t>
            </a:r>
            <a:r>
              <a:rPr lang="en-US" sz="1200" b="1" dirty="0" smtClean="0"/>
              <a:t> (scattering)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5845628" y="2107573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 smtClean="0">
                <a:solidFill>
                  <a:srgbClr val="FF0000"/>
                </a:solidFill>
              </a:rPr>
              <a:t>Energi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Kembali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ke</a:t>
            </a:r>
            <a:r>
              <a:rPr lang="en-US" sz="1400" b="1" dirty="0" smtClean="0">
                <a:solidFill>
                  <a:srgbClr val="FF0000"/>
                </a:solidFill>
              </a:rPr>
              <a:t> Radar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antena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b="1" dirty="0" err="1" smtClean="0"/>
              <a:t>hijau</a:t>
            </a:r>
            <a:r>
              <a:rPr lang="en-US" sz="1200" b="1" dirty="0" smtClean="0"/>
              <a:t> (Energy returning)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b="1" dirty="0" smtClean="0"/>
              <a:t>echo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dirty="0" smtClean="0"/>
              <a:t>backscatter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5845628" y="3138317"/>
            <a:ext cx="6096000" cy="104644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/>
              <a:t>Kotak </a:t>
            </a:r>
            <a:r>
              <a:rPr lang="en-US" sz="1400" b="1" dirty="0" err="1" smtClean="0"/>
              <a:t>hitam</a:t>
            </a:r>
            <a:r>
              <a:rPr lang="en-US" sz="1400" b="1" dirty="0" smtClean="0"/>
              <a:t> di </a:t>
            </a:r>
            <a:r>
              <a:rPr lang="en-US" sz="1400" b="1" dirty="0" err="1" smtClean="0"/>
              <a:t>dalam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awan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memperlihatkan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bahwa</a:t>
            </a:r>
            <a:r>
              <a:rPr lang="en-US" sz="1400" b="1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"</a:t>
            </a:r>
            <a:r>
              <a:rPr lang="en-US" sz="1200" dirty="0" err="1" smtClean="0"/>
              <a:t>melihat</a:t>
            </a:r>
            <a:r>
              <a:rPr lang="en-US" sz="1200" dirty="0" smtClean="0"/>
              <a:t>" </a:t>
            </a:r>
            <a:r>
              <a:rPr lang="en-US" sz="1200" dirty="0" err="1" smtClean="0"/>
              <a:t>awan</a:t>
            </a:r>
            <a:r>
              <a:rPr lang="en-US" sz="1200" dirty="0" smtClean="0"/>
              <a:t> </a:t>
            </a:r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keseluruhan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</a:t>
            </a:r>
            <a:r>
              <a:rPr lang="en-US" sz="1200" b="1" dirty="0" err="1" smtClean="0"/>
              <a:t>jutaan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partikel</a:t>
            </a:r>
            <a:r>
              <a:rPr lang="en-US" sz="1200" b="1" dirty="0" smtClean="0"/>
              <a:t> air/</a:t>
            </a:r>
            <a:r>
              <a:rPr lang="en-US" sz="1200" b="1" dirty="0" err="1" smtClean="0"/>
              <a:t>es</a:t>
            </a:r>
            <a:r>
              <a:rPr lang="en-US" sz="1200" dirty="0" smtClean="0"/>
              <a:t> 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suatu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udara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kuat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cxnSp>
        <p:nvCxnSpPr>
          <p:cNvPr id="17" name="Elbow Connector 16"/>
          <p:cNvCxnSpPr/>
          <p:nvPr/>
        </p:nvCxnSpPr>
        <p:spPr>
          <a:xfrm rot="5400000" flipH="1" flipV="1">
            <a:off x="79675" y="3022755"/>
            <a:ext cx="918337" cy="35922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10800000" flipV="1">
            <a:off x="4212772" y="1251857"/>
            <a:ext cx="1632857" cy="457200"/>
          </a:xfrm>
          <a:prstGeom prst="bentConnector3">
            <a:avLst>
              <a:gd name="adj1" fmla="val 10066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 rot="10800000">
            <a:off x="2884714" y="2107573"/>
            <a:ext cx="2960914" cy="200198"/>
          </a:xfrm>
          <a:prstGeom prst="bentConnector3">
            <a:avLst>
              <a:gd name="adj1" fmla="val 8051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6200000" flipV="1">
            <a:off x="4782483" y="2203205"/>
            <a:ext cx="1309861" cy="89262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0800000" flipV="1">
            <a:off x="5029200" y="424542"/>
            <a:ext cx="816428" cy="53958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200" y="4353727"/>
            <a:ext cx="10711543" cy="2369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Apa</a:t>
            </a:r>
            <a:r>
              <a:rPr lang="en-US" sz="1600" b="1" dirty="0" smtClean="0"/>
              <a:t> yang </a:t>
            </a:r>
            <a:r>
              <a:rPr lang="en-US" sz="1600" b="1" dirty="0" err="1" smtClean="0"/>
              <a:t>Dihitung</a:t>
            </a:r>
            <a:r>
              <a:rPr lang="en-US" sz="1600" b="1" dirty="0" smtClean="0"/>
              <a:t> Radar? </a:t>
            </a:r>
            <a:r>
              <a:rPr lang="en-US" sz="1200" dirty="0" smtClean="0"/>
              <a:t>Dari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1. (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Target) 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tempuh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pergi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</a:t>
            </a:r>
          </a:p>
          <a:p>
            <a:endParaRPr lang="en-US" sz="1200" b="1" dirty="0"/>
          </a:p>
          <a:p>
            <a:r>
              <a:rPr lang="en-US" sz="1200" b="1" dirty="0" smtClean="0"/>
              <a:t>                                  r</a:t>
            </a:r>
            <a:r>
              <a:rPr lang="en-US" sz="1200" dirty="0" smtClean="0"/>
              <a:t> = </a:t>
            </a:r>
            <a:r>
              <a:rPr lang="en-US" sz="1200" dirty="0" err="1" smtClean="0"/>
              <a:t>jarak</a:t>
            </a:r>
            <a:r>
              <a:rPr lang="en-US" sz="1200" dirty="0" smtClean="0"/>
              <a:t> target , </a:t>
            </a:r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, </a:t>
            </a:r>
            <a:r>
              <a:rPr lang="en-US" sz="1200" b="1" dirty="0" smtClean="0"/>
              <a:t>t</a:t>
            </a:r>
            <a:r>
              <a:rPr lang="en-US" sz="1200" dirty="0" smtClean="0"/>
              <a:t> =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tempuh</a:t>
            </a:r>
            <a:r>
              <a:rPr lang="en-US" sz="1200" dirty="0" smtClean="0"/>
              <a:t> </a:t>
            </a:r>
            <a:r>
              <a:rPr lang="en-US" sz="1200" dirty="0" err="1" smtClean="0"/>
              <a:t>pulang-pergi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</a:p>
          <a:p>
            <a:endParaRPr lang="en-US" sz="1200" dirty="0" smtClean="0"/>
          </a:p>
          <a:p>
            <a:r>
              <a:rPr lang="en-US" sz="1200" b="1" dirty="0" smtClean="0"/>
              <a:t>2. (</a:t>
            </a:r>
            <a:r>
              <a:rPr lang="en-US" sz="1200" b="1" dirty="0" err="1" smtClean="0"/>
              <a:t>Intensitas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kuat</a:t>
            </a:r>
            <a:r>
              <a:rPr lang="en-US" sz="1200" dirty="0" smtClean="0"/>
              <a:t> →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lemah</a:t>
            </a:r>
            <a:r>
              <a:rPr lang="en-US" sz="1200" dirty="0" smtClean="0"/>
              <a:t> → </a:t>
            </a:r>
            <a:r>
              <a:rPr lang="en-US" sz="1200" dirty="0" err="1" smtClean="0"/>
              <a:t>sedikit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Besarnya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ditampilkan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b="1" dirty="0" err="1" smtClean="0"/>
              <a:t>reflektivitas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dBZ</a:t>
            </a:r>
            <a:r>
              <a:rPr lang="en-US" sz="1200" b="1" dirty="0" smtClean="0"/>
              <a:t>)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200" b="1" dirty="0" smtClean="0"/>
              <a:t>3. (</a:t>
            </a:r>
            <a:r>
              <a:rPr lang="en-US" sz="1200" b="1" dirty="0" err="1" smtClean="0"/>
              <a:t>Kecepatan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Partikel</a:t>
            </a:r>
            <a:r>
              <a:rPr lang="en-US" sz="1200" b="1" dirty="0" smtClean="0"/>
              <a:t>)</a:t>
            </a:r>
          </a:p>
          <a:p>
            <a:r>
              <a:rPr lang="en-US" sz="1200" dirty="0" err="1" smtClean="0"/>
              <a:t>Jika</a:t>
            </a:r>
            <a:r>
              <a:rPr lang="en-US" sz="1200" dirty="0" smtClean="0"/>
              <a:t> radar Doppler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, </a:t>
            </a:r>
            <a:r>
              <a:rPr lang="en-US" sz="1200" dirty="0" err="1" smtClean="0"/>
              <a:t>perubahan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menghitung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angin</a:t>
            </a:r>
            <a:r>
              <a:rPr lang="en-US" sz="1200" dirty="0" smtClean="0"/>
              <a:t> </a:t>
            </a:r>
            <a:r>
              <a:rPr lang="en-US" sz="1200" dirty="0" err="1" smtClean="0"/>
              <a:t>menuju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menjauhi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9" y="4863519"/>
            <a:ext cx="647700" cy="35242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68143" y="4516246"/>
            <a:ext cx="5573485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Kesimpulan</a:t>
            </a:r>
            <a:endParaRPr lang="en-US" sz="16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menggambarkan</a:t>
            </a:r>
            <a:r>
              <a:rPr lang="en-US" sz="1200" dirty="0" smtClean="0"/>
              <a:t> proses </a:t>
            </a:r>
            <a:r>
              <a:rPr lang="en-US" sz="1200" b="1" dirty="0" err="1" smtClean="0"/>
              <a:t>pemancaran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r>
              <a:rPr lang="en-US" sz="1200" b="1" dirty="0" smtClean="0"/>
              <a:t> radar → </a:t>
            </a:r>
            <a:r>
              <a:rPr lang="en-US" sz="1200" b="1" dirty="0" err="1" smtClean="0"/>
              <a:t>mengenai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tetesan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dipantulkan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kembali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diterima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sebagai</a:t>
            </a:r>
            <a:r>
              <a:rPr lang="en-US" sz="1200" b="1" dirty="0" smtClean="0"/>
              <a:t> echo</a:t>
            </a:r>
            <a:r>
              <a:rPr lang="en-US" sz="1200" dirty="0" smtClean="0"/>
              <a:t>. Dari echo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lokasi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intensitas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pergerakan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massa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udara</a:t>
            </a:r>
            <a:r>
              <a:rPr lang="en-US" sz="1200" dirty="0" smtClean="0"/>
              <a:t>.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konsep</a:t>
            </a:r>
            <a:r>
              <a:rPr lang="en-US" sz="1200" dirty="0" smtClean="0"/>
              <a:t> paling </a:t>
            </a:r>
            <a:r>
              <a:rPr lang="en-US" sz="1200" dirty="0" err="1" smtClean="0"/>
              <a:t>dasar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pengamatan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211388" y="325004"/>
            <a:ext cx="373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DASAR KERJA RADAR CUACA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62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79616" y="105456"/>
            <a:ext cx="11789754" cy="6291861"/>
            <a:chOff x="179616" y="105456"/>
            <a:chExt cx="11789754" cy="629186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16" y="105456"/>
              <a:ext cx="11789754" cy="5076144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179616" y="3897086"/>
              <a:ext cx="3597727" cy="728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79616" y="4150548"/>
              <a:ext cx="11789754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</a:rPr>
                <a:t>Single Polarization</a:t>
              </a:r>
              <a:endParaRPr lang="en-US" sz="1600" dirty="0" smtClean="0">
                <a:solidFill>
                  <a:srgbClr val="FF0000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Mengukur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satu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arah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Hanya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memberikan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informasi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dasar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tentang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kekuatan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pantulan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Sulit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membedakan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jenis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hidrometeor</a:t>
              </a:r>
              <a:r>
                <a:rPr lang="en-US" sz="1200" dirty="0" smtClean="0"/>
                <a:t>. 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endParaRPr lang="en-US" sz="1200" dirty="0" smtClean="0"/>
            </a:p>
            <a:p>
              <a:r>
                <a:rPr lang="en-US" sz="1600" b="1" dirty="0" smtClean="0">
                  <a:solidFill>
                    <a:srgbClr val="FF0000"/>
                  </a:solidFill>
                </a:rPr>
                <a:t>Dual Polarization</a:t>
              </a:r>
              <a:endParaRPr lang="en-US" sz="1600" dirty="0" smtClean="0">
                <a:solidFill>
                  <a:srgbClr val="FF0000"/>
                </a:solidFill>
              </a:endParaRP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Mengukur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 horizontal </a:t>
              </a:r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vertikal</a:t>
              </a:r>
              <a:r>
                <a:rPr lang="en-US" sz="1200" dirty="0" smtClean="0"/>
                <a:t>. </a:t>
              </a: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Dapat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mengetahui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bentuk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ukuran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jenis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partikel</a:t>
              </a:r>
              <a:r>
                <a:rPr lang="en-US" sz="1200" dirty="0" smtClean="0"/>
                <a:t>. </a:t>
              </a:r>
            </a:p>
            <a:p>
              <a:pPr marL="171450" indent="-171450" algn="just">
                <a:buFont typeface="Wingdings" panose="05000000000000000000" pitchFamily="2" charset="2"/>
                <a:buChar char="q"/>
              </a:pPr>
              <a:r>
                <a:rPr lang="en-US" sz="1200" dirty="0" err="1" smtClean="0"/>
                <a:t>Jauh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lebih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akurat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untuk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identifikasi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hujan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salju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hujan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es</a:t>
              </a:r>
              <a:r>
                <a:rPr lang="en-US" sz="1200" dirty="0" smtClean="0"/>
                <a:t>, </a:t>
              </a:r>
              <a:r>
                <a:rPr lang="en-US" sz="1200" dirty="0" err="1" smtClean="0"/>
                <a:t>bahkan</a:t>
              </a:r>
              <a:r>
                <a:rPr lang="en-US" sz="1200" dirty="0" smtClean="0"/>
                <a:t> non-meteorological target. </a:t>
              </a:r>
            </a:p>
            <a:p>
              <a:pPr algn="just"/>
              <a:r>
                <a:rPr lang="en-US" sz="1200" dirty="0" err="1" smtClean="0"/>
                <a:t>Itulah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sebabnya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hampir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semua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cuaca</a:t>
              </a:r>
              <a:r>
                <a:rPr lang="en-US" sz="1200" dirty="0" smtClean="0"/>
                <a:t> modern (</a:t>
              </a:r>
              <a:r>
                <a:rPr lang="en-US" sz="1200" dirty="0" err="1" smtClean="0"/>
                <a:t>termasuk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banyak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cuaca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operasional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saat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ini</a:t>
              </a:r>
              <a:r>
                <a:rPr lang="en-US" sz="1200" dirty="0" smtClean="0"/>
                <a:t>) </a:t>
              </a:r>
              <a:r>
                <a:rPr lang="en-US" sz="1200" dirty="0" err="1" smtClean="0"/>
                <a:t>telah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menggunakan</a:t>
              </a:r>
              <a:r>
                <a:rPr lang="en-US" sz="1200" dirty="0" smtClean="0"/>
                <a:t> </a:t>
              </a:r>
              <a:r>
                <a:rPr lang="en-US" sz="1200" b="1" dirty="0" smtClean="0"/>
                <a:t>Dual Polarization Weather Radar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karena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kemampuan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klasifikasi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hidrometeornya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jauh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lebih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baik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dibanding</a:t>
              </a:r>
              <a:r>
                <a:rPr lang="en-US" sz="1200" dirty="0" smtClean="0"/>
                <a:t> radar </a:t>
              </a:r>
              <a:r>
                <a:rPr lang="en-US" sz="1200" dirty="0" err="1" smtClean="0"/>
                <a:t>polarisasi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tunggal</a:t>
              </a:r>
              <a:r>
                <a:rPr lang="en-US" sz="1200" dirty="0" smtClean="0"/>
                <a:t>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459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H</a:t>
            </a:r>
            <a:r>
              <a:rPr lang="en-US" b="1" dirty="0" err="1" smtClean="0">
                <a:solidFill>
                  <a:srgbClr val="FF0000"/>
                </a:solidFill>
              </a:rPr>
              <a:t>ubungan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antara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frekuensi</a:t>
            </a:r>
            <a:r>
              <a:rPr lang="en-US" b="1" dirty="0" smtClean="0">
                <a:solidFill>
                  <a:srgbClr val="FF0000"/>
                </a:solidFill>
              </a:rPr>
              <a:t> radar (</a:t>
            </a:r>
            <a:r>
              <a:rPr lang="en-US" b="1" i="1" dirty="0" smtClean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FF0000"/>
                </a:solidFill>
              </a:rPr>
              <a:t>) </a:t>
            </a:r>
            <a:r>
              <a:rPr lang="en-US" b="1" dirty="0" err="1" smtClean="0">
                <a:solidFill>
                  <a:srgbClr val="FF0000"/>
                </a:solidFill>
              </a:rPr>
              <a:t>dan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i="1" dirty="0" smtClean="0">
                <a:solidFill>
                  <a:srgbClr val="FF0000"/>
                </a:solidFill>
              </a:rPr>
              <a:t>λ</a:t>
            </a:r>
            <a:r>
              <a:rPr lang="el-GR" b="1" dirty="0" smtClean="0">
                <a:solidFill>
                  <a:srgbClr val="FF0000"/>
                </a:solidFill>
              </a:rPr>
              <a:t>)</a:t>
            </a:r>
            <a:r>
              <a:rPr lang="el-GR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26" y="943655"/>
            <a:ext cx="1095375" cy="7905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63285" y="560616"/>
            <a:ext cx="1252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/>
              <a:t>Rumus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Dasar</a:t>
            </a:r>
            <a:r>
              <a:rPr lang="en-US" sz="1400" b="1" dirty="0" smtClean="0"/>
              <a:t> :</a:t>
            </a:r>
            <a:endParaRPr lang="en-US" sz="1400" b="1" dirty="0"/>
          </a:p>
        </p:txBody>
      </p:sp>
      <p:sp>
        <p:nvSpPr>
          <p:cNvPr id="5" name="Rectangle 4"/>
          <p:cNvSpPr/>
          <p:nvPr/>
        </p:nvSpPr>
        <p:spPr>
          <a:xfrm>
            <a:off x="1692871" y="903233"/>
            <a:ext cx="38644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Keterangan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/>
              <a:t>f</a:t>
            </a:r>
            <a:r>
              <a:rPr lang="en-US" sz="1200" dirty="0" smtClean="0"/>
              <a:t> =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(Hz </a:t>
            </a:r>
            <a:r>
              <a:rPr lang="en-US" sz="1200" dirty="0" err="1" smtClean="0"/>
              <a:t>atau</a:t>
            </a:r>
            <a:r>
              <a:rPr lang="en-US" sz="1200" dirty="0" smtClean="0"/>
              <a:t> s⁻¹)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(≈ 3 × 10⁸ m/s </a:t>
            </a:r>
            <a:r>
              <a:rPr lang="en-US" sz="1200" dirty="0" err="1" smtClean="0"/>
              <a:t>atau</a:t>
            </a:r>
            <a:r>
              <a:rPr lang="en-US" sz="1200" dirty="0" smtClean="0"/>
              <a:t> 3 × 10¹⁰ cm/s)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l-GR" sz="1200" b="1" dirty="0" smtClean="0"/>
              <a:t>λ</a:t>
            </a:r>
            <a:r>
              <a:rPr lang="el-GR" sz="1200" dirty="0" smtClean="0"/>
              <a:t>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(meter </a:t>
            </a:r>
            <a:r>
              <a:rPr lang="en-US" sz="1200" dirty="0" err="1" smtClean="0"/>
              <a:t>atau</a:t>
            </a:r>
            <a:r>
              <a:rPr lang="en-US" sz="1200" dirty="0" smtClean="0"/>
              <a:t> cm) 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163285" y="180949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 smtClean="0"/>
              <a:t>Rumus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berbanding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terbalik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frekuensi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gelombangnya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frekuensi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gelombangnya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425566"/>
              </p:ext>
            </p:extLst>
          </p:nvPr>
        </p:nvGraphicFramePr>
        <p:xfrm>
          <a:off x="163285" y="2638882"/>
          <a:ext cx="3189516" cy="822960"/>
        </p:xfrm>
        <a:graphic>
          <a:graphicData uri="http://schemas.openxmlformats.org/drawingml/2006/table">
            <a:tbl>
              <a:tblPr/>
              <a:tblGrid>
                <a:gridCol w="1594758">
                  <a:extLst>
                    <a:ext uri="{9D8B030D-6E8A-4147-A177-3AD203B41FA5}">
                      <a16:colId xmlns:a16="http://schemas.microsoft.com/office/drawing/2014/main" val="128476949"/>
                    </a:ext>
                  </a:extLst>
                </a:gridCol>
                <a:gridCol w="1594758">
                  <a:extLst>
                    <a:ext uri="{9D8B030D-6E8A-4147-A177-3AD203B41FA5}">
                      <a16:colId xmlns:a16="http://schemas.microsoft.com/office/drawing/2014/main" val="2219254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Frekuensi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FF0000"/>
                          </a:solidFill>
                        </a:rPr>
                        <a:t>Panjang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F0000"/>
                          </a:solidFill>
                        </a:rPr>
                        <a:t>Gelombang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04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Tinggi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Pendek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02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Rendah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Panjang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37722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63285" y="369972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 smtClean="0"/>
              <a:t>Contoh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Cuaca</a:t>
            </a:r>
            <a:endParaRPr lang="en-US" sz="1200" b="1" dirty="0" smtClean="0"/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S-Band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2,7–3,0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10 cm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C-Band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5,3–5,6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5 cm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Radar X-Band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Frekuensi</a:t>
            </a:r>
            <a:r>
              <a:rPr lang="en-US" sz="1200" dirty="0" smtClean="0"/>
              <a:t> ≈ 9–10 GHz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≈ 3 cm </a:t>
            </a:r>
          </a:p>
          <a:p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meningkat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S-Band </a:t>
            </a:r>
            <a:r>
              <a:rPr lang="en-US" sz="1200" dirty="0" err="1" smtClean="0"/>
              <a:t>ke</a:t>
            </a:r>
            <a:r>
              <a:rPr lang="en-US" sz="1200" dirty="0" smtClean="0"/>
              <a:t> X-Band,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6259285" y="588654"/>
            <a:ext cx="576942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Mengapa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Penting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untuk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r>
              <a:rPr lang="en-US" sz="1600" b="1" dirty="0" smtClean="0"/>
              <a:t>?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1. </a:t>
            </a:r>
            <a:r>
              <a:rPr lang="en-US" sz="1200" b="1" dirty="0" err="1" smtClean="0">
                <a:solidFill>
                  <a:srgbClr val="FF0000"/>
                </a:solidFill>
              </a:rPr>
              <a:t>Kemampuan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Mendeteksi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Partikel</a:t>
            </a:r>
            <a:r>
              <a:rPr lang="en-US" sz="1200" b="1" dirty="0" smtClean="0">
                <a:solidFill>
                  <a:srgbClr val="FF0000"/>
                </a:solidFill>
              </a:rPr>
              <a:t> Kecil</a:t>
            </a:r>
          </a:p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sensitif</a:t>
            </a:r>
            <a:r>
              <a:rPr lang="en-US" sz="1200" dirty="0" smtClean="0"/>
              <a:t>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Gerimis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Awan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radar X-Band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melihat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6259285" y="2053227"/>
            <a:ext cx="57694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2. </a:t>
            </a:r>
            <a:r>
              <a:rPr lang="en-US" sz="1200" b="1" dirty="0" err="1" smtClean="0">
                <a:solidFill>
                  <a:srgbClr val="FF0000"/>
                </a:solidFill>
              </a:rPr>
              <a:t>Pelemahan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Sinyal</a:t>
            </a:r>
            <a:r>
              <a:rPr lang="en-US" sz="1200" b="1" dirty="0" smtClean="0">
                <a:solidFill>
                  <a:srgbClr val="FF0000"/>
                </a:solidFill>
              </a:rPr>
              <a:t> (Attenuation)</a:t>
            </a:r>
          </a:p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diserap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829722"/>
              </p:ext>
            </p:extLst>
          </p:nvPr>
        </p:nvGraphicFramePr>
        <p:xfrm>
          <a:off x="7075715" y="2758628"/>
          <a:ext cx="2819400" cy="112776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306740609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41020797"/>
                    </a:ext>
                  </a:extLst>
                </a:gridCol>
              </a:tblGrid>
              <a:tr h="22242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Attenuation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159206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70C0"/>
                          </a:solidFill>
                        </a:rPr>
                        <a:t>Sangat rendah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172398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70C0"/>
                          </a:solidFill>
                        </a:rPr>
                        <a:t>Sedang</a:t>
                      </a:r>
                      <a:endParaRPr lang="en-US" sz="12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66479"/>
                  </a:ext>
                </a:extLst>
              </a:tr>
              <a:tr h="200179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70C0"/>
                          </a:solidFill>
                        </a:rPr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Tinggi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85653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59285" y="4012866"/>
            <a:ext cx="57694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3. </a:t>
            </a:r>
            <a:r>
              <a:rPr lang="en-US" sz="1200" b="1" dirty="0" err="1" smtClean="0">
                <a:solidFill>
                  <a:srgbClr val="FF0000"/>
                </a:solidFill>
              </a:rPr>
              <a:t>Jangkauan</a:t>
            </a:r>
            <a:r>
              <a:rPr lang="en-US" sz="1200" b="1" dirty="0" smtClean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Pengamatan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algn="just"/>
            <a:r>
              <a:rPr lang="en-US" sz="1200" dirty="0" smtClean="0"/>
              <a:t>Radar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umumnya</a:t>
            </a:r>
            <a:r>
              <a:rPr lang="en-US" sz="1200" dirty="0" smtClean="0"/>
              <a:t>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smtClean="0"/>
              <a:t>Radar S-Band BMKG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mengamati</a:t>
            </a:r>
            <a:r>
              <a:rPr lang="en-US" sz="1200" dirty="0" smtClean="0"/>
              <a:t> </a:t>
            </a:r>
            <a:r>
              <a:rPr lang="en-US" sz="1200" dirty="0" err="1" smtClean="0"/>
              <a:t>hingga</a:t>
            </a:r>
            <a:r>
              <a:rPr lang="en-US" sz="1200" dirty="0" smtClean="0"/>
              <a:t> ±250–300 km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attenuation yang </a:t>
            </a:r>
            <a:r>
              <a:rPr lang="en-US" sz="1200" dirty="0" err="1" smtClean="0"/>
              <a:t>kecil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dirty="0" smtClean="0"/>
              <a:t>Radar X-Band </a:t>
            </a:r>
            <a:r>
              <a:rPr lang="en-US" sz="1200" dirty="0" err="1" smtClean="0"/>
              <a:t>biasanya</a:t>
            </a:r>
            <a:r>
              <a:rPr lang="en-US" sz="1200" dirty="0" smtClean="0"/>
              <a:t> </a:t>
            </a:r>
            <a:r>
              <a:rPr lang="en-US" sz="1200" dirty="0" err="1" smtClean="0"/>
              <a:t>digunakan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area </a:t>
            </a:r>
            <a:r>
              <a:rPr lang="en-US" sz="1200" dirty="0" err="1" smtClean="0"/>
              <a:t>lokal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0496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H</a:t>
            </a:r>
            <a:r>
              <a:rPr lang="en-US" b="1" dirty="0" err="1" smtClean="0">
                <a:solidFill>
                  <a:srgbClr val="FF0000"/>
                </a:solidFill>
              </a:rPr>
              <a:t>ubungan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antara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frekuensi</a:t>
            </a:r>
            <a:r>
              <a:rPr lang="en-US" b="1" dirty="0" smtClean="0">
                <a:solidFill>
                  <a:srgbClr val="FF0000"/>
                </a:solidFill>
              </a:rPr>
              <a:t> radar (</a:t>
            </a:r>
            <a:r>
              <a:rPr lang="en-US" b="1" i="1" dirty="0" smtClean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FF0000"/>
                </a:solidFill>
              </a:rPr>
              <a:t>) </a:t>
            </a:r>
            <a:r>
              <a:rPr lang="en-US" b="1" dirty="0" err="1" smtClean="0">
                <a:solidFill>
                  <a:srgbClr val="FF0000"/>
                </a:solidFill>
              </a:rPr>
              <a:t>dan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i="1" dirty="0" smtClean="0">
                <a:solidFill>
                  <a:srgbClr val="FF0000"/>
                </a:solidFill>
              </a:rPr>
              <a:t>λ</a:t>
            </a:r>
            <a:r>
              <a:rPr lang="el-GR" b="1" dirty="0" smtClean="0">
                <a:solidFill>
                  <a:srgbClr val="FF0000"/>
                </a:solidFill>
              </a:rPr>
              <a:t>)</a:t>
            </a:r>
            <a:r>
              <a:rPr lang="el-GR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1166948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Kesimpulan</a:t>
            </a:r>
            <a:r>
              <a:rPr lang="en-US" sz="1600" b="1" dirty="0" smtClean="0"/>
              <a:t> :</a:t>
            </a:r>
          </a:p>
          <a:p>
            <a:pPr algn="just"/>
            <a:r>
              <a:rPr lang="en-US" sz="1200" dirty="0" err="1" smtClean="0"/>
              <a:t>Hubungan</a:t>
            </a:r>
            <a:r>
              <a:rPr lang="en-US" sz="1200" dirty="0" smtClean="0"/>
              <a:t> </a:t>
            </a:r>
            <a:r>
              <a:rPr lang="en-US" sz="1200" dirty="0" err="1" smtClean="0"/>
              <a:t>frekuensi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penting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→ detail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attenuation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 err="1" smtClean="0"/>
              <a:t>Frekuensi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gelombang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attenuation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kecil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algn="just"/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operasional</a:t>
            </a:r>
            <a:r>
              <a:rPr lang="en-US" sz="1200" dirty="0" smtClean="0"/>
              <a:t> BMKG </a:t>
            </a:r>
            <a:r>
              <a:rPr lang="en-US" sz="1200" dirty="0" err="1" smtClean="0"/>
              <a:t>menggunakan</a:t>
            </a:r>
            <a:r>
              <a:rPr lang="en-US" sz="1200" dirty="0" smtClean="0"/>
              <a:t> </a:t>
            </a:r>
            <a:r>
              <a:rPr lang="en-US" sz="1200" b="1" dirty="0" smtClean="0"/>
              <a:t>S-Band (≈10 cm)</a:t>
            </a:r>
            <a:r>
              <a:rPr lang="en-US" sz="1200" dirty="0" smtClean="0"/>
              <a:t>, yang </a:t>
            </a:r>
            <a:r>
              <a:rPr lang="en-US" sz="1200" dirty="0" err="1" smtClean="0"/>
              <a:t>cocok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pengamatan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lebat</a:t>
            </a:r>
            <a:r>
              <a:rPr lang="en-US" sz="1200" dirty="0" smtClean="0"/>
              <a:t> di </a:t>
            </a:r>
            <a:r>
              <a:rPr lang="en-US" sz="1200" dirty="0" err="1" smtClean="0"/>
              <a:t>daerah</a:t>
            </a:r>
            <a:r>
              <a:rPr lang="en-US" sz="1200" dirty="0" smtClean="0"/>
              <a:t> </a:t>
            </a:r>
            <a:r>
              <a:rPr lang="en-US" sz="1200" dirty="0" err="1" smtClean="0"/>
              <a:t>tropis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mengalami</a:t>
            </a:r>
            <a:r>
              <a:rPr lang="en-US" sz="1200" dirty="0" smtClean="0"/>
              <a:t> </a:t>
            </a:r>
            <a:r>
              <a:rPr lang="en-US" sz="1200" dirty="0" err="1" smtClean="0"/>
              <a:t>pelemahan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2178125"/>
            <a:ext cx="4543425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394" y="2178125"/>
            <a:ext cx="52673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4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6422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Pulse Repetition Frequency (PRF)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Pulse Repetition Time (PRT)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KONSEP</a:t>
            </a:r>
            <a:r>
              <a:rPr lang="en-US" sz="1200" dirty="0" smtClean="0"/>
              <a:t> </a:t>
            </a:r>
            <a:r>
              <a:rPr lang="en-US" sz="1200" b="1" dirty="0" smtClean="0"/>
              <a:t>Pulse Repetition Frequency (PRF)</a:t>
            </a:r>
            <a:r>
              <a:rPr lang="en-US" sz="1200" dirty="0" smtClean="0"/>
              <a:t>, </a:t>
            </a:r>
            <a:r>
              <a:rPr lang="en-US" sz="1200" b="1" dirty="0" smtClean="0"/>
              <a:t>Pulse Repetition Time (PRT)</a:t>
            </a:r>
            <a:r>
              <a:rPr lang="en-US" sz="1200" dirty="0" smtClean="0"/>
              <a:t>,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pengaruhnya</a:t>
            </a:r>
            <a:r>
              <a:rPr lang="en-US" sz="1200" dirty="0" smtClean="0"/>
              <a:t>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target.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163285" y="1211053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Pulse Repetition Frequency (PRF)</a:t>
            </a:r>
          </a:p>
          <a:p>
            <a:r>
              <a:rPr lang="en-US" sz="1200" b="1" dirty="0" smtClean="0"/>
              <a:t>PRF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jumlah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radar yang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detik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Satuan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Hertz (Hz)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err="1" smtClean="0"/>
              <a:t>Pulsa</a:t>
            </a:r>
            <a:r>
              <a:rPr lang="en-US" sz="1200" dirty="0" smtClean="0"/>
              <a:t> per </a:t>
            </a:r>
            <a:r>
              <a:rPr lang="en-US" sz="1200" dirty="0" err="1" smtClean="0"/>
              <a:t>detik</a:t>
            </a:r>
            <a:r>
              <a:rPr lang="en-US" sz="1200" dirty="0" smtClean="0"/>
              <a:t> (</a:t>
            </a:r>
            <a:r>
              <a:rPr lang="en-US" sz="1200" dirty="0" err="1" smtClean="0"/>
              <a:t>pps</a:t>
            </a:r>
            <a:r>
              <a:rPr lang="en-US" sz="1200" dirty="0" smtClean="0"/>
              <a:t>) 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PRF = 500 Hz → 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500 </a:t>
            </a:r>
            <a:r>
              <a:rPr lang="en-US" sz="1200" dirty="0" err="1" smtClean="0"/>
              <a:t>pulsa</a:t>
            </a:r>
            <a:r>
              <a:rPr lang="en-US" sz="1200" dirty="0" smtClean="0"/>
              <a:t>/</a:t>
            </a:r>
            <a:r>
              <a:rPr lang="en-US" sz="1200" dirty="0" err="1" smtClean="0"/>
              <a:t>detik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PRF = 2000 Hz → 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2000 </a:t>
            </a:r>
            <a:r>
              <a:rPr lang="en-US" sz="1200" dirty="0" err="1" smtClean="0"/>
              <a:t>pulsa</a:t>
            </a:r>
            <a:r>
              <a:rPr lang="en-US" sz="1200" dirty="0" smtClean="0"/>
              <a:t>/</a:t>
            </a:r>
            <a:r>
              <a:rPr lang="en-US" sz="1200" dirty="0" err="1" smtClean="0"/>
              <a:t>detik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PRF,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sering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5" y="2996157"/>
            <a:ext cx="575854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Pulse Repetition Time (PRT)</a:t>
            </a:r>
          </a:p>
          <a:p>
            <a:r>
              <a:rPr lang="en-US" sz="1200" b="1" dirty="0" smtClean="0"/>
              <a:t>PRT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selang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antara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berturut-turut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Hubungannya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PRF: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3673265"/>
            <a:ext cx="1076325" cy="447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3285" y="4120940"/>
            <a:ext cx="4669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/>
              <a:t>Contoh</a:t>
            </a:r>
            <a:r>
              <a:rPr lang="en-US" sz="1200" b="1" dirty="0" smtClean="0"/>
              <a:t> :</a:t>
            </a:r>
          </a:p>
          <a:p>
            <a:r>
              <a:rPr lang="en-US" sz="1200" b="1" dirty="0" smtClean="0"/>
              <a:t>PRF=500 Hz </a:t>
            </a:r>
          </a:p>
          <a:p>
            <a:r>
              <a:rPr lang="en-US" sz="1200" b="1" dirty="0" smtClean="0"/>
              <a:t>PRT=1/500 ≈ 0,002 second</a:t>
            </a:r>
          </a:p>
          <a:p>
            <a:r>
              <a:rPr lang="en-US" sz="1200" b="1" dirty="0" smtClean="0"/>
              <a:t>PRF=2000Hz</a:t>
            </a:r>
          </a:p>
          <a:p>
            <a:r>
              <a:rPr lang="en-US" sz="1200" b="1" dirty="0" smtClean="0"/>
              <a:t>PRT=1/2000 ≈ 0,0005 second</a:t>
            </a:r>
          </a:p>
          <a:p>
            <a:r>
              <a:rPr lang="en-US" sz="1200" b="1" dirty="0" err="1" smtClean="0"/>
              <a:t>Artinya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semakin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PRF, </a:t>
            </a:r>
            <a:r>
              <a:rPr lang="en-US" sz="1200" b="1" dirty="0" err="1" smtClean="0"/>
              <a:t>semakin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pendek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waktu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tunggu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antar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endParaRPr lang="en-US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5170712" y="852409"/>
            <a:ext cx="67164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3. Pulse Length (</a:t>
            </a:r>
            <a:r>
              <a:rPr lang="en-US" sz="1400" b="1" dirty="0" err="1" smtClean="0">
                <a:solidFill>
                  <a:srgbClr val="FF0000"/>
                </a:solidFill>
              </a:rPr>
              <a:t>Lebar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 smtClean="0"/>
              <a:t>Pulse Length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lamanya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 r: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Long Pulse = 3 µs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 smtClean="0"/>
              <a:t>Short Pulse = 0,5 µs </a:t>
            </a:r>
          </a:p>
          <a:p>
            <a:r>
              <a:rPr lang="en-US" sz="1200" dirty="0" err="1" smtClean="0"/>
              <a:t>Hubungannya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di </a:t>
            </a:r>
            <a:r>
              <a:rPr lang="en-US" sz="1200" dirty="0" err="1" smtClean="0"/>
              <a:t>ruang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L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, c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, </a:t>
            </a:r>
            <a:r>
              <a:rPr lang="el-GR" sz="1200" dirty="0" smtClean="0"/>
              <a:t>τ = </a:t>
            </a:r>
            <a:r>
              <a:rPr lang="en-US" sz="1200" dirty="0" smtClean="0"/>
              <a:t>pulse length </a:t>
            </a:r>
          </a:p>
          <a:p>
            <a:r>
              <a:rPr lang="en-US" sz="1200" dirty="0" err="1" smtClean="0"/>
              <a:t>Pulsa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membawa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093" y="1994126"/>
            <a:ext cx="952500" cy="4095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170713" y="2477124"/>
            <a:ext cx="6716486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4. PRF </a:t>
            </a:r>
            <a:r>
              <a:rPr lang="en-US" sz="1400" b="1" dirty="0" err="1" smtClean="0">
                <a:solidFill>
                  <a:srgbClr val="FF0000"/>
                </a:solidFill>
              </a:rPr>
              <a:t>Rendah</a:t>
            </a:r>
            <a:r>
              <a:rPr lang="en-US" sz="1400" b="1" dirty="0" smtClean="0">
                <a:solidFill>
                  <a:srgbClr val="FF0000"/>
                </a:solidFill>
              </a:rPr>
              <a:t> (500 Hz) +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Panjang</a:t>
            </a:r>
            <a:r>
              <a:rPr lang="en-US" sz="1400" b="1" dirty="0" smtClean="0">
                <a:solidFill>
                  <a:srgbClr val="FF0000"/>
                </a:solidFill>
              </a:rPr>
              <a:t> (3 µs)</a:t>
            </a:r>
          </a:p>
          <a:p>
            <a:r>
              <a:rPr lang="en-US" sz="1200" b="1" dirty="0" err="1" smtClean="0"/>
              <a:t>Keuntungan</a:t>
            </a:r>
            <a:r>
              <a:rPr lang="en-US" sz="1200" b="1" dirty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mendeteksi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per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 (Unambiguous Range)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</a:t>
            </a:r>
            <a:r>
              <a:rPr lang="en-US" sz="1200" dirty="0"/>
              <a:t> </a:t>
            </a:r>
            <a:r>
              <a:rPr lang="en-US" sz="1200" dirty="0" smtClean="0"/>
              <a:t>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cukup</a:t>
            </a:r>
            <a:r>
              <a:rPr lang="en-US" sz="1200" dirty="0" smtClean="0"/>
              <a:t> lama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menunggu</a:t>
            </a:r>
            <a:r>
              <a:rPr lang="en-US" sz="1200" dirty="0" smtClean="0"/>
              <a:t> echo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  <a:p>
            <a:r>
              <a:rPr lang="en-US" sz="1200" b="1" dirty="0" err="1" smtClean="0"/>
              <a:t>Kekurangan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buruk</a:t>
            </a:r>
            <a:r>
              <a:rPr lang="en-US" sz="1200" dirty="0" smtClean="0"/>
              <a:t>. Target yang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 </a:t>
            </a:r>
            <a:r>
              <a:rPr lang="en-US" sz="1200" dirty="0" err="1" smtClean="0"/>
              <a:t>sulit</a:t>
            </a:r>
            <a:r>
              <a:rPr lang="en-US" sz="1200" dirty="0" smtClean="0"/>
              <a:t> </a:t>
            </a:r>
            <a:r>
              <a:rPr lang="en-US" sz="1200" dirty="0" err="1" smtClean="0"/>
              <a:t>dibedakan</a:t>
            </a:r>
            <a:r>
              <a:rPr lang="en-US" sz="1200" dirty="0" smtClean="0"/>
              <a:t>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Pengukuran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Doppler </a:t>
            </a:r>
            <a:r>
              <a:rPr lang="en-US" sz="1200" dirty="0" err="1" smtClean="0"/>
              <a:t>kurang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5170713" y="4237951"/>
            <a:ext cx="658585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PRF Tinggi (2000 Hz) +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Pendek</a:t>
            </a:r>
            <a:r>
              <a:rPr lang="en-US" sz="1400" b="1" dirty="0" smtClean="0">
                <a:solidFill>
                  <a:srgbClr val="FF0000"/>
                </a:solidFill>
              </a:rPr>
              <a:t> (0,5 µs)</a:t>
            </a:r>
          </a:p>
          <a:p>
            <a:pPr algn="just"/>
            <a:r>
              <a:rPr lang="en-US" sz="1200" b="1" dirty="0" err="1" smtClean="0"/>
              <a:t>Keuntungan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jaraknya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Pengukuran</a:t>
            </a:r>
            <a:r>
              <a:rPr lang="en-US" sz="1200" dirty="0" smtClean="0"/>
              <a:t>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angin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akurat</a:t>
            </a:r>
            <a:r>
              <a:rPr lang="en-US" sz="1200" dirty="0" smtClean="0"/>
              <a:t>.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berguna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produk</a:t>
            </a:r>
            <a:r>
              <a:rPr lang="en-US" sz="1200" dirty="0" smtClean="0"/>
              <a:t> Velocity.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endParaRPr lang="en-US" sz="1200" dirty="0" smtClean="0"/>
          </a:p>
          <a:p>
            <a:r>
              <a:rPr lang="en-US" sz="1200" b="1" dirty="0" err="1" smtClean="0"/>
              <a:t>Kekurangan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cepat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Rentan</a:t>
            </a:r>
            <a:r>
              <a:rPr lang="en-US" sz="1200" dirty="0" smtClean="0"/>
              <a:t> </a:t>
            </a:r>
            <a:r>
              <a:rPr lang="en-US" sz="1200" dirty="0" err="1" smtClean="0"/>
              <a:t>terjadi</a:t>
            </a:r>
            <a:r>
              <a:rPr lang="en-US" sz="1200" dirty="0" smtClean="0"/>
              <a:t> Range Ambiguity, 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sebelumnya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tertukar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3285" y="5634258"/>
            <a:ext cx="1172391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b="1" dirty="0" smtClean="0">
                <a:solidFill>
                  <a:srgbClr val="0070C0"/>
                </a:solidFill>
              </a:rPr>
              <a:t>PRF (Pulse Repetition Frequency)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menentukan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seberapa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sering</a:t>
            </a:r>
            <a:r>
              <a:rPr lang="en-US" sz="1200" dirty="0" smtClean="0">
                <a:solidFill>
                  <a:srgbClr val="0070C0"/>
                </a:solidFill>
              </a:rPr>
              <a:t> radar </a:t>
            </a:r>
            <a:r>
              <a:rPr lang="en-US" sz="1200" dirty="0" err="1" smtClean="0">
                <a:solidFill>
                  <a:srgbClr val="0070C0"/>
                </a:solidFill>
              </a:rPr>
              <a:t>memancarkan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pulsa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sedangkan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b="1" dirty="0" smtClean="0">
                <a:solidFill>
                  <a:srgbClr val="0070C0"/>
                </a:solidFill>
              </a:rPr>
              <a:t>PRT (Pulse Repetition Time)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adalah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waktu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antar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pulsa</a:t>
            </a:r>
            <a:r>
              <a:rPr lang="en-US" sz="1200" dirty="0" smtClean="0">
                <a:solidFill>
                  <a:srgbClr val="0070C0"/>
                </a:solidFill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0070C0"/>
                </a:solidFill>
              </a:rPr>
              <a:t>PRF </a:t>
            </a:r>
            <a:r>
              <a:rPr lang="en-US" sz="1200" b="1" dirty="0" err="1" smtClean="0">
                <a:solidFill>
                  <a:srgbClr val="0070C0"/>
                </a:solidFill>
              </a:rPr>
              <a:t>rendah</a:t>
            </a:r>
            <a:r>
              <a:rPr lang="en-US" sz="1200" dirty="0" smtClean="0">
                <a:solidFill>
                  <a:srgbClr val="0070C0"/>
                </a:solidFill>
              </a:rPr>
              <a:t> → </a:t>
            </a:r>
            <a:r>
              <a:rPr lang="en-US" sz="1200" dirty="0" err="1" smtClean="0">
                <a:solidFill>
                  <a:srgbClr val="0070C0"/>
                </a:solidFill>
              </a:rPr>
              <a:t>jangkauan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jauh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tetapi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resolusi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dan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pengukuran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rendah</a:t>
            </a:r>
            <a:r>
              <a:rPr lang="en-US" sz="1200" dirty="0" smtClean="0">
                <a:solidFill>
                  <a:srgbClr val="0070C0"/>
                </a:solidFill>
              </a:rPr>
              <a:t>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0070C0"/>
                </a:solidFill>
              </a:rPr>
              <a:t>PRF </a:t>
            </a:r>
            <a:r>
              <a:rPr lang="en-US" sz="1200" b="1" dirty="0" err="1" smtClean="0">
                <a:solidFill>
                  <a:srgbClr val="0070C0"/>
                </a:solidFill>
              </a:rPr>
              <a:t>tinggi</a:t>
            </a:r>
            <a:r>
              <a:rPr lang="en-US" sz="1200" dirty="0" smtClean="0">
                <a:solidFill>
                  <a:srgbClr val="0070C0"/>
                </a:solidFill>
              </a:rPr>
              <a:t> → </a:t>
            </a:r>
            <a:r>
              <a:rPr lang="en-US" sz="1200" dirty="0" err="1" smtClean="0">
                <a:solidFill>
                  <a:srgbClr val="0070C0"/>
                </a:solidFill>
              </a:rPr>
              <a:t>resolusi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dan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pengukuran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baik</a:t>
            </a:r>
            <a:r>
              <a:rPr lang="en-US" sz="1200" dirty="0" smtClean="0">
                <a:solidFill>
                  <a:srgbClr val="0070C0"/>
                </a:solidFill>
              </a:rPr>
              <a:t>, </a:t>
            </a:r>
            <a:r>
              <a:rPr lang="en-US" sz="1200" dirty="0" err="1" smtClean="0">
                <a:solidFill>
                  <a:srgbClr val="0070C0"/>
                </a:solidFill>
              </a:rPr>
              <a:t>tetapi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jangkauan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efektif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menjadi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lebih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pendek</a:t>
            </a:r>
            <a:r>
              <a:rPr lang="en-US" sz="1200" dirty="0" smtClean="0">
                <a:solidFill>
                  <a:srgbClr val="0070C0"/>
                </a:solidFill>
              </a:rPr>
              <a:t>. </a:t>
            </a:r>
          </a:p>
          <a:p>
            <a:r>
              <a:rPr lang="en-US" sz="1200" dirty="0" err="1" smtClean="0">
                <a:solidFill>
                  <a:srgbClr val="0070C0"/>
                </a:solidFill>
              </a:rPr>
              <a:t>Karena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itu</a:t>
            </a:r>
            <a:r>
              <a:rPr lang="en-US" sz="1200" dirty="0" smtClean="0">
                <a:solidFill>
                  <a:srgbClr val="0070C0"/>
                </a:solidFill>
              </a:rPr>
              <a:t> radar </a:t>
            </a:r>
            <a:r>
              <a:rPr lang="en-US" sz="1200" dirty="0" err="1" smtClean="0">
                <a:solidFill>
                  <a:srgbClr val="0070C0"/>
                </a:solidFill>
              </a:rPr>
              <a:t>cuaca</a:t>
            </a:r>
            <a:r>
              <a:rPr lang="en-US" sz="1200" dirty="0" smtClean="0">
                <a:solidFill>
                  <a:srgbClr val="0070C0"/>
                </a:solidFill>
              </a:rPr>
              <a:t> modern </a:t>
            </a:r>
            <a:r>
              <a:rPr lang="en-US" sz="1200" dirty="0" err="1" smtClean="0">
                <a:solidFill>
                  <a:srgbClr val="0070C0"/>
                </a:solidFill>
              </a:rPr>
              <a:t>biasanya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menggunakan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beberapa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kombinasi</a:t>
            </a:r>
            <a:r>
              <a:rPr lang="en-US" sz="1200" dirty="0" smtClean="0">
                <a:solidFill>
                  <a:srgbClr val="0070C0"/>
                </a:solidFill>
              </a:rPr>
              <a:t> PRF </a:t>
            </a:r>
            <a:r>
              <a:rPr lang="en-US" sz="1200" dirty="0" err="1" smtClean="0">
                <a:solidFill>
                  <a:srgbClr val="0070C0"/>
                </a:solidFill>
              </a:rPr>
              <a:t>dalam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satu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siklus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pemindaian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untuk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mendapatkan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keseimbangan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dirty="0" err="1" smtClean="0">
                <a:solidFill>
                  <a:srgbClr val="0070C0"/>
                </a:solidFill>
              </a:rPr>
              <a:t>antara</a:t>
            </a:r>
            <a:r>
              <a:rPr lang="en-US" sz="1200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jangkauan</a:t>
            </a:r>
            <a:r>
              <a:rPr lang="en-US" sz="1200" b="1" dirty="0" smtClean="0">
                <a:solidFill>
                  <a:srgbClr val="0070C0"/>
                </a:solidFill>
              </a:rPr>
              <a:t>, </a:t>
            </a:r>
            <a:r>
              <a:rPr lang="en-US" sz="1200" b="1" dirty="0" err="1" smtClean="0">
                <a:solidFill>
                  <a:srgbClr val="0070C0"/>
                </a:solidFill>
              </a:rPr>
              <a:t>resolusi</a:t>
            </a:r>
            <a:r>
              <a:rPr lang="en-US" sz="1200" b="1" dirty="0" smtClean="0">
                <a:solidFill>
                  <a:srgbClr val="0070C0"/>
                </a:solidFill>
              </a:rPr>
              <a:t>, </a:t>
            </a:r>
            <a:r>
              <a:rPr lang="en-US" sz="1200" b="1" dirty="0" err="1" smtClean="0">
                <a:solidFill>
                  <a:srgbClr val="0070C0"/>
                </a:solidFill>
              </a:rPr>
              <a:t>dan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akurasi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pengukuran</a:t>
            </a:r>
            <a:r>
              <a:rPr lang="en-US" sz="1200" b="1" dirty="0" smtClean="0">
                <a:solidFill>
                  <a:srgbClr val="0070C0"/>
                </a:solidFill>
              </a:rPr>
              <a:t> </a:t>
            </a:r>
            <a:r>
              <a:rPr lang="en-US" sz="1200" b="1" dirty="0" err="1" smtClean="0">
                <a:solidFill>
                  <a:srgbClr val="0070C0"/>
                </a:solidFill>
              </a:rPr>
              <a:t>kecepatan</a:t>
            </a:r>
            <a:r>
              <a:rPr lang="en-US" sz="1200" dirty="0" smtClean="0">
                <a:solidFill>
                  <a:srgbClr val="0070C0"/>
                </a:solidFill>
              </a:rPr>
              <a:t>.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37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</a:t>
            </a:r>
            <a:r>
              <a:rPr lang="en-US" dirty="0" err="1" smtClean="0">
                <a:solidFill>
                  <a:srgbClr val="FF0000"/>
                </a:solidFill>
              </a:rPr>
              <a:t>ubungan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antara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λ)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pulsa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τ)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PRF (Pulse Repetition Frequency)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4" y="649060"/>
            <a:ext cx="5837541" cy="33895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63284" y="4222208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Panjang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Gelombang</a:t>
            </a:r>
            <a:r>
              <a:rPr lang="en-US" sz="1400" b="1" dirty="0" smtClean="0">
                <a:solidFill>
                  <a:srgbClr val="FF0000"/>
                </a:solidFill>
              </a:rPr>
              <a:t> (</a:t>
            </a:r>
            <a:r>
              <a:rPr lang="el-GR" sz="1400" b="1" dirty="0" smtClean="0">
                <a:solidFill>
                  <a:srgbClr val="FF0000"/>
                </a:solidFill>
              </a:rPr>
              <a:t>λ)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pembesaran</a:t>
            </a:r>
            <a:r>
              <a:rPr lang="en-US" sz="1200" dirty="0" smtClean="0"/>
              <a:t> </a:t>
            </a:r>
            <a:r>
              <a:rPr lang="en-US" sz="1200" dirty="0" err="1" smtClean="0"/>
              <a:t>lingkaran</a:t>
            </a:r>
            <a:r>
              <a:rPr lang="en-US" sz="1200" dirty="0" smtClean="0"/>
              <a:t> 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b="1" dirty="0" smtClean="0"/>
              <a:t>λ (</a:t>
            </a:r>
            <a:r>
              <a:rPr lang="en-US" sz="1200" b="1" dirty="0" smtClean="0"/>
              <a:t>lambda)</a:t>
            </a:r>
            <a:r>
              <a:rPr lang="en-US" sz="1200" dirty="0" smtClean="0"/>
              <a:t> =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Diukur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942934"/>
              </p:ext>
            </p:extLst>
          </p:nvPr>
        </p:nvGraphicFramePr>
        <p:xfrm>
          <a:off x="370114" y="5083982"/>
          <a:ext cx="3635828" cy="1295048"/>
        </p:xfrm>
        <a:graphic>
          <a:graphicData uri="http://schemas.openxmlformats.org/drawingml/2006/table">
            <a:tbl>
              <a:tblPr/>
              <a:tblGrid>
                <a:gridCol w="1817914">
                  <a:extLst>
                    <a:ext uri="{9D8B030D-6E8A-4147-A177-3AD203B41FA5}">
                      <a16:colId xmlns:a16="http://schemas.microsoft.com/office/drawing/2014/main" val="1290053749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2467092505"/>
                    </a:ext>
                  </a:extLst>
                </a:gridCol>
              </a:tblGrid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b="1" dirty="0">
                          <a:solidFill>
                            <a:srgbClr val="FF0000"/>
                          </a:solidFill>
                        </a:rPr>
                        <a:t>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186701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±10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299106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±5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613395"/>
                  </a:ext>
                </a:extLst>
              </a:tr>
              <a:tr h="3237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±3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3885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3283" y="6379030"/>
            <a:ext cx="65096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karakteristik</a:t>
            </a:r>
            <a:r>
              <a:rPr lang="en-US" sz="1200" dirty="0" smtClean="0"/>
              <a:t> </a:t>
            </a:r>
            <a:r>
              <a:rPr lang="en-US" sz="1200" dirty="0" err="1" smtClean="0"/>
              <a:t>propagasi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sensitivitas</a:t>
            </a:r>
            <a:r>
              <a:rPr lang="en-US" sz="1200" dirty="0" smtClean="0"/>
              <a:t> radar </a:t>
            </a:r>
            <a:r>
              <a:rPr lang="en-US" sz="1200" dirty="0" err="1" smtClean="0"/>
              <a:t>terhadap</a:t>
            </a:r>
            <a:r>
              <a:rPr lang="en-US" sz="1200" dirty="0" smtClean="0"/>
              <a:t>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6096000" y="588058"/>
            <a:ext cx="5758543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Pulse Length (</a:t>
            </a:r>
            <a:r>
              <a:rPr lang="el-GR" sz="1400" b="1" dirty="0" smtClean="0">
                <a:solidFill>
                  <a:srgbClr val="FF0000"/>
                </a:solidFill>
              </a:rPr>
              <a:t>τ)</a:t>
            </a:r>
          </a:p>
          <a:p>
            <a:pPr algn="just"/>
            <a:r>
              <a:rPr lang="en-US" sz="1200" dirty="0" err="1" smtClean="0"/>
              <a:t>Panah</a:t>
            </a:r>
            <a:r>
              <a:rPr lang="en-US" sz="1200" dirty="0" smtClean="0"/>
              <a:t> </a:t>
            </a:r>
            <a:r>
              <a:rPr lang="en-US" sz="1200" dirty="0" err="1" smtClean="0"/>
              <a:t>merah</a:t>
            </a:r>
            <a:r>
              <a:rPr lang="en-US" sz="1200" dirty="0" smtClean="0"/>
              <a:t> di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kanan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: </a:t>
            </a:r>
            <a:r>
              <a:rPr lang="el-GR" sz="1200" b="1" dirty="0" smtClean="0"/>
              <a:t>τ (</a:t>
            </a:r>
            <a:r>
              <a:rPr lang="en-US" sz="1200" b="1" dirty="0" smtClean="0"/>
              <a:t>tau) = Pulse Length</a:t>
            </a:r>
            <a:r>
              <a:rPr lang="en-US" sz="1200" dirty="0"/>
              <a:t> </a:t>
            </a:r>
            <a:r>
              <a:rPr lang="en-US" sz="1200" dirty="0" err="1" smtClean="0"/>
              <a:t>yaitu</a:t>
            </a:r>
            <a:r>
              <a:rPr lang="en-US" sz="1200" dirty="0" smtClean="0"/>
              <a:t> lama </a:t>
            </a:r>
            <a:r>
              <a:rPr lang="en-US" sz="1200" dirty="0" err="1" smtClean="0"/>
              <a:t>waktu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</a:t>
            </a:r>
            <a:r>
              <a:rPr lang="en-US" sz="1200" dirty="0" smtClean="0"/>
              <a:t>: 0,5 </a:t>
            </a:r>
            <a:r>
              <a:rPr lang="el-GR" sz="1200" dirty="0" smtClean="0"/>
              <a:t>μ</a:t>
            </a:r>
            <a:r>
              <a:rPr lang="en-US" sz="1200" dirty="0" smtClean="0"/>
              <a:t>s, 1 </a:t>
            </a:r>
            <a:r>
              <a:rPr lang="el-GR" sz="1200" dirty="0" smtClean="0"/>
              <a:t>μ</a:t>
            </a:r>
            <a:r>
              <a:rPr lang="en-US" sz="1200" dirty="0" smtClean="0"/>
              <a:t>s, 2 </a:t>
            </a:r>
            <a:r>
              <a:rPr lang="el-GR" sz="1200" dirty="0" smtClean="0"/>
              <a:t>μ</a:t>
            </a:r>
            <a:r>
              <a:rPr lang="en-US" sz="1200" dirty="0" smtClean="0"/>
              <a:t>s, 3 </a:t>
            </a:r>
            <a:r>
              <a:rPr lang="el-GR" sz="1200" dirty="0" smtClean="0"/>
              <a:t>μ</a:t>
            </a:r>
            <a:r>
              <a:rPr lang="en-US" sz="1200" dirty="0" smtClean="0"/>
              <a:t>s </a:t>
            </a:r>
          </a:p>
          <a:p>
            <a:pPr algn="just"/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 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 </a:t>
            </a: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buruk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6096000" y="1675647"/>
            <a:ext cx="575854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3. PRF (Pulse Repetition Frequency)</a:t>
            </a:r>
          </a:p>
          <a:p>
            <a:pPr algn="just"/>
            <a:r>
              <a:rPr lang="en-US" sz="1200" dirty="0" err="1" smtClean="0"/>
              <a:t>Panah</a:t>
            </a:r>
            <a:r>
              <a:rPr lang="en-US" sz="1200" dirty="0" smtClean="0"/>
              <a:t> </a:t>
            </a:r>
            <a:r>
              <a:rPr lang="en-US" sz="1200" dirty="0" err="1" smtClean="0"/>
              <a:t>merah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antar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PRF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jumlah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per </a:t>
            </a:r>
            <a:r>
              <a:rPr lang="en-US" sz="1200" dirty="0" err="1" smtClean="0"/>
              <a:t>detik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Contoh</a:t>
            </a:r>
            <a:r>
              <a:rPr lang="en-US" sz="1200" dirty="0" smtClean="0"/>
              <a:t>: 500 Hz, 1000 Hz, 2000 Hz </a:t>
            </a:r>
          </a:p>
          <a:p>
            <a:pPr algn="just"/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tinggi</a:t>
            </a:r>
            <a:r>
              <a:rPr lang="en-US" sz="1200" dirty="0" smtClean="0"/>
              <a:t> PRF: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rapat</a:t>
            </a:r>
            <a:r>
              <a:rPr lang="en-US" sz="1200" dirty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menunggu</a:t>
            </a:r>
            <a:r>
              <a:rPr lang="en-US" sz="1200" dirty="0" smtClean="0"/>
              <a:t> echo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6096000" y="2947902"/>
            <a:ext cx="575854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 smtClean="0">
                <a:solidFill>
                  <a:srgbClr val="FF0000"/>
                </a:solidFill>
              </a:rPr>
              <a:t>4. Jarak Maksimum Radar</a:t>
            </a:r>
          </a:p>
          <a:p>
            <a:r>
              <a:rPr lang="pt-BR" sz="1200" dirty="0" smtClean="0"/>
              <a:t>Pada gambar tertulis:</a:t>
            </a:r>
            <a:endParaRPr lang="pt-BR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70" y="3489820"/>
            <a:ext cx="3989615" cy="19948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94070" y="5433643"/>
            <a:ext cx="48604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Artinya</a:t>
            </a:r>
            <a:endParaRPr lang="en-US" sz="1200" b="1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tunggu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dikirim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Jika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belum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radar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baru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akan</a:t>
            </a:r>
            <a:r>
              <a:rPr lang="en-US" sz="1200" dirty="0" smtClean="0"/>
              <a:t> </a:t>
            </a:r>
            <a:r>
              <a:rPr lang="en-US" sz="1200" dirty="0" err="1" smtClean="0"/>
              <a:t>bingung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berasal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yang mana.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01200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</a:t>
            </a:r>
            <a:r>
              <a:rPr lang="en-US" dirty="0" err="1" smtClean="0">
                <a:solidFill>
                  <a:srgbClr val="FF0000"/>
                </a:solidFill>
              </a:rPr>
              <a:t>ubungan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antara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gelombang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λ)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panjang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pulsa</a:t>
            </a:r>
            <a:r>
              <a:rPr lang="en-US" b="1" dirty="0" smtClean="0">
                <a:solidFill>
                  <a:srgbClr val="FF0000"/>
                </a:solidFill>
              </a:rPr>
              <a:t> (</a:t>
            </a:r>
            <a:r>
              <a:rPr lang="el-GR" b="1" dirty="0" smtClean="0">
                <a:solidFill>
                  <a:srgbClr val="FF0000"/>
                </a:solidFill>
              </a:rPr>
              <a:t>τ)</a:t>
            </a:r>
            <a:r>
              <a:rPr lang="el-GR" dirty="0" smtClean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PRF (Pulse Repetition Frequency)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4" y="649060"/>
            <a:ext cx="5837541" cy="33895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63284" y="4140751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</a:t>
            </a:r>
            <a:r>
              <a:rPr lang="en-US" sz="1400" b="1" dirty="0" err="1" smtClean="0">
                <a:solidFill>
                  <a:srgbClr val="FF0000"/>
                </a:solidFill>
              </a:rPr>
              <a:t>Jarak</a:t>
            </a:r>
            <a:r>
              <a:rPr lang="en-US" sz="1400" b="1" dirty="0" smtClean="0">
                <a:solidFill>
                  <a:srgbClr val="FF0000"/>
                </a:solidFill>
              </a:rPr>
              <a:t> Minimum (Blind Distance)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tertulis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316" y="4418881"/>
            <a:ext cx="1157969" cy="49159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4" y="4910472"/>
            <a:ext cx="583754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Maksudnya</a:t>
            </a:r>
            <a:r>
              <a:rPr lang="en-US" sz="1200" b="1" dirty="0" smtClean="0"/>
              <a:t>?</a:t>
            </a:r>
          </a:p>
          <a:p>
            <a:pPr algn="just"/>
            <a:r>
              <a:rPr lang="en-US" sz="1200" dirty="0" err="1" smtClean="0"/>
              <a:t>Saat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sedang</a:t>
            </a:r>
            <a:r>
              <a:rPr lang="en-US" sz="1200" dirty="0" smtClean="0"/>
              <a:t>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, radar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menerima</a:t>
            </a:r>
            <a:r>
              <a:rPr lang="en-US" sz="1200" dirty="0" smtClean="0"/>
              <a:t> echo. </a:t>
            </a: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Tetapi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masih</a:t>
            </a:r>
            <a:r>
              <a:rPr lang="en-US" sz="1200" dirty="0" smtClean="0"/>
              <a:t> </a:t>
            </a:r>
            <a:r>
              <a:rPr lang="en-US" sz="1200" dirty="0" err="1" smtClean="0"/>
              <a:t>sibuk</a:t>
            </a:r>
            <a:r>
              <a:rPr lang="en-US" sz="1200" dirty="0" smtClean="0"/>
              <a:t> </a:t>
            </a:r>
            <a:r>
              <a:rPr lang="en-US" sz="1200" dirty="0" err="1" smtClean="0"/>
              <a:t>memancar</a:t>
            </a:r>
            <a:r>
              <a:rPr lang="en-US" sz="1200" dirty="0" smtClean="0"/>
              <a:t> 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terdeteksi</a:t>
            </a:r>
            <a:r>
              <a:rPr lang="en-US" sz="1200" dirty="0" smtClean="0"/>
              <a:t>. Daerah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Blind Range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dirty="0" smtClean="0"/>
              <a:t>Blind Distance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798" y="778378"/>
            <a:ext cx="3562372" cy="19859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781798" y="2778096"/>
            <a:ext cx="39645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Target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300 meter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dideteksi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6259284" y="3106351"/>
            <a:ext cx="22239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/>
              <a:t>Hubungan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Antar</a:t>
            </a:r>
            <a:r>
              <a:rPr lang="en-US" sz="1400" b="1" dirty="0" smtClean="0"/>
              <a:t> Parameter</a:t>
            </a:r>
            <a:endParaRPr lang="en-US" sz="1400" b="1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98489"/>
              </p:ext>
            </p:extLst>
          </p:nvPr>
        </p:nvGraphicFramePr>
        <p:xfrm>
          <a:off x="6189599" y="3487185"/>
          <a:ext cx="5148944" cy="1458968"/>
        </p:xfrm>
        <a:graphic>
          <a:graphicData uri="http://schemas.openxmlformats.org/drawingml/2006/table">
            <a:tbl>
              <a:tblPr/>
              <a:tblGrid>
                <a:gridCol w="2574472">
                  <a:extLst>
                    <a:ext uri="{9D8B030D-6E8A-4147-A177-3AD203B41FA5}">
                      <a16:colId xmlns:a16="http://schemas.microsoft.com/office/drawing/2014/main" val="2628689769"/>
                    </a:ext>
                  </a:extLst>
                </a:gridCol>
                <a:gridCol w="2574472">
                  <a:extLst>
                    <a:ext uri="{9D8B030D-6E8A-4147-A177-3AD203B41FA5}">
                      <a16:colId xmlns:a16="http://schemas.microsoft.com/office/drawing/2014/main" val="2674586629"/>
                    </a:ext>
                  </a:extLst>
                </a:gridCol>
              </a:tblGrid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Jika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Nilainya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Meningkat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352240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/>
                        <a:t>λ (</a:t>
                      </a:r>
                      <a:r>
                        <a:rPr lang="en-US" sz="1200" dirty="0" err="1"/>
                        <a:t>panjang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gelombang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Frekuensi menurun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755875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/>
                        <a:t>τ (</a:t>
                      </a:r>
                      <a:r>
                        <a:rPr lang="en-US" sz="1200" dirty="0"/>
                        <a:t>pulse length)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Energi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naik</a:t>
                      </a:r>
                      <a:r>
                        <a:rPr lang="en-US" sz="1200" dirty="0"/>
                        <a:t>, blind range </a:t>
                      </a:r>
                      <a:r>
                        <a:rPr lang="en-US" sz="1200" dirty="0" err="1"/>
                        <a:t>bertambah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071835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Jarak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maksimum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menurun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837012"/>
                  </a:ext>
                </a:extLst>
              </a:tr>
              <a:tr h="28854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Jarak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maksimum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bertambah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96479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83085" y="4946153"/>
            <a:ext cx="548640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sederhana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Pulse Length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 → target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mudah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dideteksi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blind range </a:t>
            </a:r>
            <a:r>
              <a:rPr lang="en-US" sz="1200" b="1" dirty="0" err="1" smtClean="0"/>
              <a:t>bertambah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PRF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pengukuran</a:t>
            </a:r>
            <a:r>
              <a:rPr lang="en-US" sz="1200" b="1" dirty="0" smtClean="0"/>
              <a:t> Doppler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baik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maksimum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berkurang</a:t>
            </a:r>
            <a:r>
              <a:rPr lang="en-US" sz="1200" b="1" dirty="0" smtClean="0"/>
              <a:t>.</a:t>
            </a:r>
            <a:r>
              <a:rPr lang="en-US" sz="1200" dirty="0" smtClean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PRF </a:t>
            </a:r>
            <a:r>
              <a:rPr lang="en-US" sz="1200" b="1" dirty="0" err="1" smtClean="0"/>
              <a:t>rendah</a:t>
            </a:r>
            <a:r>
              <a:rPr lang="en-US" sz="1200" b="1" dirty="0" smtClean="0"/>
              <a:t> → </a:t>
            </a:r>
            <a:r>
              <a:rPr lang="en-US" sz="1200" b="1" dirty="0" err="1" smtClean="0"/>
              <a:t>jangkauan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jauh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tetapi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pengukuran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kecepatan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menjadi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kurang</a:t>
            </a:r>
            <a:r>
              <a:rPr lang="en-US" sz="1200" b="1" dirty="0" smtClean="0"/>
              <a:t> optimal.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3048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4" y="546909"/>
            <a:ext cx="7467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/>
              <a:t>KONSEP 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radar (Radar Resolution)</a:t>
            </a:r>
            <a:r>
              <a:rPr lang="en-US" sz="1200" dirty="0" smtClean="0"/>
              <a:t>, </a:t>
            </a:r>
            <a:r>
              <a:rPr lang="en-US" sz="1200" dirty="0" err="1" smtClean="0"/>
              <a:t>yaitu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letaknya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4" y="1008574"/>
            <a:ext cx="47143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Ada </a:t>
            </a:r>
            <a:r>
              <a:rPr lang="en-US" sz="1400" b="1" dirty="0" err="1" smtClean="0">
                <a:solidFill>
                  <a:srgbClr val="0070C0"/>
                </a:solidFill>
              </a:rPr>
              <a:t>dua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jenis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resolusi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utama</a:t>
            </a:r>
            <a:r>
              <a:rPr lang="en-US" sz="1400" b="1" dirty="0" smtClean="0">
                <a:solidFill>
                  <a:srgbClr val="0070C0"/>
                </a:solidFill>
              </a:rPr>
              <a:t> yang </a:t>
            </a:r>
            <a:r>
              <a:rPr lang="en-US" sz="1400" b="1" dirty="0" err="1" smtClean="0">
                <a:solidFill>
                  <a:srgbClr val="0070C0"/>
                </a:solidFill>
              </a:rPr>
              <a:t>ditunjukkan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pada</a:t>
            </a:r>
            <a:r>
              <a:rPr lang="en-US" sz="1400" b="1" dirty="0" smtClean="0">
                <a:solidFill>
                  <a:srgbClr val="0070C0"/>
                </a:solidFill>
              </a:rPr>
              <a:t> </a:t>
            </a:r>
            <a:r>
              <a:rPr lang="en-US" sz="1400" b="1" dirty="0" err="1" smtClean="0">
                <a:solidFill>
                  <a:srgbClr val="0070C0"/>
                </a:solidFill>
              </a:rPr>
              <a:t>gambar</a:t>
            </a:r>
            <a:r>
              <a:rPr lang="en-US" sz="1400" b="1" dirty="0" smtClean="0">
                <a:solidFill>
                  <a:srgbClr val="0070C0"/>
                </a:solidFill>
              </a:rPr>
              <a:t>:</a:t>
            </a:r>
            <a:endParaRPr lang="en-US" sz="14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3284" y="1426973"/>
            <a:ext cx="7467602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400" b="1" dirty="0" smtClean="0">
                <a:solidFill>
                  <a:srgbClr val="FF0000"/>
                </a:solidFill>
              </a:rPr>
              <a:t> Azimuth (Azimuth Resolution)</a:t>
            </a:r>
          </a:p>
          <a:p>
            <a:pPr algn="just"/>
            <a:r>
              <a:rPr lang="en-US" sz="1200" dirty="0" err="1" smtClean="0"/>
              <a:t>Resolusi</a:t>
            </a:r>
            <a:r>
              <a:rPr lang="en-US" sz="1200" dirty="0" smtClean="0"/>
              <a:t> azimuth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 (</a:t>
            </a:r>
            <a:r>
              <a:rPr lang="en-US" sz="1200" dirty="0" err="1" smtClean="0"/>
              <a:t>sudut</a:t>
            </a:r>
            <a:r>
              <a:rPr lang="en-US" sz="1200" dirty="0" smtClean="0"/>
              <a:t>) yang </a:t>
            </a:r>
            <a:r>
              <a:rPr lang="en-US" sz="1200" dirty="0" err="1" smtClean="0"/>
              <a:t>berbeda</a:t>
            </a:r>
            <a:r>
              <a:rPr lang="en-US" sz="1200" dirty="0" smtClean="0"/>
              <a:t>.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ditunjukkan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dirty="0" smtClean="0"/>
              <a:t>                                                                </a:t>
            </a:r>
            <a:r>
              <a:rPr lang="en-US" sz="1400" b="1" i="1" dirty="0" smtClean="0"/>
              <a:t> </a:t>
            </a:r>
          </a:p>
          <a:p>
            <a:pPr algn="just"/>
            <a:r>
              <a:rPr lang="en-US" sz="1200" dirty="0" err="1" smtClean="0"/>
              <a:t>dengan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l-GR" sz="1200" dirty="0" smtClean="0"/>
              <a:t>θ = </a:t>
            </a:r>
            <a:r>
              <a:rPr lang="en-US" sz="1200" dirty="0" err="1" smtClean="0"/>
              <a:t>lebar</a:t>
            </a:r>
            <a:r>
              <a:rPr lang="en-US" sz="1200" dirty="0" smtClean="0"/>
              <a:t> </a:t>
            </a:r>
            <a:r>
              <a:rPr lang="en-US" sz="1200" dirty="0" err="1" smtClean="0"/>
              <a:t>berkas</a:t>
            </a:r>
            <a:r>
              <a:rPr lang="en-US" sz="1200" dirty="0" smtClean="0"/>
              <a:t> </a:t>
            </a:r>
            <a:r>
              <a:rPr lang="en-US" sz="1200" dirty="0" err="1" smtClean="0"/>
              <a:t>antena</a:t>
            </a:r>
            <a:r>
              <a:rPr lang="en-US" sz="1200" dirty="0" smtClean="0"/>
              <a:t> (</a:t>
            </a:r>
            <a:r>
              <a:rPr lang="en-US" sz="1200" i="1" dirty="0" smtClean="0"/>
              <a:t>beam width</a:t>
            </a:r>
            <a:r>
              <a:rPr lang="en-US" sz="1200" dirty="0" smtClean="0"/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Satuan</a:t>
            </a:r>
            <a:r>
              <a:rPr lang="en-US" sz="1200" dirty="0" smtClean="0"/>
              <a:t> = </a:t>
            </a:r>
            <a:r>
              <a:rPr lang="en-US" sz="1200" dirty="0" err="1" smtClean="0"/>
              <a:t>derajat</a:t>
            </a:r>
            <a:r>
              <a:rPr lang="en-US" sz="1200" dirty="0" smtClean="0"/>
              <a:t> (°)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endParaRPr lang="en-US" sz="1200" dirty="0" smtClean="0"/>
          </a:p>
          <a:p>
            <a:pPr algn="just"/>
            <a:r>
              <a:rPr lang="en-US" sz="1200" b="1" dirty="0" err="1" smtClean="0"/>
              <a:t>Ilustrasi</a:t>
            </a:r>
            <a:endParaRPr lang="en-US" sz="1200" b="1" dirty="0" smtClean="0"/>
          </a:p>
          <a:p>
            <a:pPr algn="just"/>
            <a:r>
              <a:rPr lang="en-US" sz="1200" dirty="0" err="1" smtClean="0"/>
              <a:t>Misalnya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 beam width:</a:t>
            </a:r>
          </a:p>
          <a:p>
            <a:pPr algn="just"/>
            <a:endParaRPr lang="en-US" sz="1200" dirty="0" smtClean="0"/>
          </a:p>
          <a:p>
            <a:pPr algn="just"/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 err="1" smtClean="0"/>
              <a:t>seluruh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 smtClean="0"/>
              <a:t>berkas</a:t>
            </a:r>
            <a:r>
              <a:rPr lang="en-US" sz="1200" dirty="0" smtClean="0"/>
              <a:t> 1°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akan</a:t>
            </a:r>
            <a:r>
              <a:rPr lang="en-US" sz="1200" dirty="0" smtClean="0"/>
              <a:t> </a:t>
            </a:r>
            <a:r>
              <a:rPr lang="en-US" sz="1200" dirty="0" err="1" smtClean="0"/>
              <a:t>dianggap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oleh</a:t>
            </a:r>
            <a:r>
              <a:rPr lang="en-US" sz="1200" dirty="0" smtClean="0"/>
              <a:t> radar.</a:t>
            </a:r>
            <a:endParaRPr 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998" y="2001091"/>
            <a:ext cx="180975" cy="22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894" y="3084740"/>
            <a:ext cx="619125" cy="3619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3283" y="3873062"/>
            <a:ext cx="73587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Pengaruh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endParaRPr lang="en-US" sz="1200" b="1" dirty="0" smtClean="0"/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lebar</a:t>
            </a:r>
            <a:r>
              <a:rPr lang="en-US" sz="1200" dirty="0" smtClean="0"/>
              <a:t> area yang </a:t>
            </a:r>
            <a:r>
              <a:rPr lang="en-US" sz="1200" dirty="0" err="1" smtClean="0"/>
              <a:t>dicakup</a:t>
            </a:r>
            <a:r>
              <a:rPr lang="en-US" sz="1200" dirty="0" smtClean="0"/>
              <a:t> beam.</a:t>
            </a:r>
          </a:p>
          <a:p>
            <a:r>
              <a:rPr lang="en-US" sz="1200" dirty="0" err="1" smtClean="0"/>
              <a:t>Contoh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Beam Width = 1°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100 km:</a:t>
            </a:r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250 km: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83" y="4946541"/>
            <a:ext cx="2095500" cy="295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998" y="5703597"/>
            <a:ext cx="2085975" cy="2667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38056" y="4946541"/>
            <a:ext cx="6096000" cy="104644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r>
              <a:rPr lang="en-US" sz="1400" b="1" dirty="0" err="1" smtClean="0"/>
              <a:t>Artinya</a:t>
            </a:r>
            <a:r>
              <a:rPr lang="en-US" sz="1400" b="1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Dekat</a:t>
            </a:r>
            <a:r>
              <a:rPr lang="en-US" sz="1200" dirty="0" smtClean="0"/>
              <a:t> radar → detail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 → detail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kasar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Inilah</a:t>
            </a:r>
            <a:r>
              <a:rPr lang="en-US" sz="1200" dirty="0" smtClean="0"/>
              <a:t> </a:t>
            </a:r>
            <a:r>
              <a:rPr lang="en-US" sz="1200" dirty="0" err="1" smtClean="0"/>
              <a:t>sebabnya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yang </a:t>
            </a:r>
            <a:r>
              <a:rPr lang="en-US" sz="1200" dirty="0" err="1" smtClean="0"/>
              <a:t>masih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tampak</a:t>
            </a:r>
            <a:r>
              <a:rPr lang="en-US" sz="1200" dirty="0" smtClean="0"/>
              <a:t> </a:t>
            </a:r>
            <a:r>
              <a:rPr lang="en-US" sz="1200" dirty="0" err="1" smtClean="0"/>
              <a:t>melebar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37783" y="4786260"/>
            <a:ext cx="685801" cy="1206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rgbClr val="FF0000"/>
                </a:solidFill>
              </a:rPr>
              <a:t>}</a:t>
            </a:r>
            <a:endParaRPr lang="en-US" sz="7200" dirty="0">
              <a:solidFill>
                <a:srgbClr val="FF0000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683704" y="5207562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2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4" y="177577"/>
            <a:ext cx="9067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3283" y="632935"/>
            <a:ext cx="787037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>
                <a:solidFill>
                  <a:srgbClr val="FF0000"/>
                </a:solidFill>
              </a:rPr>
              <a:t>2. Resolusi Radial (Range Resolution)</a:t>
            </a:r>
          </a:p>
          <a:p>
            <a:pPr algn="just"/>
            <a:r>
              <a:rPr lang="sv-SE" sz="1200" dirty="0" smtClean="0"/>
              <a:t>Resolusi radial adalah kemampuan radar membedakan dua target yang berada pada arah yang sama tetapi jaraknya berbeda. Pada gambar ditunjukkan dengan:</a:t>
            </a:r>
            <a:endParaRPr lang="sv-SE" sz="12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28" y="1310043"/>
            <a:ext cx="513022" cy="35341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63283" y="1663458"/>
            <a:ext cx="1927515" cy="2227170"/>
            <a:chOff x="163283" y="1663458"/>
            <a:chExt cx="1927515" cy="2227170"/>
          </a:xfrm>
          <a:noFill/>
        </p:grpSpPr>
        <p:sp>
          <p:nvSpPr>
            <p:cNvPr id="19" name="Rectangle 18"/>
            <p:cNvSpPr/>
            <p:nvPr/>
          </p:nvSpPr>
          <p:spPr>
            <a:xfrm>
              <a:off x="163283" y="1663458"/>
              <a:ext cx="1927515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dan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dihitung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menggunakan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3176" y="2056880"/>
              <a:ext cx="847725" cy="345621"/>
            </a:xfrm>
            <a:prstGeom prst="rect">
              <a:avLst/>
            </a:prstGeom>
            <a:grpFill/>
          </p:spPr>
        </p:pic>
        <p:sp>
          <p:nvSpPr>
            <p:cNvPr id="21" name="Rectangle 20"/>
            <p:cNvSpPr/>
            <p:nvPr/>
          </p:nvSpPr>
          <p:spPr>
            <a:xfrm>
              <a:off x="163283" y="2402501"/>
              <a:ext cx="659348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Karena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631" y="2679500"/>
              <a:ext cx="647700" cy="276225"/>
            </a:xfrm>
            <a:prstGeom prst="rect">
              <a:avLst/>
            </a:prstGeom>
            <a:grpFill/>
          </p:spPr>
        </p:pic>
        <p:sp>
          <p:nvSpPr>
            <p:cNvPr id="23" name="Rectangle 22"/>
            <p:cNvSpPr/>
            <p:nvPr/>
          </p:nvSpPr>
          <p:spPr>
            <a:xfrm>
              <a:off x="163283" y="3025121"/>
              <a:ext cx="565155" cy="27699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200" dirty="0" err="1" smtClean="0"/>
                <a:t>maka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143" y="3404853"/>
              <a:ext cx="828675" cy="485775"/>
            </a:xfrm>
            <a:prstGeom prst="rect">
              <a:avLst/>
            </a:prstGeom>
            <a:grpFill/>
          </p:spPr>
        </p:pic>
      </p:grpSp>
      <p:sp>
        <p:nvSpPr>
          <p:cNvPr id="26" name="Rectangle 25"/>
          <p:cNvSpPr/>
          <p:nvPr/>
        </p:nvSpPr>
        <p:spPr>
          <a:xfrm>
            <a:off x="2926729" y="1687928"/>
            <a:ext cx="4891464" cy="1046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Mengapa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Resolusi</a:t>
            </a:r>
            <a:r>
              <a:rPr lang="en-US" sz="1400" b="1" dirty="0" smtClean="0"/>
              <a:t> Radar </a:t>
            </a:r>
            <a:r>
              <a:rPr lang="en-US" sz="1400" b="1" dirty="0" err="1" smtClean="0"/>
              <a:t>Dibagi</a:t>
            </a:r>
            <a:r>
              <a:rPr lang="en-US" sz="1400" b="1" dirty="0" smtClean="0"/>
              <a:t> 2?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sinyal</a:t>
            </a:r>
            <a:r>
              <a:rPr lang="en-US" sz="1200" dirty="0" smtClean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Pergi</a:t>
            </a:r>
            <a:r>
              <a:rPr lang="en-US" sz="1200" dirty="0" smtClean="0"/>
              <a:t> </a:t>
            </a:r>
            <a:r>
              <a:rPr lang="en-US" sz="1200" dirty="0" err="1" smtClean="0"/>
              <a:t>menuju</a:t>
            </a:r>
            <a:r>
              <a:rPr lang="en-US" sz="1200" dirty="0" smtClean="0"/>
              <a:t> target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radar </a:t>
            </a:r>
          </a:p>
          <a:p>
            <a:r>
              <a:rPr lang="en-US" sz="1200" dirty="0" err="1" smtClean="0"/>
              <a:t>Jadi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diukur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waktu</a:t>
            </a:r>
            <a:r>
              <a:rPr lang="en-US" sz="1200" dirty="0" smtClean="0"/>
              <a:t> </a:t>
            </a:r>
            <a:r>
              <a:rPr lang="en-US" sz="1200" dirty="0" err="1" smtClean="0"/>
              <a:t>pulang-pergi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7128" y="2955726"/>
            <a:ext cx="4901065" cy="366207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8180890" y="4281806"/>
            <a:ext cx="37446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Artinya</a:t>
            </a:r>
            <a:r>
              <a:rPr lang="en-US" sz="1200" b="1" dirty="0" smtClean="0"/>
              <a:t>?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8180890" y="5297469"/>
            <a:ext cx="35430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Target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dideteksi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kasar</a:t>
            </a:r>
            <a:endParaRPr lang="en-US" sz="1200" dirty="0"/>
          </a:p>
        </p:txBody>
      </p:sp>
      <p:sp>
        <p:nvSpPr>
          <p:cNvPr id="30" name="Right Arrow 29"/>
          <p:cNvSpPr/>
          <p:nvPr/>
        </p:nvSpPr>
        <p:spPr>
          <a:xfrm>
            <a:off x="7874144" y="5112803"/>
            <a:ext cx="347870" cy="2784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4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57" y="362243"/>
            <a:ext cx="3690257" cy="373489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92342" y="3873062"/>
            <a:ext cx="1121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FF0000"/>
                </a:solidFill>
              </a:rPr>
              <a:t>Resolusi</a:t>
            </a:r>
            <a:r>
              <a:rPr lang="en-US" sz="1200" b="1" dirty="0" smtClean="0">
                <a:solidFill>
                  <a:srgbClr val="FF0000"/>
                </a:solidFill>
              </a:rPr>
              <a:t> Radar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3" y="546909"/>
            <a:ext cx="775022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Penjelasan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Gambar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Sebelah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Kanan</a:t>
            </a:r>
            <a:endParaRPr lang="en-US" sz="1600" b="1" dirty="0" smtClean="0"/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kanan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Berkas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membentuk</a:t>
            </a:r>
            <a:r>
              <a:rPr lang="en-US" sz="1200" dirty="0" smtClean="0"/>
              <a:t> </a:t>
            </a:r>
            <a:r>
              <a:rPr lang="en-US" sz="1200" dirty="0" err="1" smtClean="0"/>
              <a:t>sudut</a:t>
            </a:r>
            <a:r>
              <a:rPr lang="en-US" sz="1200" dirty="0" smtClean="0"/>
              <a:t> </a:t>
            </a:r>
            <a:r>
              <a:rPr lang="el-GR" sz="1200" dirty="0" smtClean="0"/>
              <a:t>θ.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Lingkaran-lingkaran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dirty="0" smtClean="0"/>
              <a:t>Δ</a:t>
            </a:r>
            <a:r>
              <a:rPr lang="en-US" sz="1200" dirty="0" smtClean="0"/>
              <a:t>r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ukuran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"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resolusi</a:t>
            </a:r>
            <a:r>
              <a:rPr lang="en-US" sz="1200" dirty="0" smtClean="0"/>
              <a:t>" </a:t>
            </a:r>
            <a:r>
              <a:rPr lang="en-US" sz="1200" dirty="0" err="1" smtClean="0"/>
              <a:t>sepanjang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arah</a:t>
            </a:r>
            <a:r>
              <a:rPr lang="en-US" sz="1200" dirty="0" smtClean="0"/>
              <a:t> radial.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200" dirty="0" smtClean="0"/>
          </a:p>
          <a:p>
            <a:pPr algn="just"/>
            <a:r>
              <a:rPr lang="en-US" sz="1200" dirty="0" smtClean="0"/>
              <a:t>Radar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dirty="0" err="1" smtClean="0"/>
              <a:t>titik</a:t>
            </a:r>
            <a:r>
              <a:rPr lang="en-US" sz="1200" dirty="0" smtClean="0"/>
              <a:t> </a:t>
            </a:r>
            <a:r>
              <a:rPr lang="en-US" sz="1200" dirty="0" err="1" smtClean="0"/>
              <a:t>tunggal</a:t>
            </a:r>
            <a:r>
              <a:rPr lang="en-US" sz="1200" dirty="0" smtClean="0"/>
              <a:t>, </a:t>
            </a:r>
            <a:r>
              <a:rPr lang="en-US" sz="1200" dirty="0" err="1" smtClean="0"/>
              <a:t>tetapi</a:t>
            </a:r>
            <a:r>
              <a:rPr lang="en-US" sz="1200" dirty="0" smtClean="0"/>
              <a:t> </a:t>
            </a:r>
            <a:r>
              <a:rPr lang="en-US" sz="1200" dirty="0" err="1" smtClean="0"/>
              <a:t>mengukur</a:t>
            </a:r>
            <a:r>
              <a:rPr lang="en-US" sz="1200" dirty="0" smtClean="0"/>
              <a:t> </a:t>
            </a:r>
            <a:r>
              <a:rPr lang="en-US" sz="1200" b="1" dirty="0" smtClean="0"/>
              <a:t>volume </a:t>
            </a:r>
            <a:r>
              <a:rPr lang="en-US" sz="1200" b="1" dirty="0" err="1" smtClean="0"/>
              <a:t>sampel</a:t>
            </a:r>
            <a:r>
              <a:rPr lang="en-US" sz="1200" b="1" dirty="0" smtClean="0"/>
              <a:t> (resolution volume)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dibatasi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Beam Width (</a:t>
            </a:r>
            <a:r>
              <a:rPr lang="el-GR" sz="1200" dirty="0" smtClean="0"/>
              <a:t>θ)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Range Resolution (</a:t>
            </a:r>
            <a:r>
              <a:rPr lang="el-GR" sz="1200" dirty="0" smtClean="0"/>
              <a:t>Δ</a:t>
            </a:r>
            <a:r>
              <a:rPr lang="en-US" sz="1200" dirty="0" smtClean="0"/>
              <a:t>r) </a:t>
            </a:r>
          </a:p>
          <a:p>
            <a:pPr algn="just"/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piksel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tampilan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merupakan</a:t>
            </a:r>
            <a:r>
              <a:rPr lang="en-US" sz="1200" dirty="0" smtClean="0"/>
              <a:t> rata-rata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udara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3" y="2818053"/>
            <a:ext cx="426196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Hubungan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dengan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Produk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endParaRPr lang="en-US" sz="1600" b="1" dirty="0" smtClean="0"/>
          </a:p>
          <a:p>
            <a:r>
              <a:rPr lang="en-US" sz="1200" dirty="0" err="1" smtClean="0"/>
              <a:t>Misalnya</a:t>
            </a:r>
            <a:r>
              <a:rPr lang="en-US" sz="1200" dirty="0" smtClean="0"/>
              <a:t> radar BMKG: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Beam Width = 1°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Pulse Length = 0,5 </a:t>
            </a:r>
            <a:r>
              <a:rPr lang="el-GR" sz="1200" dirty="0" smtClean="0"/>
              <a:t>μ</a:t>
            </a:r>
            <a:r>
              <a:rPr lang="en-US" sz="1200" dirty="0" smtClean="0"/>
              <a:t>s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Range = 250 km </a:t>
            </a:r>
          </a:p>
          <a:p>
            <a:r>
              <a:rPr lang="en-US" sz="1200" dirty="0" err="1" smtClean="0"/>
              <a:t>Maka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Radial </a:t>
            </a:r>
            <a:r>
              <a:rPr lang="en-US" sz="1200" dirty="0" smtClean="0"/>
              <a:t>≈ 75 meter</a:t>
            </a:r>
          </a:p>
          <a:p>
            <a:endParaRPr lang="en-US" sz="1200" dirty="0" smtClean="0"/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Azimuth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250 km</a:t>
            </a:r>
          </a:p>
          <a:p>
            <a:endParaRPr lang="en-US" sz="1200" b="1" dirty="0"/>
          </a:p>
          <a:p>
            <a:endParaRPr lang="en-US" sz="1200" b="1" dirty="0" smtClean="0"/>
          </a:p>
          <a:p>
            <a:r>
              <a:rPr lang="en-US" sz="1200" dirty="0" err="1" smtClean="0"/>
              <a:t>Artinya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250 km:</a:t>
            </a:r>
          </a:p>
          <a:p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piksel</a:t>
            </a:r>
            <a:r>
              <a:rPr lang="en-US" sz="1200" dirty="0" smtClean="0"/>
              <a:t> radar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mewakili</a:t>
            </a:r>
            <a:r>
              <a:rPr lang="en-US" sz="1200" dirty="0" smtClean="0"/>
              <a:t> area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4,4 km × 75 m</a:t>
            </a:r>
            <a:endParaRPr lang="en-US" sz="1200" dirty="0" smtClean="0"/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itu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di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tajam</a:t>
            </a:r>
            <a:r>
              <a:rPr lang="en-US" sz="1200" dirty="0" smtClean="0"/>
              <a:t> </a:t>
            </a:r>
            <a:r>
              <a:rPr lang="en-US" sz="1200" dirty="0" err="1" smtClean="0"/>
              <a:t>dibandingkan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95" y="4656842"/>
            <a:ext cx="2019300" cy="2762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97184" y="4232400"/>
            <a:ext cx="7026730" cy="2369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1600" b="1" dirty="0" err="1" smtClean="0"/>
              <a:t>Kesimpulan</a:t>
            </a:r>
            <a:endParaRPr lang="en-US" sz="16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</a:t>
            </a:r>
            <a:r>
              <a:rPr lang="en-US" sz="1200" dirty="0" err="1" smtClean="0"/>
              <a:t>kualitas</a:t>
            </a:r>
            <a:r>
              <a:rPr lang="en-US" sz="1200" dirty="0" smtClean="0"/>
              <a:t> detail radar </a:t>
            </a: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parameter </a:t>
            </a:r>
            <a:r>
              <a:rPr lang="en-US" sz="1200" dirty="0" err="1" smtClean="0"/>
              <a:t>utama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err="1" smtClean="0"/>
              <a:t>Resolusi</a:t>
            </a:r>
            <a:r>
              <a:rPr lang="en-US" sz="1200" b="1" dirty="0" smtClean="0"/>
              <a:t> Azimuth (</a:t>
            </a:r>
            <a:r>
              <a:rPr lang="el-GR" sz="1200" b="1" dirty="0" smtClean="0"/>
              <a:t>θ)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beam width </a:t>
            </a:r>
            <a:r>
              <a:rPr lang="en-US" sz="1200" dirty="0" err="1" smtClean="0"/>
              <a:t>antena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beam width,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tajam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arah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b="1" dirty="0" err="1" smtClean="0"/>
              <a:t>Resolusi</a:t>
            </a:r>
            <a:r>
              <a:rPr lang="en-US" sz="1200" b="1" dirty="0" smtClean="0"/>
              <a:t> Radial (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Ditentukan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</a:t>
            </a:r>
            <a:r>
              <a:rPr lang="en-US" sz="1200" dirty="0" err="1" smtClean="0"/>
              <a:t>panjang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(Pulse Length).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,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r>
              <a:rPr lang="en-US" sz="1200" dirty="0" smtClean="0"/>
              <a:t> </a:t>
            </a:r>
            <a:r>
              <a:rPr lang="en-US" sz="1200" dirty="0" err="1" smtClean="0"/>
              <a:t>kemampuan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sederhana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Beam Width </a:t>
            </a:r>
            <a:r>
              <a:rPr lang="en-US" sz="1200" b="1" dirty="0" err="1" smtClean="0"/>
              <a:t>mengontrol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ketajaman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samping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arah</a:t>
            </a:r>
            <a:r>
              <a:rPr lang="en-US" sz="1200" b="1" dirty="0" smtClean="0"/>
              <a:t> azimuth), </a:t>
            </a:r>
            <a:r>
              <a:rPr lang="en-US" sz="1200" b="1" dirty="0" err="1" smtClean="0"/>
              <a:t>sedangkan</a:t>
            </a:r>
            <a:r>
              <a:rPr lang="en-US" sz="1200" b="1" dirty="0" smtClean="0"/>
              <a:t> Pulse Length </a:t>
            </a:r>
            <a:r>
              <a:rPr lang="en-US" sz="1200" b="1" dirty="0" err="1" smtClean="0"/>
              <a:t>mengontrol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ketajaman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depan-belakang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arah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/range).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parameter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menentukan</a:t>
            </a:r>
            <a:r>
              <a:rPr lang="en-US" sz="1200" dirty="0" smtClean="0"/>
              <a:t> </a:t>
            </a:r>
            <a:r>
              <a:rPr lang="en-US" sz="1200" dirty="0" err="1" smtClean="0"/>
              <a:t>seberapa</a:t>
            </a:r>
            <a:r>
              <a:rPr lang="en-US" sz="1200" dirty="0" smtClean="0"/>
              <a:t> 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ditampilkan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132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6" y="636032"/>
            <a:ext cx="36140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disamping</a:t>
            </a:r>
            <a:r>
              <a:rPr lang="en-US" sz="1200" dirty="0" smtClean="0"/>
              <a:t> </a:t>
            </a:r>
            <a:r>
              <a:rPr lang="en-US" sz="1200" dirty="0" err="1" smtClean="0"/>
              <a:t>memberikan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contoh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nyata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bagaimana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radar (range resolution, 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 </a:t>
            </a:r>
            <a:r>
              <a:rPr lang="en-US" sz="1200" b="1" dirty="0" err="1" smtClean="0"/>
              <a:t>memengaruhi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kemampuan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membedakan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berdekatan</a:t>
            </a:r>
            <a:r>
              <a:rPr lang="en-US" sz="1200" dirty="0" smtClean="0"/>
              <a:t>.</a:t>
            </a:r>
          </a:p>
          <a:p>
            <a:pPr algn="just"/>
            <a:endParaRPr lang="en-US" sz="1200" dirty="0" smtClean="0"/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b="1" dirty="0" err="1" smtClean="0"/>
              <a:t>amplitudo</a:t>
            </a:r>
            <a:r>
              <a:rPr lang="en-US" sz="1200" b="1" dirty="0" smtClean="0"/>
              <a:t> echo </a:t>
            </a:r>
            <a:r>
              <a:rPr lang="en-US" sz="1200" b="1" dirty="0" err="1" smtClean="0"/>
              <a:t>terhadap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dirty="0" smtClean="0"/>
              <a:t>. </a:t>
            </a:r>
            <a:r>
              <a:rPr lang="en-US" sz="1200" dirty="0" err="1" smtClean="0"/>
              <a:t>Sumbu</a:t>
            </a:r>
            <a:r>
              <a:rPr lang="en-US" sz="1200" dirty="0" smtClean="0"/>
              <a:t> horizontal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(range), </a:t>
            </a:r>
            <a:r>
              <a:rPr lang="en-US" sz="1200" dirty="0" err="1" smtClean="0"/>
              <a:t>sedangkan</a:t>
            </a:r>
            <a:r>
              <a:rPr lang="en-US" sz="1200" dirty="0" smtClean="0"/>
              <a:t> </a:t>
            </a:r>
            <a:r>
              <a:rPr lang="en-US" sz="1200" dirty="0" err="1" smtClean="0"/>
              <a:t>sumbu</a:t>
            </a:r>
            <a:r>
              <a:rPr lang="en-US" sz="1200" dirty="0" smtClean="0"/>
              <a:t> </a:t>
            </a:r>
            <a:r>
              <a:rPr lang="en-US" sz="1200" dirty="0" err="1" smtClean="0"/>
              <a:t>vertikal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kekuatan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(</a:t>
            </a:r>
            <a:r>
              <a:rPr lang="en-US" sz="1200" dirty="0" err="1" smtClean="0"/>
              <a:t>amplitudo</a:t>
            </a:r>
            <a:r>
              <a:rPr lang="en-US" sz="1200" dirty="0" smtClean="0"/>
              <a:t>).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63285" y="2479481"/>
            <a:ext cx="3614059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Target Tunggal (Single Chimney)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contoh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b="1" dirty="0" err="1" smtClean="0"/>
              <a:t>satu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cerobong</a:t>
            </a:r>
            <a:r>
              <a:rPr lang="en-US" sz="1200" b="1" dirty="0" smtClean="0"/>
              <a:t> asap</a:t>
            </a:r>
            <a:r>
              <a:rPr lang="en-US" sz="1200" dirty="0" smtClean="0"/>
              <a:t>.</a:t>
            </a:r>
          </a:p>
          <a:p>
            <a:r>
              <a:rPr lang="en-US" sz="1200" b="1" dirty="0" smtClean="0"/>
              <a:t>Yang </a:t>
            </a:r>
            <a:r>
              <a:rPr lang="en-US" sz="1200" b="1" dirty="0" err="1" smtClean="0"/>
              <a:t>Terjadi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mengenai</a:t>
            </a:r>
            <a:r>
              <a:rPr lang="en-US" sz="1200" dirty="0" smtClean="0"/>
              <a:t> </a:t>
            </a:r>
            <a:r>
              <a:rPr lang="en-US" sz="1200" dirty="0" err="1" smtClean="0"/>
              <a:t>cerobong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Cerobong</a:t>
            </a:r>
            <a:r>
              <a:rPr lang="en-US" sz="1200" dirty="0" smtClean="0"/>
              <a:t> </a:t>
            </a:r>
            <a:r>
              <a:rPr lang="en-US" sz="1200" dirty="0" err="1" smtClean="0"/>
              <a:t>memantulkan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target, radar </a:t>
            </a:r>
            <a:r>
              <a:rPr lang="en-US" sz="1200" dirty="0" err="1" smtClean="0"/>
              <a:t>menerima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echo.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mulai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b="1" dirty="0" smtClean="0"/>
              <a:t>r₁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berakhir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b="1" dirty="0" smtClean="0"/>
              <a:t>r₂</a:t>
            </a:r>
            <a:r>
              <a:rPr lang="en-US" sz="1200" dirty="0" smtClean="0"/>
              <a:t> </a:t>
            </a:r>
          </a:p>
          <a:p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jelas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958557" y="4347312"/>
            <a:ext cx="803365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Target </a:t>
            </a:r>
            <a:r>
              <a:rPr lang="en-US" sz="1400" b="1" dirty="0" err="1" smtClean="0">
                <a:solidFill>
                  <a:srgbClr val="FF0000"/>
                </a:solidFill>
              </a:rPr>
              <a:t>Presipitasi</a:t>
            </a:r>
            <a:r>
              <a:rPr lang="en-US" sz="1400" b="1" dirty="0" smtClean="0">
                <a:solidFill>
                  <a:srgbClr val="FF0000"/>
                </a:solidFill>
              </a:rPr>
              <a:t> (</a:t>
            </a:r>
            <a:r>
              <a:rPr lang="en-US" sz="1400" b="1" dirty="0" err="1" smtClean="0">
                <a:solidFill>
                  <a:srgbClr val="FF0000"/>
                </a:solidFill>
              </a:rPr>
              <a:t>Hujan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contoh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</a:t>
            </a:r>
            <a:r>
              <a:rPr lang="en-US" sz="1200" dirty="0" err="1" smtClean="0"/>
              <a:t>targetnya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b="1" dirty="0" smtClean="0"/>
              <a:t>area </a:t>
            </a:r>
            <a:r>
              <a:rPr lang="en-US" sz="1200" b="1" dirty="0" err="1" smtClean="0"/>
              <a:t>hujan</a:t>
            </a:r>
            <a:r>
              <a:rPr lang="en-US" sz="1200" dirty="0"/>
              <a:t> </a:t>
            </a:r>
            <a:r>
              <a:rPr lang="en-US" sz="1200" b="1" dirty="0" smtClean="0"/>
              <a:t>Yang </a:t>
            </a:r>
            <a:r>
              <a:rPr lang="en-US" sz="1200" b="1" dirty="0" err="1" smtClean="0"/>
              <a:t>Terjadi</a:t>
            </a:r>
            <a:endParaRPr lang="en-US" sz="1200" b="1" dirty="0" smtClean="0"/>
          </a:p>
          <a:p>
            <a:pPr algn="just"/>
            <a:r>
              <a:rPr lang="en-US" sz="1200" dirty="0" smtClean="0"/>
              <a:t>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volume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 smtClean="0"/>
              <a:t>ribuan</a:t>
            </a:r>
            <a:r>
              <a:rPr lang="en-US" sz="1200" dirty="0" smtClean="0"/>
              <a:t> </a:t>
            </a:r>
            <a:r>
              <a:rPr lang="en-US" sz="1200" dirty="0" err="1" smtClean="0"/>
              <a:t>hingga</a:t>
            </a:r>
            <a:r>
              <a:rPr lang="en-US" sz="1200" dirty="0" smtClean="0"/>
              <a:t> </a:t>
            </a:r>
            <a:r>
              <a:rPr lang="en-US" sz="1200" dirty="0" err="1" smtClean="0"/>
              <a:t>jutaan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air. </a:t>
            </a:r>
            <a:r>
              <a:rPr lang="en-US" sz="1200" dirty="0" err="1" smtClean="0"/>
              <a:t>Setiap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memantulkan</a:t>
            </a:r>
            <a:r>
              <a:rPr lang="en-US" sz="1200" dirty="0" smtClean="0"/>
              <a:t>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radar.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diterima</a:t>
            </a:r>
            <a:r>
              <a:rPr lang="en-US" sz="1200" dirty="0" smtClean="0"/>
              <a:t> </a:t>
            </a:r>
            <a:r>
              <a:rPr lang="en-US" sz="1200" dirty="0" err="1" smtClean="0"/>
              <a:t>terus-menerus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berbagai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lebar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seragam</a:t>
            </a:r>
            <a:r>
              <a:rPr lang="en-US" sz="1200" dirty="0" smtClean="0"/>
              <a:t>. 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menyebar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r₁ </a:t>
            </a:r>
            <a:r>
              <a:rPr lang="en-US" sz="1200" dirty="0" err="1" smtClean="0"/>
              <a:t>sampai</a:t>
            </a:r>
            <a:r>
              <a:rPr lang="en-US" sz="1200" dirty="0" smtClean="0"/>
              <a:t> r₂.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Bentuknya</a:t>
            </a:r>
            <a:r>
              <a:rPr lang="en-US" sz="1200" dirty="0" smtClean="0"/>
              <a:t> </a:t>
            </a:r>
            <a:r>
              <a:rPr lang="en-US" sz="1200" dirty="0" err="1" smtClean="0"/>
              <a:t>bergelombang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 smtClean="0"/>
              <a:t>distribusi</a:t>
            </a:r>
            <a:r>
              <a:rPr lang="en-US" sz="1200" dirty="0" smtClean="0"/>
              <a:t> </a:t>
            </a:r>
            <a:r>
              <a:rPr lang="en-US" sz="1200" dirty="0" err="1" smtClean="0"/>
              <a:t>tetesan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merata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15" name="Elbow Connector 14"/>
          <p:cNvCxnSpPr/>
          <p:nvPr/>
        </p:nvCxnSpPr>
        <p:spPr>
          <a:xfrm>
            <a:off x="2950029" y="2656114"/>
            <a:ext cx="3766457" cy="435429"/>
          </a:xfrm>
          <a:prstGeom prst="bentConnector3">
            <a:avLst>
              <a:gd name="adj1" fmla="val 4046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 flipV="1">
            <a:off x="6215743" y="3374571"/>
            <a:ext cx="2601686" cy="1121229"/>
          </a:xfrm>
          <a:prstGeom prst="bentConnector3">
            <a:avLst>
              <a:gd name="adj1" fmla="val 10062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22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6918" y="2612344"/>
            <a:ext cx="35814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Apa</a:t>
            </a:r>
            <a:r>
              <a:rPr lang="en-US" sz="1200" b="1" dirty="0" smtClean="0"/>
              <a:t> yang </a:t>
            </a:r>
            <a:r>
              <a:rPr lang="en-US" sz="1200" b="1" dirty="0" err="1" smtClean="0"/>
              <a:t>Terjadi</a:t>
            </a:r>
            <a:r>
              <a:rPr lang="en-US" sz="1200" b="1" dirty="0" smtClean="0"/>
              <a:t>?</a:t>
            </a:r>
          </a:p>
          <a:p>
            <a:pPr algn="just"/>
            <a:r>
              <a:rPr lang="en-US" sz="1200" dirty="0" smtClean="0"/>
              <a:t>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cerobong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hampir</a:t>
            </a:r>
            <a:r>
              <a:rPr lang="en-US" sz="1200" dirty="0" smtClean="0"/>
              <a:t> </a:t>
            </a:r>
            <a:r>
              <a:rPr lang="en-US" sz="1200" dirty="0" err="1" smtClean="0"/>
              <a:t>bersamaan</a:t>
            </a:r>
            <a:r>
              <a:rPr lang="en-US" sz="1200" dirty="0" smtClean="0"/>
              <a:t>. Radar </a:t>
            </a: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mampu</a:t>
            </a:r>
            <a:r>
              <a:rPr lang="en-US" sz="1200" dirty="0" smtClean="0"/>
              <a:t> </a:t>
            </a:r>
            <a:r>
              <a:rPr lang="en-US" sz="1200" dirty="0" err="1" smtClean="0"/>
              <a:t>memisahkannya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Kedua</a:t>
            </a:r>
            <a:r>
              <a:rPr lang="en-US" sz="1200" dirty="0" smtClean="0"/>
              <a:t> echo </a:t>
            </a:r>
            <a:r>
              <a:rPr lang="en-US" sz="1200" dirty="0" err="1" smtClean="0"/>
              <a:t>saling</a:t>
            </a:r>
            <a:r>
              <a:rPr lang="en-US" sz="1200" dirty="0" smtClean="0"/>
              <a:t> </a:t>
            </a:r>
            <a:r>
              <a:rPr lang="en-US" sz="1200" dirty="0" err="1" smtClean="0"/>
              <a:t>bertumpuk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melihatnya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target. </a:t>
            </a:r>
          </a:p>
          <a:p>
            <a:pPr algn="just"/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echo.</a:t>
            </a:r>
          </a:p>
          <a:p>
            <a:pPr algn="just"/>
            <a:r>
              <a:rPr lang="en-US" sz="1200" dirty="0" err="1" smtClean="0"/>
              <a:t>Padahal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objek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170088" y="627184"/>
            <a:ext cx="3712270" cy="1846660"/>
            <a:chOff x="7837714" y="3911884"/>
            <a:chExt cx="4093028" cy="1846660"/>
          </a:xfrm>
        </p:grpSpPr>
        <p:sp>
          <p:nvSpPr>
            <p:cNvPr id="12" name="Rectangle 11"/>
            <p:cNvSpPr/>
            <p:nvPr/>
          </p:nvSpPr>
          <p:spPr>
            <a:xfrm>
              <a:off x="7837714" y="3911884"/>
              <a:ext cx="3853543" cy="14157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dirty="0" smtClean="0">
                  <a:solidFill>
                    <a:srgbClr val="FF0000"/>
                  </a:solidFill>
                </a:rPr>
                <a:t>3.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Dua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Cerobong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Sangat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</a:rPr>
                <a:t>Berdekatan</a:t>
              </a:r>
              <a:endParaRPr lang="en-US" sz="1400" b="1" dirty="0" smtClean="0">
                <a:solidFill>
                  <a:srgbClr val="FF0000"/>
                </a:solidFill>
              </a:endParaRPr>
            </a:p>
            <a:p>
              <a:r>
                <a:rPr lang="en-US" sz="1200" dirty="0" err="1" smtClean="0"/>
                <a:t>Ini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bagian</a:t>
              </a:r>
              <a:r>
                <a:rPr lang="en-US" sz="1200" dirty="0" smtClean="0"/>
                <a:t> paling </a:t>
              </a:r>
              <a:r>
                <a:rPr lang="en-US" sz="1200" dirty="0" err="1" smtClean="0"/>
                <a:t>penting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dari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gambar</a:t>
              </a:r>
              <a:r>
                <a:rPr lang="en-US" sz="1200" dirty="0" smtClean="0"/>
                <a:t>.</a:t>
              </a:r>
            </a:p>
            <a:p>
              <a:r>
                <a:rPr lang="en-US" sz="1200" dirty="0" err="1" smtClean="0"/>
                <a:t>Terdapat</a:t>
              </a:r>
              <a:r>
                <a:rPr lang="en-US" sz="1200" dirty="0" smtClean="0"/>
                <a:t>:</a:t>
              </a:r>
            </a:p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dirty="0" err="1" smtClean="0"/>
                <a:t>Cerobong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pertama</a:t>
              </a:r>
              <a:r>
                <a:rPr lang="en-US" sz="1200" dirty="0" smtClean="0"/>
                <a:t> </a:t>
              </a:r>
            </a:p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dirty="0" err="1" smtClean="0"/>
                <a:t>Cerobong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kedua</a:t>
              </a:r>
              <a:r>
                <a:rPr lang="en-US" sz="1200" dirty="0" smtClean="0"/>
                <a:t> </a:t>
              </a:r>
            </a:p>
            <a:p>
              <a:endParaRPr lang="en-US" sz="1200" dirty="0" smtClean="0"/>
            </a:p>
            <a:p>
              <a:r>
                <a:rPr lang="en-US" sz="1200" dirty="0" err="1" smtClean="0"/>
                <a:t>Tetapi</a:t>
              </a:r>
              <a:r>
                <a:rPr lang="en-US" sz="1200" dirty="0" smtClean="0"/>
                <a:t> </a:t>
              </a:r>
              <a:r>
                <a:rPr lang="en-US" sz="1200" dirty="0" err="1" smtClean="0"/>
                <a:t>jaraknya</a:t>
              </a:r>
              <a:r>
                <a:rPr lang="en-US" sz="1200" dirty="0" smtClean="0"/>
                <a:t>:</a:t>
              </a:r>
              <a:endParaRPr lang="en-US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37714" y="5296879"/>
              <a:ext cx="40930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err="1" smtClean="0"/>
                <a:t>artinya</a:t>
              </a:r>
              <a:r>
                <a:rPr lang="en-US" sz="1200" dirty="0" smtClean="0"/>
                <a:t>:</a:t>
              </a:r>
            </a:p>
            <a:p>
              <a:r>
                <a:rPr lang="en-US" sz="1200" b="1" dirty="0" err="1" smtClean="0"/>
                <a:t>jarak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antar</a:t>
              </a:r>
              <a:r>
                <a:rPr lang="en-US" sz="1200" b="1" dirty="0" smtClean="0"/>
                <a:t> target </a:t>
              </a:r>
              <a:r>
                <a:rPr lang="en-US" sz="1200" b="1" dirty="0" err="1" smtClean="0"/>
                <a:t>lebih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kecil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daripada</a:t>
              </a:r>
              <a:r>
                <a:rPr lang="en-US" sz="1200" b="1" dirty="0" smtClean="0"/>
                <a:t> </a:t>
              </a:r>
              <a:r>
                <a:rPr lang="en-US" sz="1200" b="1" dirty="0" err="1" smtClean="0"/>
                <a:t>resolusi</a:t>
              </a:r>
              <a:r>
                <a:rPr lang="en-US" sz="1200" b="1" dirty="0" smtClean="0"/>
                <a:t> radar.</a:t>
              </a:r>
              <a:endParaRPr lang="en-US" sz="1200" dirty="0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5835" y="4973029"/>
              <a:ext cx="704850" cy="323850"/>
            </a:xfrm>
            <a:prstGeom prst="rect">
              <a:avLst/>
            </a:prstGeom>
          </p:spPr>
        </p:pic>
      </p:grpSp>
      <p:sp>
        <p:nvSpPr>
          <p:cNvPr id="15" name="Rectangle 14"/>
          <p:cNvSpPr/>
          <p:nvPr/>
        </p:nvSpPr>
        <p:spPr>
          <a:xfrm>
            <a:off x="170088" y="4323519"/>
            <a:ext cx="34950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Analogi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Sederhana</a:t>
            </a:r>
            <a:endParaRPr lang="en-US" sz="1200" b="1" dirty="0" smtClean="0"/>
          </a:p>
          <a:p>
            <a:pPr algn="just"/>
            <a:r>
              <a:rPr lang="en-US" sz="1200" dirty="0" err="1" smtClean="0"/>
              <a:t>Bayangkan</a:t>
            </a:r>
            <a:r>
              <a:rPr lang="en-US" sz="1200" dirty="0" smtClean="0"/>
              <a:t> </a:t>
            </a:r>
            <a:r>
              <a:rPr lang="en-US" sz="1200" dirty="0" err="1" smtClean="0"/>
              <a:t>mata</a:t>
            </a:r>
            <a:r>
              <a:rPr lang="en-US" sz="1200" dirty="0" smtClean="0"/>
              <a:t> </a:t>
            </a:r>
            <a:r>
              <a:rPr lang="en-US" sz="1200" dirty="0" err="1" smtClean="0"/>
              <a:t>manusia</a:t>
            </a:r>
            <a:r>
              <a:rPr lang="en-US" sz="1200" dirty="0" smtClean="0"/>
              <a:t> </a:t>
            </a:r>
            <a:r>
              <a:rPr lang="en-US" sz="1200" dirty="0" err="1" smtClean="0"/>
              <a:t>melihat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berjauhan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Dua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berdekatan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lampu</a:t>
            </a:r>
            <a:r>
              <a:rPr lang="en-US" sz="1200" dirty="0" smtClean="0"/>
              <a:t> </a:t>
            </a:r>
            <a:r>
              <a:rPr lang="en-US" sz="1200" dirty="0" err="1" smtClean="0"/>
              <a:t>besar</a:t>
            </a:r>
            <a:r>
              <a:rPr lang="en-US" sz="1200" dirty="0" smtClean="0"/>
              <a:t>. Radar </a:t>
            </a:r>
            <a:r>
              <a:rPr lang="en-US" sz="1200" dirty="0" err="1" smtClean="0"/>
              <a:t>mengalami</a:t>
            </a:r>
            <a:r>
              <a:rPr lang="en-US" sz="1200" dirty="0" smtClean="0"/>
              <a:t> </a:t>
            </a:r>
            <a:r>
              <a:rPr lang="en-US" sz="1200" dirty="0" err="1" smtClean="0"/>
              <a:t>hal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sama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170088" y="5810121"/>
            <a:ext cx="353823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/>
              <a:t>Kapan Dua Target Bisa Dipisahkan?</a:t>
            </a:r>
          </a:p>
          <a:p>
            <a:r>
              <a:rPr lang="sv-SE" sz="1200" dirty="0" smtClean="0"/>
              <a:t>Jika:</a:t>
            </a:r>
            <a:endParaRPr lang="sv-SE" sz="12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90" y="6150164"/>
            <a:ext cx="723900" cy="3048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679" y="6404171"/>
            <a:ext cx="33695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maka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menghasilkan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echo </a:t>
            </a:r>
            <a:r>
              <a:rPr lang="en-US" sz="1200" dirty="0" err="1" smtClean="0"/>
              <a:t>terpisah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4020029" y="3997338"/>
            <a:ext cx="4529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Jika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44" y="4093029"/>
            <a:ext cx="657225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027205" y="4323519"/>
            <a:ext cx="3530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smtClean="0"/>
              <a:t>maka radar hanya menghasilkan satu echo gabungan</a:t>
            </a:r>
            <a:r>
              <a:rPr lang="sv-SE" dirty="0" smtClean="0"/>
              <a:t>.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4064675" y="4632833"/>
            <a:ext cx="349272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Hubungan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dengan</a:t>
            </a:r>
            <a:r>
              <a:rPr lang="en-US" sz="1400" b="1" dirty="0" smtClean="0"/>
              <a:t> Pulse Length</a:t>
            </a:r>
          </a:p>
          <a:p>
            <a:r>
              <a:rPr lang="en-US" sz="1200" dirty="0" err="1" smtClean="0"/>
              <a:t>Resolusi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radar:</a:t>
            </a:r>
            <a:endParaRPr lang="en-US" sz="12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9057" y="5036430"/>
            <a:ext cx="762000" cy="3429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64675" y="5328996"/>
            <a:ext cx="34927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dimana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c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</a:t>
            </a:r>
          </a:p>
          <a:p>
            <a:r>
              <a:rPr lang="el-GR" sz="1200" dirty="0" smtClean="0"/>
              <a:t>τ = </a:t>
            </a:r>
            <a:r>
              <a:rPr lang="en-US" sz="1200" dirty="0" smtClean="0"/>
              <a:t>pulse length </a:t>
            </a:r>
          </a:p>
          <a:p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pendek</a:t>
            </a:r>
            <a:r>
              <a:rPr lang="en-US" sz="1200" dirty="0" smtClean="0"/>
              <a:t> pulse length: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l-GR" sz="1200" dirty="0" smtClean="0"/>
              <a:t>Δ</a:t>
            </a:r>
            <a:r>
              <a:rPr lang="en-US" sz="1200" dirty="0" smtClean="0"/>
              <a:t>r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Kemampuan</a:t>
            </a:r>
            <a:r>
              <a:rPr lang="en-US" sz="1200" dirty="0" smtClean="0"/>
              <a:t> </a:t>
            </a:r>
            <a:r>
              <a:rPr lang="en-US" sz="1200" dirty="0" err="1" smtClean="0"/>
              <a:t>memisahkan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 smtClean="0"/>
              <a:t>baik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7557402" y="3997338"/>
            <a:ext cx="437334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/>
              <a:t>Hubungannya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dengan</a:t>
            </a:r>
            <a:r>
              <a:rPr lang="en-US" sz="1600" b="1" dirty="0" smtClean="0"/>
              <a:t> Radar </a:t>
            </a:r>
            <a:r>
              <a:rPr lang="en-US" sz="1600" b="1" dirty="0" err="1" smtClean="0"/>
              <a:t>Cuaca</a:t>
            </a:r>
            <a:endParaRPr lang="en-US" sz="1600" b="1" dirty="0" smtClean="0"/>
          </a:p>
          <a:p>
            <a:r>
              <a:rPr lang="en-US" sz="1200" dirty="0" err="1" smtClean="0"/>
              <a:t>Dalam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Buruk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bergabung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sel</a:t>
            </a:r>
            <a:r>
              <a:rPr lang="en-US" sz="1200" dirty="0" smtClean="0"/>
              <a:t> </a:t>
            </a:r>
            <a:r>
              <a:rPr lang="en-US" sz="1200" dirty="0" err="1" smtClean="0"/>
              <a:t>hujan</a:t>
            </a:r>
            <a:r>
              <a:rPr lang="en-US" sz="1200" dirty="0" smtClean="0"/>
              <a:t> di </a:t>
            </a:r>
            <a:r>
              <a:rPr lang="en-US" sz="1200" dirty="0" err="1" smtClean="0"/>
              <a:t>dekatnya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Detail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hilang</a:t>
            </a:r>
            <a:r>
              <a:rPr lang="en-US" sz="1200" dirty="0" smtClean="0"/>
              <a:t>. </a:t>
            </a:r>
          </a:p>
          <a:p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Baik</a:t>
            </a:r>
            <a:endParaRPr lang="en-US" sz="1200" b="1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Inti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lebat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dipisahkan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jelas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, gust front, </a:t>
            </a:r>
            <a:r>
              <a:rPr lang="en-US" sz="1200" dirty="0" err="1" smtClean="0"/>
              <a:t>atau</a:t>
            </a:r>
            <a:r>
              <a:rPr lang="en-US" sz="1200" dirty="0" smtClean="0"/>
              <a:t> hook echo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9741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29" y="266700"/>
            <a:ext cx="7910713" cy="347798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Resolusi</a:t>
            </a:r>
            <a:r>
              <a:rPr lang="en-US" b="1" dirty="0" smtClean="0">
                <a:solidFill>
                  <a:srgbClr val="FF0000"/>
                </a:solidFill>
              </a:rPr>
              <a:t> Radar </a:t>
            </a:r>
            <a:r>
              <a:rPr lang="en-US" b="1" dirty="0" err="1" smtClean="0">
                <a:solidFill>
                  <a:srgbClr val="FF0000"/>
                </a:solidFill>
              </a:rPr>
              <a:t>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1113141"/>
            <a:ext cx="358140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pPr algn="just"/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bahwa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membedakan</a:t>
            </a:r>
            <a:r>
              <a:rPr lang="en-US" sz="1200" dirty="0" smtClean="0"/>
              <a:t> </a:t>
            </a:r>
            <a:r>
              <a:rPr lang="en-US" sz="1200" dirty="0" err="1" smtClean="0"/>
              <a:t>dua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antar</a:t>
            </a:r>
            <a:r>
              <a:rPr lang="en-US" sz="1200" dirty="0" smtClean="0"/>
              <a:t> target </a:t>
            </a:r>
            <a:r>
              <a:rPr lang="en-US" sz="1200" b="1" dirty="0" err="1" smtClean="0"/>
              <a:t>lebih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besar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resolusi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(</a:t>
            </a:r>
            <a:r>
              <a:rPr lang="el-GR" sz="1200" b="1" dirty="0" smtClean="0"/>
              <a:t>Δ</a:t>
            </a:r>
            <a:r>
              <a:rPr lang="en-US" sz="1200" b="1" dirty="0" smtClean="0"/>
              <a:t>r)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 smtClean="0"/>
              <a:t>Satu</a:t>
            </a:r>
            <a:r>
              <a:rPr lang="en-US" sz="1200" b="1" dirty="0" smtClean="0"/>
              <a:t> target</a:t>
            </a:r>
            <a:r>
              <a:rPr lang="en-US" sz="1200" dirty="0" smtClean="0"/>
              <a:t> → </a:t>
            </a:r>
            <a:r>
              <a:rPr lang="en-US" sz="1200" dirty="0" err="1" smtClean="0"/>
              <a:t>satu</a:t>
            </a:r>
            <a:r>
              <a:rPr lang="en-US" sz="1200" dirty="0" smtClean="0"/>
              <a:t> echo.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smtClean="0"/>
              <a:t>Area </a:t>
            </a:r>
            <a:r>
              <a:rPr lang="en-US" sz="1200" b="1" dirty="0" err="1" smtClean="0"/>
              <a:t>hujan</a:t>
            </a:r>
            <a:r>
              <a:rPr lang="en-US" sz="1200" dirty="0" smtClean="0"/>
              <a:t> → echo </a:t>
            </a:r>
            <a:r>
              <a:rPr lang="en-US" sz="1200" dirty="0" err="1" smtClean="0"/>
              <a:t>menyebar</a:t>
            </a:r>
            <a:r>
              <a:rPr lang="en-US" sz="1200" dirty="0" smtClean="0"/>
              <a:t> </a:t>
            </a:r>
            <a:r>
              <a:rPr lang="en-US" sz="1200" dirty="0" err="1" smtClean="0"/>
              <a:t>sepanjang</a:t>
            </a:r>
            <a:r>
              <a:rPr lang="en-US" sz="1200" dirty="0" smtClean="0"/>
              <a:t> area </a:t>
            </a:r>
            <a:r>
              <a:rPr lang="en-US" sz="1200" dirty="0" err="1" smtClean="0"/>
              <a:t>hujan</a:t>
            </a:r>
            <a:r>
              <a:rPr lang="en-US" sz="1200" dirty="0" smtClean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 smtClean="0"/>
              <a:t>Dua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jaraknya</a:t>
            </a:r>
            <a:r>
              <a:rPr lang="en-US" sz="1200" b="1" dirty="0" smtClean="0"/>
              <a:t> &lt; </a:t>
            </a:r>
            <a:r>
              <a:rPr lang="el-GR" sz="1200" b="1" dirty="0" smtClean="0"/>
              <a:t>Δ</a:t>
            </a:r>
            <a:r>
              <a:rPr lang="en-US" sz="1200" b="1" dirty="0" smtClean="0"/>
              <a:t>r</a:t>
            </a:r>
            <a:r>
              <a:rPr lang="en-US" sz="1200" dirty="0" smtClean="0"/>
              <a:t> →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echo </a:t>
            </a:r>
            <a:r>
              <a:rPr lang="en-US" sz="1200" dirty="0" err="1" smtClean="0"/>
              <a:t>bertumpuk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3820885" y="4113351"/>
            <a:ext cx="810985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err="1" smtClean="0"/>
              <a:t>Inilah</a:t>
            </a:r>
            <a:r>
              <a:rPr lang="en-US" dirty="0" smtClean="0"/>
              <a:t> </a:t>
            </a:r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 smtClean="0"/>
              <a:t>mengapa</a:t>
            </a:r>
            <a:r>
              <a:rPr lang="en-US" dirty="0" smtClean="0"/>
              <a:t> </a:t>
            </a:r>
            <a:r>
              <a:rPr lang="en-US" b="1" dirty="0" smtClean="0"/>
              <a:t>pulse length yang </a:t>
            </a:r>
            <a:r>
              <a:rPr lang="en-US" b="1" dirty="0" err="1" smtClean="0"/>
              <a:t>lebih</a:t>
            </a:r>
            <a:r>
              <a:rPr lang="en-US" b="1" dirty="0" smtClean="0"/>
              <a:t> </a:t>
            </a:r>
            <a:r>
              <a:rPr lang="en-US" b="1" dirty="0" err="1" smtClean="0"/>
              <a:t>pendek</a:t>
            </a:r>
            <a:r>
              <a:rPr lang="en-US" b="1" dirty="0" smtClean="0"/>
              <a:t> </a:t>
            </a:r>
            <a:r>
              <a:rPr lang="en-US" b="1" dirty="0" err="1" smtClean="0"/>
              <a:t>menghasilkan</a:t>
            </a:r>
            <a:r>
              <a:rPr lang="en-US" b="1" dirty="0" smtClean="0"/>
              <a:t> </a:t>
            </a:r>
            <a:r>
              <a:rPr lang="en-US" b="1" dirty="0" err="1" smtClean="0"/>
              <a:t>citra</a:t>
            </a:r>
            <a:r>
              <a:rPr lang="en-US" b="1" dirty="0" smtClean="0"/>
              <a:t> radar yang </a:t>
            </a:r>
            <a:r>
              <a:rPr lang="en-US" b="1" dirty="0" err="1" smtClean="0"/>
              <a:t>lebih</a:t>
            </a:r>
            <a:r>
              <a:rPr lang="en-US" b="1" dirty="0" smtClean="0"/>
              <a:t> detail</a:t>
            </a:r>
            <a:r>
              <a:rPr lang="en-US" dirty="0" smtClean="0"/>
              <a:t>,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l-GR" dirty="0" smtClean="0"/>
              <a:t>Δ</a:t>
            </a:r>
            <a:r>
              <a:rPr lang="en-US" dirty="0" smtClean="0"/>
              <a:t>r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kecil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radar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memisahkan</a:t>
            </a:r>
            <a:r>
              <a:rPr lang="en-US" dirty="0" smtClean="0"/>
              <a:t> target-target yang </a:t>
            </a:r>
            <a:r>
              <a:rPr lang="en-US" dirty="0" err="1" smtClean="0"/>
              <a:t>letaknya</a:t>
            </a:r>
            <a:r>
              <a:rPr lang="en-US" dirty="0" smtClean="0"/>
              <a:t> </a:t>
            </a:r>
            <a:r>
              <a:rPr lang="en-US" dirty="0" err="1" smtClean="0"/>
              <a:t>berdekatan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7" name="Elbow Connector 6"/>
          <p:cNvCxnSpPr>
            <a:endCxn id="5" idx="1"/>
          </p:cNvCxnSpPr>
          <p:nvPr/>
        </p:nvCxnSpPr>
        <p:spPr>
          <a:xfrm>
            <a:off x="1709057" y="3058886"/>
            <a:ext cx="2111828" cy="151613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88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8857" y="1882396"/>
            <a:ext cx="2775857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1. </a:t>
            </a:r>
            <a:r>
              <a:rPr lang="en-US" sz="1400" b="1" dirty="0" err="1" smtClean="0">
                <a:solidFill>
                  <a:srgbClr val="FF0000"/>
                </a:solidFill>
              </a:rPr>
              <a:t>Apa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itu</a:t>
            </a:r>
            <a:r>
              <a:rPr lang="en-US" sz="1400" b="1" dirty="0" smtClean="0">
                <a:solidFill>
                  <a:srgbClr val="FF0000"/>
                </a:solidFill>
              </a:rPr>
              <a:t> Unambiguous Range?</a:t>
            </a:r>
          </a:p>
          <a:p>
            <a:pPr algn="just"/>
            <a:r>
              <a:rPr lang="en-US" sz="1200" dirty="0" smtClean="0"/>
              <a:t>Unambiguous Range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b="1" dirty="0" err="1" smtClean="0"/>
              <a:t>jarak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maksimum</a:t>
            </a:r>
            <a:r>
              <a:rPr lang="en-US" sz="1200" b="1" dirty="0" smtClean="0"/>
              <a:t> yang </a:t>
            </a:r>
            <a:r>
              <a:rPr lang="en-US" sz="1200" b="1" dirty="0" err="1" smtClean="0"/>
              <a:t>dapat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diukur</a:t>
            </a:r>
            <a:r>
              <a:rPr lang="en-US" sz="1200" b="1" dirty="0" smtClean="0"/>
              <a:t> radar </a:t>
            </a:r>
            <a:r>
              <a:rPr lang="en-US" sz="1200" b="1" dirty="0" err="1" smtClean="0"/>
              <a:t>dengan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benar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tanpa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kebingungan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asal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pulsa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08857" y="2928836"/>
            <a:ext cx="8719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 smtClean="0"/>
              <a:t>Rumusnya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205835"/>
            <a:ext cx="1762125" cy="4286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1514" y="3574222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Keterangan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c</a:t>
            </a:r>
            <a:r>
              <a:rPr lang="en-US" sz="1200" dirty="0" smtClean="0"/>
              <a:t> = </a:t>
            </a:r>
            <a:r>
              <a:rPr lang="en-US" sz="1200" dirty="0" err="1" smtClean="0"/>
              <a:t>kecepatan</a:t>
            </a:r>
            <a:r>
              <a:rPr lang="en-US" sz="1200" dirty="0" smtClean="0"/>
              <a:t> </a:t>
            </a:r>
            <a:r>
              <a:rPr lang="en-US" sz="1200" dirty="0" err="1" smtClean="0"/>
              <a:t>cahaya</a:t>
            </a:r>
            <a:r>
              <a:rPr lang="en-US" sz="1200" dirty="0" smtClean="0"/>
              <a:t> </a:t>
            </a:r>
          </a:p>
          <a:p>
            <a:r>
              <a:rPr lang="en-US" sz="1200" b="1" dirty="0" smtClean="0"/>
              <a:t>PRT</a:t>
            </a:r>
            <a:r>
              <a:rPr lang="en-US" sz="1200" dirty="0" smtClean="0"/>
              <a:t> = Pulse Repetition Time </a:t>
            </a:r>
          </a:p>
          <a:p>
            <a:r>
              <a:rPr lang="en-US" sz="1200" b="1" dirty="0" smtClean="0"/>
              <a:t>PRF</a:t>
            </a:r>
            <a:r>
              <a:rPr lang="en-US" sz="1200" dirty="0" smtClean="0"/>
              <a:t> = Pulse Repetition Frequency 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141514" y="4405219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 smtClean="0"/>
              <a:t>Pada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gambar</a:t>
            </a:r>
            <a:r>
              <a:rPr lang="en-US" sz="1200" b="1" dirty="0" smtClean="0"/>
              <a:t> </a:t>
            </a:r>
            <a:r>
              <a:rPr lang="en-US" sz="1200" dirty="0" err="1" smtClean="0"/>
              <a:t>Garis</a:t>
            </a:r>
            <a:r>
              <a:rPr lang="en-US" sz="1200" dirty="0" smtClean="0"/>
              <a:t> </a:t>
            </a:r>
            <a:r>
              <a:rPr lang="en-US" sz="1200" dirty="0" err="1" smtClean="0"/>
              <a:t>bertuliskan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b="1" dirty="0" smtClean="0"/>
              <a:t>Unambiguous Range</a:t>
            </a:r>
            <a:endParaRPr lang="en-US" sz="1200" dirty="0" smtClean="0"/>
          </a:p>
          <a:p>
            <a:pPr algn="just"/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batas</a:t>
            </a:r>
            <a:r>
              <a:rPr lang="en-US" sz="1200" dirty="0" smtClean="0"/>
              <a:t> </a:t>
            </a:r>
            <a:r>
              <a:rPr lang="en-US" sz="1200" dirty="0" err="1" smtClean="0"/>
              <a:t>maksimum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diukur</a:t>
            </a:r>
            <a:r>
              <a:rPr lang="en-US" sz="1200" dirty="0" smtClean="0"/>
              <a:t> radar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benar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3951514" y="4682218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</a:t>
            </a:r>
            <a:r>
              <a:rPr lang="en-US" sz="1400" b="1" dirty="0" err="1" smtClean="0">
                <a:solidFill>
                  <a:srgbClr val="FF0000"/>
                </a:solidFill>
              </a:rPr>
              <a:t>Pulsa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Pertama</a:t>
            </a:r>
            <a:endParaRPr lang="en-US" sz="1400" b="1" dirty="0" smtClean="0">
              <a:solidFill>
                <a:srgbClr val="FF0000"/>
              </a:solidFill>
            </a:endParaRP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bagian</a:t>
            </a:r>
            <a:r>
              <a:rPr lang="en-US" sz="1200" dirty="0" smtClean="0"/>
              <a:t> </a:t>
            </a:r>
            <a:r>
              <a:rPr lang="en-US" sz="1200" dirty="0" err="1" smtClean="0"/>
              <a:t>atas</a:t>
            </a:r>
            <a:r>
              <a:rPr lang="en-US" sz="1200" dirty="0" smtClean="0"/>
              <a:t> </a:t>
            </a:r>
            <a:r>
              <a:rPr lang="en-US" sz="1200" dirty="0" err="1" smtClean="0"/>
              <a:t>gambar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 smtClean="0"/>
              <a:t>memancarkan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mengenai</a:t>
            </a:r>
            <a:r>
              <a:rPr lang="en-US" sz="1200" dirty="0" smtClean="0"/>
              <a:t> </a:t>
            </a:r>
            <a:r>
              <a:rPr lang="en-US" sz="1200" dirty="0" err="1" smtClean="0"/>
              <a:t>gedung</a:t>
            </a:r>
            <a:r>
              <a:rPr lang="en-US" sz="1200" dirty="0" smtClean="0"/>
              <a:t> yang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di </a:t>
            </a:r>
            <a:r>
              <a:rPr lang="en-US" sz="1200" dirty="0" err="1" smtClean="0"/>
              <a:t>dalam</a:t>
            </a:r>
            <a:r>
              <a:rPr lang="en-US" sz="1200" dirty="0" smtClean="0"/>
              <a:t> unambiguous range.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sebelum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Hasilnya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mengetahui</a:t>
            </a:r>
            <a:r>
              <a:rPr lang="en-US" sz="1200" dirty="0" smtClean="0"/>
              <a:t> </a:t>
            </a:r>
            <a:r>
              <a:rPr lang="en-US" sz="1200" dirty="0" err="1" smtClean="0"/>
              <a:t>posisi</a:t>
            </a:r>
            <a:r>
              <a:rPr lang="en-US" sz="1200" dirty="0" smtClean="0"/>
              <a:t> target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benar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grafik</a:t>
            </a:r>
            <a:r>
              <a:rPr lang="en-US" sz="1200" dirty="0" smtClean="0"/>
              <a:t>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terlihat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puncak</a:t>
            </a:r>
            <a:r>
              <a:rPr lang="en-US" sz="1200" dirty="0" smtClean="0"/>
              <a:t> echo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lokasi</a:t>
            </a:r>
            <a:r>
              <a:rPr lang="en-US" sz="1200" dirty="0" smtClean="0"/>
              <a:t> yang </a:t>
            </a:r>
            <a:r>
              <a:rPr lang="en-US" sz="1200" dirty="0" err="1" smtClean="0"/>
              <a:t>tepat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11" name="Elbow Connector 10"/>
          <p:cNvCxnSpPr/>
          <p:nvPr/>
        </p:nvCxnSpPr>
        <p:spPr>
          <a:xfrm rot="16200000" flipV="1">
            <a:off x="6591300" y="4490358"/>
            <a:ext cx="2808515" cy="51162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71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778758"/>
            <a:ext cx="34398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 smtClean="0">
                <a:solidFill>
                  <a:srgbClr val="FF0000"/>
                </a:solidFill>
              </a:rPr>
              <a:t>3. Target Jauh di Luar Unambiguous Range</a:t>
            </a:r>
          </a:p>
          <a:p>
            <a:pPr algn="just"/>
            <a:r>
              <a:rPr lang="sv-SE" sz="1200" dirty="0" smtClean="0"/>
              <a:t>Di sebelah kanan terdapat pegunungan (Mountains).</a:t>
            </a:r>
          </a:p>
          <a:p>
            <a:pPr algn="just"/>
            <a:r>
              <a:rPr lang="sv-SE" sz="1200" dirty="0" smtClean="0"/>
              <a:t>Pegunungan berada:</a:t>
            </a:r>
            <a:endParaRPr lang="sv-SE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40" y="3455866"/>
            <a:ext cx="866775" cy="3143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41514" y="3777948"/>
            <a:ext cx="305888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/>
              <a:t>Artinya</a:t>
            </a:r>
            <a:r>
              <a:rPr lang="en-US" sz="1200" dirty="0" smtClean="0"/>
              <a:t>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 radar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141514" y="5059306"/>
            <a:ext cx="117021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Apa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Terjadi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pegunungan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memerlukan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waktu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lama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kembali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Sebelum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tiba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sudah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mengirim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berikutnya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Akibatnya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salah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mengira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Echo yang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berasal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lama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dianggap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sebagai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baru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Inilah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Second Trip Echo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Multiple Trip Echo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413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1514" y="2416353"/>
            <a:ext cx="316774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4. </a:t>
            </a:r>
            <a:r>
              <a:rPr lang="en-US" sz="1400" b="1" dirty="0" err="1" smtClean="0">
                <a:solidFill>
                  <a:srgbClr val="FF0000"/>
                </a:solidFill>
              </a:rPr>
              <a:t>Mengapa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Disebut</a:t>
            </a:r>
            <a:r>
              <a:rPr lang="en-US" sz="1400" b="1" dirty="0" smtClean="0">
                <a:solidFill>
                  <a:srgbClr val="FF0000"/>
                </a:solidFill>
              </a:rPr>
              <a:t> Second Trip Echo?</a:t>
            </a:r>
          </a:p>
          <a:p>
            <a:r>
              <a:rPr lang="en-US" sz="1200" dirty="0" err="1" smtClean="0"/>
              <a:t>Urutannya</a:t>
            </a:r>
            <a:r>
              <a:rPr lang="en-US" sz="1200" dirty="0" smtClean="0"/>
              <a:t>:</a:t>
            </a:r>
          </a:p>
          <a:p>
            <a:r>
              <a:rPr lang="en-US" sz="1200" b="1" dirty="0" err="1" smtClean="0"/>
              <a:t>Pulsa</a:t>
            </a:r>
            <a:r>
              <a:rPr lang="en-US" sz="1200" b="1" dirty="0" smtClean="0"/>
              <a:t> 1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mencapai</a:t>
            </a:r>
            <a:r>
              <a:rPr lang="en-US" sz="1200" dirty="0" smtClean="0"/>
              <a:t> </a:t>
            </a:r>
            <a:r>
              <a:rPr lang="en-US" sz="1200" dirty="0" err="1" smtClean="0"/>
              <a:t>pegunungan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smtClean="0"/>
              <a:t>Echo </a:t>
            </a:r>
            <a:r>
              <a:rPr lang="en-US" sz="1200" dirty="0" err="1" smtClean="0"/>
              <a:t>belum</a:t>
            </a:r>
            <a:r>
              <a:rPr lang="en-US" sz="1200" dirty="0" smtClean="0"/>
              <a:t> </a:t>
            </a:r>
            <a:r>
              <a:rPr lang="en-US" sz="1200" dirty="0" err="1" smtClean="0"/>
              <a:t>sempat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41514" y="4050809"/>
            <a:ext cx="32983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Pulsa</a:t>
            </a:r>
            <a:r>
              <a:rPr lang="en-US" sz="1200" b="1" dirty="0" smtClean="0"/>
              <a:t> 2</a:t>
            </a:r>
          </a:p>
          <a:p>
            <a:r>
              <a:rPr lang="en-US" sz="1200" dirty="0" smtClean="0"/>
              <a:t>Radar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mengirim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kedua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↓</a:t>
            </a:r>
          </a:p>
          <a:p>
            <a:r>
              <a:rPr lang="en-US" sz="1200" dirty="0" err="1" smtClean="0"/>
              <a:t>Baru</a:t>
            </a:r>
            <a:r>
              <a:rPr lang="en-US" sz="1200" dirty="0" smtClean="0"/>
              <a:t> </a:t>
            </a:r>
            <a:r>
              <a:rPr lang="en-US" sz="1200" dirty="0" err="1" smtClean="0"/>
              <a:t>kemudian</a:t>
            </a:r>
            <a:r>
              <a:rPr lang="en-US" sz="1200" dirty="0" smtClean="0"/>
              <a:t> echo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pertama</a:t>
            </a:r>
            <a:r>
              <a:rPr lang="en-US" sz="1200" dirty="0" smtClean="0"/>
              <a:t> </a:t>
            </a:r>
            <a:r>
              <a:rPr lang="en-US" sz="1200" dirty="0" err="1" smtClean="0"/>
              <a:t>tiba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1514" y="4911967"/>
            <a:ext cx="372291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Radar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berpikir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:"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pantulan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kedua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Padahal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Pantulan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tersebut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berasal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pulsa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pertama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514" y="5582579"/>
            <a:ext cx="372291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5. </a:t>
            </a:r>
            <a:r>
              <a:rPr lang="en-US" sz="1400" b="1" dirty="0" err="1" smtClean="0">
                <a:solidFill>
                  <a:srgbClr val="FF0000"/>
                </a:solidFill>
              </a:rPr>
              <a:t>Akibatnya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pada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Tampilan</a:t>
            </a:r>
            <a:r>
              <a:rPr lang="en-US" sz="1400" b="1" dirty="0" smtClean="0">
                <a:solidFill>
                  <a:srgbClr val="FF0000"/>
                </a:solidFill>
              </a:rPr>
              <a:t> Radar</a:t>
            </a:r>
          </a:p>
          <a:p>
            <a:r>
              <a:rPr lang="en-US" sz="1200" dirty="0" smtClean="0"/>
              <a:t>Echo </a:t>
            </a:r>
            <a:r>
              <a:rPr lang="en-US" sz="1200" dirty="0" err="1" smtClean="0"/>
              <a:t>pegunungan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sekali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citra</a:t>
            </a:r>
            <a:r>
              <a:rPr lang="en-US" sz="1200" dirty="0" smtClean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Gunung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tampak</a:t>
            </a:r>
            <a:r>
              <a:rPr lang="en-US" sz="1200" dirty="0" smtClean="0"/>
              <a:t>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bisa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di </a:t>
            </a:r>
            <a:r>
              <a:rPr lang="en-US" sz="1200" dirty="0" err="1" smtClean="0"/>
              <a:t>lokasi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salah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125685" y="4736194"/>
            <a:ext cx="6323013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Posisi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Second Trip Echo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bagian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gambar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tertulis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Change of PRF → unambiguous range will change → second trip echo will change position in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Artinya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PRF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Unambiguous range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Lokasi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munculnya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second trip echo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juga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berubah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1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434068"/>
            <a:ext cx="9458325" cy="42481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514" y="1119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konsep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Unambiguous Range (</a:t>
            </a:r>
            <a:r>
              <a:rPr lang="en-US" b="1" dirty="0" err="1" smtClean="0">
                <a:solidFill>
                  <a:srgbClr val="FF0000"/>
                </a:solidFill>
              </a:rPr>
              <a:t>Jarak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Tak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Ambigu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Second Trip Echo (Echo </a:t>
            </a:r>
            <a:r>
              <a:rPr lang="en-US" b="1" dirty="0" err="1" smtClean="0">
                <a:solidFill>
                  <a:srgbClr val="FF0000"/>
                </a:solidFill>
              </a:rPr>
              <a:t>Pantulan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Kedua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pada</a:t>
            </a:r>
            <a:r>
              <a:rPr lang="en-US" dirty="0" smtClean="0"/>
              <a:t> radar </a:t>
            </a:r>
            <a:r>
              <a:rPr lang="en-US" dirty="0" err="1" smtClean="0"/>
              <a:t>cuaca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b="1" dirty="0" smtClean="0"/>
              <a:t>echo </a:t>
            </a:r>
            <a:r>
              <a:rPr lang="en-US" b="1" dirty="0" err="1" smtClean="0"/>
              <a:t>palsu</a:t>
            </a:r>
            <a:r>
              <a:rPr lang="en-US" b="1" dirty="0" smtClean="0"/>
              <a:t> (false echo)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radar.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1514" y="1865645"/>
            <a:ext cx="28194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solidFill>
                  <a:srgbClr val="FF0000"/>
                </a:solidFill>
              </a:rPr>
              <a:t>7. </a:t>
            </a:r>
            <a:r>
              <a:rPr lang="en-US" sz="1400" b="1" dirty="0" err="1" smtClean="0">
                <a:solidFill>
                  <a:srgbClr val="FF0000"/>
                </a:solidFill>
              </a:rPr>
              <a:t>Bagaimana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</a:rPr>
              <a:t>Mengenali</a:t>
            </a:r>
            <a:r>
              <a:rPr lang="en-US" sz="1400" b="1" dirty="0" smtClean="0">
                <a:solidFill>
                  <a:srgbClr val="FF0000"/>
                </a:solidFill>
              </a:rPr>
              <a:t> Second Trip Echo </a:t>
            </a:r>
            <a:r>
              <a:rPr lang="en-US" sz="1400" b="1" dirty="0" err="1" smtClean="0">
                <a:solidFill>
                  <a:srgbClr val="FF0000"/>
                </a:solidFill>
              </a:rPr>
              <a:t>pada</a:t>
            </a:r>
            <a:r>
              <a:rPr lang="en-US" sz="1400" b="1" dirty="0" smtClean="0">
                <a:solidFill>
                  <a:srgbClr val="FF0000"/>
                </a:solidFill>
              </a:rPr>
              <a:t> Radar </a:t>
            </a:r>
            <a:r>
              <a:rPr lang="en-US" sz="1400" b="1" dirty="0" err="1" smtClean="0">
                <a:solidFill>
                  <a:srgbClr val="FF0000"/>
                </a:solidFill>
              </a:rPr>
              <a:t>Cuaca</a:t>
            </a:r>
            <a:r>
              <a:rPr lang="en-US" sz="1400" b="1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sz="1200" dirty="0" err="1" smtClean="0"/>
              <a:t>Biasanya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area </a:t>
            </a:r>
            <a:r>
              <a:rPr lang="en-US" sz="1200" dirty="0" err="1" smtClean="0"/>
              <a:t>hujan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Posisinya</a:t>
            </a:r>
            <a:r>
              <a:rPr lang="en-US" sz="1200" dirty="0" smtClean="0"/>
              <a:t> </a:t>
            </a:r>
            <a:r>
              <a:rPr lang="en-US" sz="1200" dirty="0" err="1" smtClean="0"/>
              <a:t>berubah</a:t>
            </a:r>
            <a:r>
              <a:rPr lang="en-US" sz="1200" dirty="0" smtClean="0"/>
              <a:t>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PRF </a:t>
            </a:r>
            <a:r>
              <a:rPr lang="en-US" sz="1200" dirty="0" err="1" smtClean="0"/>
              <a:t>berubah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Sering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batas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radar.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konsisten</a:t>
            </a:r>
            <a:r>
              <a:rPr lang="en-US" sz="1200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citra</a:t>
            </a:r>
            <a:r>
              <a:rPr lang="en-US" sz="1200" dirty="0" smtClean="0"/>
              <a:t> </a:t>
            </a:r>
            <a:r>
              <a:rPr lang="en-US" sz="1200" dirty="0" err="1" smtClean="0"/>
              <a:t>satelit</a:t>
            </a:r>
            <a:r>
              <a:rPr lang="en-US" sz="1200" dirty="0" smtClean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 smtClean="0"/>
              <a:t>Tidak</a:t>
            </a:r>
            <a:r>
              <a:rPr lang="en-US" sz="1200" dirty="0" smtClean="0"/>
              <a:t> </a:t>
            </a:r>
            <a:r>
              <a:rPr lang="en-US" sz="1200" dirty="0" err="1" smtClean="0"/>
              <a:t>bergerak</a:t>
            </a:r>
            <a:r>
              <a:rPr lang="en-US" sz="1200" dirty="0" smtClean="0"/>
              <a:t> </a:t>
            </a:r>
            <a:r>
              <a:rPr lang="en-US" sz="1200" dirty="0" err="1" smtClean="0"/>
              <a:t>seperti</a:t>
            </a:r>
            <a:r>
              <a:rPr lang="en-US" sz="1200" dirty="0" smtClean="0"/>
              <a:t> </a:t>
            </a:r>
            <a:r>
              <a:rPr lang="en-US" sz="1200" dirty="0" err="1" smtClean="0"/>
              <a:t>sistem</a:t>
            </a:r>
            <a:r>
              <a:rPr lang="en-US" sz="1200" dirty="0" smtClean="0"/>
              <a:t>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141514" y="4127137"/>
            <a:ext cx="4953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/>
              <a:t>Contoh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pada</a:t>
            </a:r>
            <a:r>
              <a:rPr lang="en-US" sz="1400" b="1" dirty="0" smtClean="0"/>
              <a:t> Radar </a:t>
            </a:r>
            <a:r>
              <a:rPr lang="en-US" sz="1400" b="1" dirty="0" err="1" smtClean="0"/>
              <a:t>Cuaca</a:t>
            </a:r>
            <a:endParaRPr lang="en-US" sz="1400" b="1" dirty="0" smtClean="0"/>
          </a:p>
          <a:p>
            <a:r>
              <a:rPr lang="en-US" sz="1200" dirty="0" err="1" smtClean="0"/>
              <a:t>Misalnya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memiliki</a:t>
            </a:r>
            <a:r>
              <a:rPr lang="en-US" sz="1200" dirty="0" smtClean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PRF = 500 Hz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smtClean="0"/>
              <a:t>Unambiguous range ≈ 300 km </a:t>
            </a:r>
          </a:p>
          <a:p>
            <a:pPr algn="just"/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sangat</a:t>
            </a:r>
            <a:r>
              <a:rPr lang="en-US" sz="1200" dirty="0" smtClean="0"/>
              <a:t> </a:t>
            </a:r>
            <a:r>
              <a:rPr lang="en-US" sz="1200" dirty="0" err="1" smtClean="0"/>
              <a:t>kuat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350 km:</a:t>
            </a:r>
          </a:p>
          <a:p>
            <a:pPr algn="just"/>
            <a:r>
              <a:rPr lang="en-US" sz="1200" dirty="0" smtClean="0"/>
              <a:t>Echo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setelah</a:t>
            </a:r>
            <a:r>
              <a:rPr lang="en-US" sz="1200" dirty="0" smtClean="0"/>
              <a:t> </a:t>
            </a:r>
            <a:r>
              <a:rPr lang="en-US" sz="1200" dirty="0" err="1" smtClean="0"/>
              <a:t>pulsa</a:t>
            </a:r>
            <a:r>
              <a:rPr lang="en-US" sz="1200" dirty="0" smtClean="0"/>
              <a:t> </a:t>
            </a:r>
            <a:r>
              <a:rPr lang="en-US" sz="1200" dirty="0" err="1" smtClean="0"/>
              <a:t>berikutnya</a:t>
            </a:r>
            <a:r>
              <a:rPr lang="en-US" sz="1200" dirty="0" smtClean="0"/>
              <a:t> </a:t>
            </a:r>
            <a:r>
              <a:rPr lang="en-US" sz="1200" dirty="0" err="1" smtClean="0"/>
              <a:t>dipancarkan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 err="1" smtClean="0"/>
              <a:t>Akibatnya</a:t>
            </a:r>
            <a:r>
              <a:rPr lang="en-US" sz="1200" dirty="0" smtClean="0"/>
              <a:t>:</a:t>
            </a:r>
          </a:p>
          <a:p>
            <a:pPr algn="just"/>
            <a:r>
              <a:rPr lang="en-US" sz="1200" dirty="0" err="1" smtClean="0"/>
              <a:t>Badai</a:t>
            </a:r>
            <a:r>
              <a:rPr lang="en-US" sz="1200" dirty="0" smtClean="0"/>
              <a:t> 350 km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secara</a:t>
            </a:r>
            <a:r>
              <a:rPr lang="en-US" sz="1200" dirty="0" smtClean="0"/>
              <a:t> </a:t>
            </a:r>
            <a:r>
              <a:rPr lang="en-US" sz="1200" dirty="0" err="1" smtClean="0"/>
              <a:t>palsu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50 km </a:t>
            </a:r>
            <a:r>
              <a:rPr lang="en-US" sz="1200" dirty="0" err="1" smtClean="0"/>
              <a:t>dari</a:t>
            </a:r>
            <a:r>
              <a:rPr lang="en-US" sz="1200" dirty="0" smtClean="0"/>
              <a:t> radar.</a:t>
            </a:r>
          </a:p>
          <a:p>
            <a:pPr algn="just"/>
            <a:r>
              <a:rPr lang="en-US" sz="1200" dirty="0" err="1" smtClean="0"/>
              <a:t>Padahal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badai</a:t>
            </a:r>
            <a:r>
              <a:rPr lang="en-US" sz="1200" dirty="0" smtClean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 di </a:t>
            </a:r>
            <a:r>
              <a:rPr lang="en-US" sz="1200" dirty="0" err="1" smtClean="0"/>
              <a:t>luar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5094514" y="4687786"/>
            <a:ext cx="6096000" cy="19697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US" sz="1400" b="1" dirty="0" err="1" smtClean="0"/>
              <a:t>Kesimpulan</a:t>
            </a:r>
            <a:endParaRPr lang="en-US" sz="1400" b="1" dirty="0" smtClean="0"/>
          </a:p>
          <a:p>
            <a:r>
              <a:rPr lang="en-US" sz="1200" dirty="0" err="1" smtClean="0"/>
              <a:t>Gambar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menunjukkan</a:t>
            </a:r>
            <a:r>
              <a:rPr lang="en-US" sz="1200" dirty="0" smtClean="0"/>
              <a:t> </a:t>
            </a:r>
            <a:r>
              <a:rPr lang="en-US" sz="1200" dirty="0" err="1" smtClean="0"/>
              <a:t>bagaimana</a:t>
            </a:r>
            <a:r>
              <a:rPr lang="en-US" sz="1200" dirty="0" smtClean="0"/>
              <a:t> </a:t>
            </a:r>
            <a:r>
              <a:rPr lang="en-US" sz="1200" b="1" dirty="0" smtClean="0"/>
              <a:t>echo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target yang </a:t>
            </a:r>
            <a:r>
              <a:rPr lang="en-US" sz="1200" b="1" dirty="0" err="1" smtClean="0"/>
              <a:t>berada</a:t>
            </a:r>
            <a:r>
              <a:rPr lang="en-US" sz="1200" b="1" dirty="0" smtClean="0"/>
              <a:t> di </a:t>
            </a:r>
            <a:r>
              <a:rPr lang="en-US" sz="1200" b="1" dirty="0" err="1" smtClean="0"/>
              <a:t>luar</a:t>
            </a:r>
            <a:r>
              <a:rPr lang="en-US" sz="1200" b="1" dirty="0" smtClean="0"/>
              <a:t> Unambiguous Range</a:t>
            </a:r>
            <a:r>
              <a:rPr lang="en-US" sz="1200" dirty="0" smtClean="0"/>
              <a:t> </a:t>
            </a:r>
            <a:r>
              <a:rPr lang="en-US" sz="1200" dirty="0" err="1" smtClean="0"/>
              <a:t>dapat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 </a:t>
            </a:r>
            <a:r>
              <a:rPr lang="en-US" sz="1200" dirty="0" err="1" smtClean="0"/>
              <a:t>terlambat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salah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ditempatkan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oleh</a:t>
            </a:r>
            <a:r>
              <a:rPr lang="en-US" sz="1200" b="1" dirty="0" smtClean="0"/>
              <a:t> radar</a:t>
            </a:r>
            <a:r>
              <a:rPr lang="en-US" sz="1200" dirty="0" smtClean="0"/>
              <a:t>.</a:t>
            </a:r>
          </a:p>
          <a:p>
            <a:r>
              <a:rPr lang="en-US" sz="1200" dirty="0" err="1" smtClean="0"/>
              <a:t>Fenomena</a:t>
            </a:r>
            <a:r>
              <a:rPr lang="en-US" sz="1200" dirty="0" smtClean="0"/>
              <a:t>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:</a:t>
            </a:r>
          </a:p>
          <a:p>
            <a:r>
              <a:rPr lang="en-US" sz="1200" b="1" dirty="0" smtClean="0"/>
              <a:t>Second Trip Echo (Echo </a:t>
            </a:r>
            <a:r>
              <a:rPr lang="en-US" sz="1200" b="1" dirty="0" err="1" smtClean="0"/>
              <a:t>Pantulan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Kedua</a:t>
            </a:r>
            <a:r>
              <a:rPr lang="en-US" sz="1200" b="1" dirty="0" smtClean="0"/>
              <a:t>)</a:t>
            </a:r>
            <a:endParaRPr lang="en-US" sz="1200" dirty="0" smtClean="0"/>
          </a:p>
          <a:p>
            <a:r>
              <a:rPr lang="en-US" sz="1200" dirty="0" err="1" smtClean="0"/>
              <a:t>Ciri</a:t>
            </a:r>
            <a:r>
              <a:rPr lang="en-US" sz="1200" dirty="0" smtClean="0"/>
              <a:t> </a:t>
            </a:r>
            <a:r>
              <a:rPr lang="en-US" sz="1200" dirty="0" err="1" smtClean="0"/>
              <a:t>utamanya</a:t>
            </a:r>
            <a:r>
              <a:rPr lang="en-US" sz="1200" dirty="0" smtClean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Disebabkan</a:t>
            </a:r>
            <a:r>
              <a:rPr lang="en-US" sz="1200" dirty="0" smtClean="0"/>
              <a:t> </a:t>
            </a:r>
            <a:r>
              <a:rPr lang="en-US" sz="1200" dirty="0" err="1" smtClean="0"/>
              <a:t>oleh</a:t>
            </a:r>
            <a:r>
              <a:rPr lang="en-US" sz="1200" dirty="0" smtClean="0"/>
              <a:t> PRF yang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tinggi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target yang </a:t>
            </a:r>
            <a:r>
              <a:rPr lang="en-US" sz="1200" dirty="0" err="1" smtClean="0"/>
              <a:t>terlalu</a:t>
            </a:r>
            <a:r>
              <a:rPr lang="en-US" sz="1200" dirty="0" smtClean="0"/>
              <a:t> </a:t>
            </a:r>
            <a:r>
              <a:rPr lang="en-US" sz="1200" dirty="0" err="1" smtClean="0"/>
              <a:t>jauh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Target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 </a:t>
            </a:r>
            <a:r>
              <a:rPr lang="en-US" sz="1200" dirty="0" err="1" smtClean="0"/>
              <a:t>berada</a:t>
            </a:r>
            <a:r>
              <a:rPr lang="en-US" sz="1200" dirty="0" smtClean="0"/>
              <a:t> di </a:t>
            </a:r>
            <a:r>
              <a:rPr lang="en-US" sz="1200" dirty="0" err="1" smtClean="0"/>
              <a:t>luar</a:t>
            </a:r>
            <a:r>
              <a:rPr lang="en-US" sz="1200" dirty="0" smtClean="0"/>
              <a:t> </a:t>
            </a:r>
            <a:r>
              <a:rPr lang="en-US" sz="1200" dirty="0" err="1" smtClean="0"/>
              <a:t>jangkauan</a:t>
            </a:r>
            <a:r>
              <a:rPr lang="en-US" sz="1200" dirty="0" smtClean="0"/>
              <a:t> </a:t>
            </a:r>
            <a:r>
              <a:rPr lang="en-US" sz="1200" dirty="0" err="1" smtClean="0"/>
              <a:t>tak</a:t>
            </a:r>
            <a:r>
              <a:rPr lang="en-US" sz="1200" dirty="0" smtClean="0"/>
              <a:t> </a:t>
            </a:r>
            <a:r>
              <a:rPr lang="en-US" sz="1200" dirty="0" err="1" smtClean="0"/>
              <a:t>ambigu</a:t>
            </a:r>
            <a:r>
              <a:rPr lang="en-US" sz="1200" dirty="0" smtClean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Echo </a:t>
            </a:r>
            <a:r>
              <a:rPr lang="en-US" sz="1200" dirty="0" err="1" smtClean="0"/>
              <a:t>muncul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 smtClean="0"/>
              <a:t>jarak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salah</a:t>
            </a:r>
            <a:r>
              <a:rPr lang="en-US" sz="1200" dirty="0" smtClean="0"/>
              <a:t> (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dekat</a:t>
            </a:r>
            <a:r>
              <a:rPr lang="en-US" sz="1200" dirty="0" smtClean="0"/>
              <a:t>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posisi</a:t>
            </a:r>
            <a:r>
              <a:rPr lang="en-US" sz="1200" dirty="0" smtClean="0"/>
              <a:t> </a:t>
            </a:r>
            <a:r>
              <a:rPr lang="en-US" sz="1200" dirty="0" err="1" smtClean="0"/>
              <a:t>sebenarnya</a:t>
            </a:r>
            <a:r>
              <a:rPr lang="en-US" sz="1200" dirty="0" smtClean="0"/>
              <a:t>).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Merupakan</a:t>
            </a:r>
            <a:r>
              <a:rPr lang="en-US" sz="1200" dirty="0" smtClean="0"/>
              <a:t> </a:t>
            </a:r>
            <a:r>
              <a:rPr lang="en-US" sz="1200" dirty="0" err="1" smtClean="0"/>
              <a:t>salah</a:t>
            </a:r>
            <a:r>
              <a:rPr lang="en-US" sz="1200" dirty="0" smtClean="0"/>
              <a:t> </a:t>
            </a:r>
            <a:r>
              <a:rPr lang="en-US" sz="1200" dirty="0" err="1" smtClean="0"/>
              <a:t>satu</a:t>
            </a:r>
            <a:r>
              <a:rPr lang="en-US" sz="1200" dirty="0" smtClean="0"/>
              <a:t> </a:t>
            </a:r>
            <a:r>
              <a:rPr lang="en-US" sz="1200" dirty="0" err="1" smtClean="0"/>
              <a:t>bentuk</a:t>
            </a:r>
            <a:r>
              <a:rPr lang="en-US" sz="1200" dirty="0" smtClean="0"/>
              <a:t> </a:t>
            </a:r>
            <a:r>
              <a:rPr lang="en-US" sz="1200" dirty="0" err="1" smtClean="0"/>
              <a:t>artefak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echo </a:t>
            </a:r>
            <a:r>
              <a:rPr lang="en-US" sz="1200" dirty="0" err="1" smtClean="0"/>
              <a:t>palsu</a:t>
            </a:r>
            <a:r>
              <a:rPr lang="en-US" sz="1200" dirty="0" smtClean="0"/>
              <a:t> </a:t>
            </a:r>
            <a:r>
              <a:rPr lang="en-US" sz="1200" dirty="0" err="1" smtClean="0"/>
              <a:t>pada</a:t>
            </a:r>
            <a:r>
              <a:rPr lang="en-US" sz="1200" dirty="0" smtClean="0"/>
              <a:t> radar </a:t>
            </a:r>
            <a:r>
              <a:rPr lang="en-US" sz="1200" dirty="0" err="1" smtClean="0"/>
              <a:t>cuaca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353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25" y="217033"/>
            <a:ext cx="7254862" cy="24390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45066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b="1" dirty="0" err="1"/>
              <a:t>pola</a:t>
            </a:r>
            <a:r>
              <a:rPr lang="en-US" sz="1200" b="1" dirty="0"/>
              <a:t> </a:t>
            </a:r>
            <a:r>
              <a:rPr lang="en-US" sz="1200" b="1" dirty="0" err="1"/>
              <a:t>pancaran</a:t>
            </a:r>
            <a:r>
              <a:rPr lang="en-US" sz="1200" b="1" dirty="0"/>
              <a:t> </a:t>
            </a:r>
            <a:r>
              <a:rPr lang="en-US" sz="1200" b="1" dirty="0" err="1"/>
              <a:t>antena</a:t>
            </a:r>
            <a:r>
              <a:rPr lang="en-US" sz="1200" b="1" dirty="0"/>
              <a:t> radar (antenna radiation pattern)</a:t>
            </a:r>
            <a:r>
              <a:rPr lang="en-US" sz="1200" dirty="0"/>
              <a:t>, </a:t>
            </a:r>
            <a:r>
              <a:rPr lang="en-US" sz="1200" dirty="0" err="1"/>
              <a:t>khususnya</a:t>
            </a:r>
            <a:r>
              <a:rPr lang="en-US" sz="1200" dirty="0"/>
              <a:t> </a:t>
            </a:r>
            <a:r>
              <a:rPr lang="en-US" sz="1200" dirty="0" err="1"/>
              <a:t>perbedaan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b="1" dirty="0"/>
              <a:t>main lobe (</a:t>
            </a:r>
            <a:r>
              <a:rPr lang="en-US" sz="1200" b="1" dirty="0" err="1"/>
              <a:t>lobus</a:t>
            </a:r>
            <a:r>
              <a:rPr lang="en-US" sz="1200" b="1" dirty="0"/>
              <a:t> </a:t>
            </a:r>
            <a:r>
              <a:rPr lang="en-US" sz="1200" b="1" dirty="0" err="1"/>
              <a:t>utama</a:t>
            </a:r>
            <a:r>
              <a:rPr lang="en-US" sz="1200" b="1" dirty="0"/>
              <a:t>)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b="1" dirty="0"/>
              <a:t>side lobes (</a:t>
            </a:r>
            <a:r>
              <a:rPr lang="en-US" sz="1200" b="1" dirty="0" err="1"/>
              <a:t>lobus</a:t>
            </a:r>
            <a:r>
              <a:rPr lang="en-US" sz="1200" b="1" dirty="0"/>
              <a:t> </a:t>
            </a:r>
            <a:r>
              <a:rPr lang="en-US" sz="1200" b="1" dirty="0" err="1"/>
              <a:t>samping</a:t>
            </a:r>
            <a:r>
              <a:rPr lang="en-US" sz="1200" b="1" dirty="0"/>
              <a:t>)</a:t>
            </a:r>
            <a:r>
              <a:rPr lang="en-US" sz="12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1224017"/>
            <a:ext cx="450668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/>
              <a:t>Gambar</a:t>
            </a:r>
            <a:r>
              <a:rPr lang="en-US" sz="1200" b="1" dirty="0"/>
              <a:t> </a:t>
            </a:r>
            <a:r>
              <a:rPr lang="en-US" sz="1200" b="1" dirty="0" err="1"/>
              <a:t>Utama</a:t>
            </a:r>
            <a:endParaRPr lang="en-US" sz="1200" b="1" dirty="0"/>
          </a:p>
          <a:p>
            <a:pPr algn="just"/>
            <a:r>
              <a:rPr lang="en-US" sz="1200" dirty="0"/>
              <a:t>Di </a:t>
            </a:r>
            <a:r>
              <a:rPr lang="en-US" sz="1200" dirty="0" err="1"/>
              <a:t>sisi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 </a:t>
            </a:r>
            <a:r>
              <a:rPr lang="en-US" sz="1200" dirty="0" err="1"/>
              <a:t>ilustrasi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/>
              <a:t>Isotropic Radiator</a:t>
            </a:r>
            <a:r>
              <a:rPr lang="en-US" sz="1200" dirty="0"/>
              <a:t> (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merah</a:t>
            </a:r>
            <a:r>
              <a:rPr lang="en-US" sz="1200" dirty="0"/>
              <a:t>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tandai</a:t>
            </a:r>
            <a:r>
              <a:rPr lang="en-US" sz="1200" dirty="0"/>
              <a:t>)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teoritis</a:t>
            </a:r>
            <a:r>
              <a:rPr lang="en-US" sz="1200" dirty="0"/>
              <a:t> yang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segala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merata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Bentuknya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penuh</a:t>
            </a:r>
            <a:r>
              <a:rPr lang="en-US" sz="1200" dirty="0"/>
              <a:t>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tersebar</a:t>
            </a:r>
            <a:r>
              <a:rPr lang="en-US" sz="1200" dirty="0"/>
              <a:t> 360°. 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b="1" dirty="0"/>
              <a:t>Radar Antenna</a:t>
            </a:r>
            <a:r>
              <a:rPr lang="en-US" sz="1200" dirty="0"/>
              <a:t>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radar parabola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berkas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(beam)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Berkas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</a:t>
            </a:r>
            <a:r>
              <a:rPr lang="en-US" sz="1200" dirty="0" err="1"/>
              <a:t>berwarna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disebut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 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dipusatkan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</a:t>
            </a:r>
            <a:r>
              <a:rPr lang="en-US" sz="1200" dirty="0" err="1"/>
              <a:t>diperoleh</a:t>
            </a:r>
            <a:r>
              <a:rPr lang="en-US" sz="1200" dirty="0"/>
              <a:t> </a:t>
            </a:r>
            <a:r>
              <a:rPr lang="en-US" sz="1200" b="1" dirty="0"/>
              <a:t>gain</a:t>
            </a:r>
            <a:r>
              <a:rPr lang="en-US" sz="1200" dirty="0"/>
              <a:t> (</a:t>
            </a:r>
            <a:r>
              <a:rPr lang="en-US" sz="1200" dirty="0" err="1"/>
              <a:t>penguatan</a:t>
            </a:r>
            <a:r>
              <a:rPr lang="en-US" sz="1200" dirty="0"/>
              <a:t>) yang </a:t>
            </a:r>
            <a:r>
              <a:rPr lang="en-US" sz="1200" dirty="0" err="1"/>
              <a:t>besar</a:t>
            </a:r>
            <a:r>
              <a:rPr lang="en-US" sz="12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285" y="3717007"/>
            <a:ext cx="45066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Lingkaran</a:t>
            </a:r>
            <a:r>
              <a:rPr lang="en-US" sz="1200" b="1" dirty="0"/>
              <a:t> </a:t>
            </a:r>
            <a:r>
              <a:rPr lang="en-US" sz="1200" b="1" dirty="0" err="1"/>
              <a:t>Merah</a:t>
            </a:r>
            <a:r>
              <a:rPr lang="en-US" sz="1200" b="1" dirty="0"/>
              <a:t> yang </a:t>
            </a:r>
            <a:r>
              <a:rPr lang="en-US" sz="1200" b="1" dirty="0" err="1"/>
              <a:t>Anda</a:t>
            </a:r>
            <a:r>
              <a:rPr lang="en-US" sz="1200" b="1" dirty="0"/>
              <a:t> </a:t>
            </a:r>
            <a:r>
              <a:rPr lang="en-US" sz="1200" b="1" dirty="0" err="1"/>
              <a:t>Tandai</a:t>
            </a:r>
            <a:endParaRPr lang="en-US" sz="1200" b="1" dirty="0"/>
          </a:p>
          <a:p>
            <a:pPr algn="just"/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bergerigi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/>
              <a:t>side </a:t>
            </a:r>
            <a:r>
              <a:rPr lang="en-US" sz="1200" b="1" dirty="0" err="1" smtClean="0"/>
              <a:t>lobes</a:t>
            </a:r>
            <a:r>
              <a:rPr lang="en-US" sz="1200" dirty="0" err="1" smtClean="0"/>
              <a:t>.Meskipun</a:t>
            </a:r>
            <a:r>
              <a:rPr lang="en-US" sz="1200" dirty="0" smtClean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 </a:t>
            </a:r>
            <a:r>
              <a:rPr lang="en-US" sz="1200" dirty="0" err="1"/>
              <a:t>berusaha</a:t>
            </a:r>
            <a:r>
              <a:rPr lang="en-US" sz="1200" dirty="0"/>
              <a:t>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depan</a:t>
            </a:r>
            <a:r>
              <a:rPr lang="en-US" sz="1200" dirty="0"/>
              <a:t>, </a:t>
            </a:r>
            <a:r>
              <a:rPr lang="en-US" sz="1200" dirty="0" err="1"/>
              <a:t>kenyataannya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mungkin</a:t>
            </a:r>
            <a:r>
              <a:rPr lang="en-US" sz="1200" dirty="0"/>
              <a:t> 100% </a:t>
            </a:r>
            <a:r>
              <a:rPr lang="en-US" sz="1200" dirty="0" err="1" smtClean="0"/>
              <a:t>sempurna</a:t>
            </a:r>
            <a:r>
              <a:rPr lang="en-US" sz="1200" dirty="0"/>
              <a:t> </a:t>
            </a:r>
            <a:r>
              <a:rPr lang="en-US" sz="1200" dirty="0" smtClean="0"/>
              <a:t>yang </a:t>
            </a:r>
            <a:r>
              <a:rPr lang="en-US" sz="1200" dirty="0" err="1" smtClean="0"/>
              <a:t>disebabkan</a:t>
            </a:r>
            <a:r>
              <a:rPr lang="en-US" sz="1200" dirty="0" smtClean="0"/>
              <a:t> </a:t>
            </a: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/>
              <a:t>adanya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Difraksi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tepi</a:t>
            </a:r>
            <a:r>
              <a:rPr lang="en-US" sz="1200" dirty="0"/>
              <a:t> </a:t>
            </a:r>
            <a:r>
              <a:rPr lang="en-US" sz="1200" dirty="0" err="1"/>
              <a:t>reflektor</a:t>
            </a:r>
            <a:r>
              <a:rPr lang="en-US" sz="1200" dirty="0"/>
              <a:t> parabola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Ketidaksempurnaan</a:t>
            </a:r>
            <a:r>
              <a:rPr lang="en-US" sz="1200" dirty="0"/>
              <a:t> </a:t>
            </a:r>
            <a:r>
              <a:rPr lang="en-US" sz="1200" dirty="0" err="1"/>
              <a:t>desain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feed horn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bocor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lain </a:t>
            </a:r>
            <a:r>
              <a:rPr lang="en-US" sz="1200" dirty="0" err="1"/>
              <a:t>membentuk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Garis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/>
              <a:t>panjang</a:t>
            </a:r>
            <a:r>
              <a:rPr lang="en-US" sz="1200" dirty="0"/>
              <a:t> → </a:t>
            </a:r>
            <a:r>
              <a:rPr lang="en-US" sz="1200" b="1" dirty="0"/>
              <a:t>Main Lobe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bergerigi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→ </a:t>
            </a:r>
            <a:r>
              <a:rPr lang="en-US" sz="1200" b="1" dirty="0"/>
              <a:t>Side Lobes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5416555" y="2842736"/>
            <a:ext cx="64379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Persentase</a:t>
            </a:r>
            <a:r>
              <a:rPr lang="en-US" sz="1200" b="1" dirty="0"/>
              <a:t> </a:t>
            </a:r>
            <a:r>
              <a:rPr lang="en-US" sz="1200" b="1" dirty="0" err="1"/>
              <a:t>Energi</a:t>
            </a:r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 smtClean="0"/>
              <a:t>Sekitar</a:t>
            </a:r>
            <a:r>
              <a:rPr lang="en-US" sz="1200" dirty="0" smtClean="0"/>
              <a:t> </a:t>
            </a:r>
            <a:r>
              <a:rPr lang="en-US" sz="1200" b="1" dirty="0"/>
              <a:t>98% </a:t>
            </a:r>
            <a:r>
              <a:rPr lang="en-US" sz="1200" b="1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Main Lobe.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b="1" dirty="0"/>
              <a:t>2% </a:t>
            </a:r>
            <a:r>
              <a:rPr lang="en-US" sz="1200" b="1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Side Lobes. </a:t>
            </a:r>
          </a:p>
          <a:p>
            <a:r>
              <a:rPr lang="en-US" sz="1200" dirty="0" err="1"/>
              <a:t>Jadi</a:t>
            </a:r>
            <a:r>
              <a:rPr lang="en-US" sz="1200" dirty="0"/>
              <a:t> </a:t>
            </a:r>
            <a:r>
              <a:rPr lang="en-US" sz="1200" dirty="0" err="1"/>
              <a:t>walaupun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, side lobe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6555" y="3717007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 err="1"/>
              <a:t>Dampak</a:t>
            </a:r>
            <a:r>
              <a:rPr lang="en-US" b="1" dirty="0"/>
              <a:t> Side Lobe </a:t>
            </a:r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endParaRPr lang="en-US" b="1" dirty="0"/>
          </a:p>
          <a:p>
            <a:pPr algn="just"/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Radar S-Band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gunakan</a:t>
            </a:r>
            <a:r>
              <a:rPr lang="en-US" sz="1200" dirty="0"/>
              <a:t>), side lobe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menyebabkan</a:t>
            </a:r>
            <a:r>
              <a:rPr lang="en-US" sz="1200" dirty="0"/>
              <a:t>:</a:t>
            </a:r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1. Ground Clutter</a:t>
            </a:r>
          </a:p>
          <a:p>
            <a:pPr algn="just"/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Gunung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Bukit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Gedung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Menara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/>
              <a:t>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luar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Akibatnya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echo </a:t>
            </a:r>
            <a:r>
              <a:rPr lang="en-US" sz="1200" dirty="0" err="1"/>
              <a:t>palsu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409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25" y="217033"/>
            <a:ext cx="7254862" cy="24390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4506686" cy="677108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pola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pancaran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(antenna radiation pattern)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khususnya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perbedaan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main lobe (</a:t>
            </a:r>
            <a:r>
              <a:rPr lang="en-US" sz="1200" b="1" dirty="0" err="1">
                <a:solidFill>
                  <a:schemeClr val="bg1"/>
                </a:solidFill>
              </a:rPr>
              <a:t>lobus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utama</a:t>
            </a:r>
            <a:r>
              <a:rPr lang="en-US" sz="1200" b="1" dirty="0">
                <a:solidFill>
                  <a:schemeClr val="bg1"/>
                </a:solidFill>
              </a:rPr>
              <a:t>)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side lobes (</a:t>
            </a:r>
            <a:r>
              <a:rPr lang="en-US" sz="1200" b="1" dirty="0" err="1">
                <a:solidFill>
                  <a:schemeClr val="bg1"/>
                </a:solidFill>
              </a:rPr>
              <a:t>lobus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samping</a:t>
            </a:r>
            <a:r>
              <a:rPr lang="en-US" sz="1200" b="1" dirty="0">
                <a:solidFill>
                  <a:schemeClr val="bg1"/>
                </a:solidFill>
              </a:rPr>
              <a:t>)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285" y="1455786"/>
            <a:ext cx="450668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Side Lobe Echo</a:t>
            </a:r>
          </a:p>
          <a:p>
            <a:pPr algn="just"/>
            <a:r>
              <a:rPr lang="en-US" sz="1200" dirty="0"/>
              <a:t>Awan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tertangkap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side lobe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nyata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Area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Artefak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endParaRPr lang="en-US" sz="1200" dirty="0" smtClean="0"/>
          </a:p>
          <a:p>
            <a:pPr marL="171450" indent="-171450" algn="just">
              <a:buFont typeface="Wingdings" panose="05000000000000000000" pitchFamily="2" charset="2"/>
              <a:buChar char="v"/>
            </a:pPr>
            <a:endParaRPr lang="en-US" sz="1200" dirty="0"/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3. Overestimation Curah </a:t>
            </a:r>
            <a:r>
              <a:rPr lang="en-US" sz="1400" b="1" dirty="0" err="1">
                <a:solidFill>
                  <a:srgbClr val="FF0000"/>
                </a:solidFill>
              </a:rPr>
              <a:t>Hujan</a:t>
            </a:r>
            <a:endParaRPr lang="en-US" sz="1400" b="1" dirty="0">
              <a:solidFill>
                <a:srgbClr val="FF0000"/>
              </a:solidFill>
            </a:endParaRP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side lobe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objek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285" y="3578110"/>
            <a:ext cx="4506686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err="1"/>
              <a:t>Analogi</a:t>
            </a:r>
            <a:r>
              <a:rPr lang="en-US" b="1" dirty="0"/>
              <a:t> </a:t>
            </a:r>
            <a:r>
              <a:rPr lang="en-US" b="1" dirty="0" err="1"/>
              <a:t>Sederhana</a:t>
            </a:r>
            <a:endParaRPr lang="en-US" b="1" dirty="0"/>
          </a:p>
          <a:p>
            <a:pPr algn="just"/>
            <a:r>
              <a:rPr lang="en-US" sz="1200" dirty="0" err="1"/>
              <a:t>Bayangkan</a:t>
            </a:r>
            <a:r>
              <a:rPr lang="en-US" sz="1200" dirty="0"/>
              <a:t>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senter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terang</a:t>
            </a:r>
            <a:r>
              <a:rPr lang="en-US" sz="1200" dirty="0"/>
              <a:t> di </a:t>
            </a:r>
            <a:r>
              <a:rPr lang="en-US" sz="1200" dirty="0" err="1"/>
              <a:t>tengah</a:t>
            </a:r>
            <a:r>
              <a:rPr lang="en-US" sz="1200" dirty="0"/>
              <a:t> = </a:t>
            </a:r>
            <a:r>
              <a:rPr lang="en-US" sz="1200" b="1" dirty="0"/>
              <a:t>Main Lobe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redup</a:t>
            </a:r>
            <a:r>
              <a:rPr lang="en-US" sz="1200" dirty="0"/>
              <a:t> yang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samping</a:t>
            </a:r>
            <a:r>
              <a:rPr lang="en-US" sz="1200" dirty="0"/>
              <a:t> = </a:t>
            </a:r>
            <a:r>
              <a:rPr lang="en-US" sz="1200" b="1" dirty="0"/>
              <a:t>Side Lobes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Walaupun</a:t>
            </a:r>
            <a:r>
              <a:rPr lang="en-US" sz="1200" dirty="0"/>
              <a:t> </a:t>
            </a:r>
            <a:r>
              <a:rPr lang="en-US" sz="1200" dirty="0" err="1"/>
              <a:t>fokus</a:t>
            </a:r>
            <a:r>
              <a:rPr lang="en-US" sz="1200" dirty="0"/>
              <a:t> </a:t>
            </a:r>
            <a:r>
              <a:rPr lang="en-US" sz="1200" dirty="0" err="1"/>
              <a:t>cahaya</a:t>
            </a:r>
            <a:r>
              <a:rPr lang="en-US" sz="1200" dirty="0"/>
              <a:t>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depan</a:t>
            </a:r>
            <a:r>
              <a:rPr lang="en-US" sz="1200" dirty="0"/>
              <a:t>,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cahaya</a:t>
            </a:r>
            <a:r>
              <a:rPr lang="en-US" sz="1200" dirty="0"/>
              <a:t> yang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samping</a:t>
            </a:r>
            <a:r>
              <a:rPr lang="en-US" sz="1200" dirty="0"/>
              <a:t>.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radar,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berperilaku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7028" y="3021096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Gain</a:t>
            </a: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b="1" dirty="0"/>
              <a:t>Gain</a:t>
            </a:r>
            <a:r>
              <a:rPr lang="en-US" sz="1200" dirty="0"/>
              <a:t> 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isotropik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gain = 0 </a:t>
            </a:r>
            <a:r>
              <a:rPr lang="en-US" sz="1200" dirty="0" err="1"/>
              <a:t>dBi</a:t>
            </a:r>
            <a:r>
              <a:rPr lang="en-US" sz="1200" dirty="0"/>
              <a:t> (</a:t>
            </a:r>
            <a:r>
              <a:rPr lang="en-US" sz="1200" dirty="0" err="1"/>
              <a:t>referensi</a:t>
            </a:r>
            <a:r>
              <a:rPr lang="en-US" sz="1200" dirty="0"/>
              <a:t>).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Antena</a:t>
            </a:r>
            <a:r>
              <a:rPr lang="en-US" sz="1200" dirty="0"/>
              <a:t> radar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beam </a:t>
            </a:r>
            <a:r>
              <a:rPr lang="en-US" sz="1200" dirty="0" err="1"/>
              <a:t>sempit</a:t>
            </a:r>
            <a:r>
              <a:rPr lang="en-US" sz="1200" dirty="0"/>
              <a:t> </a:t>
            </a:r>
            <a:r>
              <a:rPr lang="en-US" sz="1200" dirty="0" err="1"/>
              <a:t>sehingga</a:t>
            </a:r>
            <a:r>
              <a:rPr lang="en-US" sz="1200" dirty="0"/>
              <a:t> gain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(</a:t>
            </a:r>
            <a:r>
              <a:rPr lang="en-US" sz="1200" dirty="0" err="1"/>
              <a:t>biasanya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S-Band </a:t>
            </a:r>
            <a:r>
              <a:rPr lang="en-US" sz="1200" dirty="0" err="1"/>
              <a:t>sekitar</a:t>
            </a:r>
            <a:r>
              <a:rPr lang="en-US" sz="1200" dirty="0"/>
              <a:t> 44–46 </a:t>
            </a:r>
            <a:r>
              <a:rPr lang="en-US" sz="1200" dirty="0" err="1"/>
              <a:t>dBi</a:t>
            </a:r>
            <a:r>
              <a:rPr lang="en-US" sz="1200" dirty="0"/>
              <a:t>).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radar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relatif</a:t>
            </a:r>
            <a:r>
              <a:rPr lang="en-US" sz="1200" dirty="0"/>
              <a:t> </a:t>
            </a:r>
            <a:r>
              <a:rPr lang="en-US" sz="1200" dirty="0" err="1"/>
              <a:t>terhadap</a:t>
            </a:r>
            <a:r>
              <a:rPr lang="en-US" sz="1200" dirty="0"/>
              <a:t> main lobe.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8556" y="5225334"/>
            <a:ext cx="93444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400" dirty="0" err="1"/>
              <a:t>Gambar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antena</a:t>
            </a:r>
            <a:r>
              <a:rPr lang="en-US" sz="1400" dirty="0"/>
              <a:t> radar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memancarkan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berkas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 </a:t>
            </a:r>
            <a:r>
              <a:rPr lang="en-US" sz="1400" dirty="0" err="1"/>
              <a:t>saja</a:t>
            </a:r>
            <a:r>
              <a:rPr lang="en-US" sz="1400" dirty="0"/>
              <a:t>.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(~98%) </a:t>
            </a:r>
            <a:r>
              <a:rPr lang="en-US" sz="1400" dirty="0" err="1"/>
              <a:t>terkonsentrasi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b="1" dirty="0"/>
              <a:t>main lobe</a:t>
            </a:r>
            <a:r>
              <a:rPr lang="en-US" sz="1400" dirty="0"/>
              <a:t> yang </a:t>
            </a:r>
            <a:r>
              <a:rPr lang="en-US" sz="1400" dirty="0" err="1"/>
              <a:t>menghasilkan</a:t>
            </a:r>
            <a:r>
              <a:rPr lang="en-US" sz="1400" dirty="0"/>
              <a:t> gain </a:t>
            </a:r>
            <a:r>
              <a:rPr lang="en-US" sz="1400" dirty="0" err="1"/>
              <a:t>tinggi</a:t>
            </a:r>
            <a:r>
              <a:rPr lang="en-US" sz="1400" dirty="0"/>
              <a:t>, </a:t>
            </a:r>
            <a:r>
              <a:rPr lang="en-US" sz="1400" dirty="0" err="1"/>
              <a:t>tetapi</a:t>
            </a:r>
            <a:r>
              <a:rPr lang="en-US" sz="1400" dirty="0"/>
              <a:t>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(~2%) </a:t>
            </a:r>
            <a:r>
              <a:rPr lang="en-US" sz="1400" dirty="0" err="1"/>
              <a:t>bocor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b="1" dirty="0"/>
              <a:t>side lobes</a:t>
            </a:r>
            <a:r>
              <a:rPr lang="en-US" sz="1400" dirty="0"/>
              <a:t> yang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menyebabkan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diinginkan</a:t>
            </a:r>
            <a:r>
              <a:rPr lang="en-US" sz="1400" dirty="0"/>
              <a:t> (clutter, echo </a:t>
            </a:r>
            <a:r>
              <a:rPr lang="en-US" sz="1400" dirty="0" err="1"/>
              <a:t>palsu</a:t>
            </a:r>
            <a:r>
              <a:rPr lang="en-US" sz="1400" dirty="0"/>
              <a:t>,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gangguan</a:t>
            </a:r>
            <a:r>
              <a:rPr lang="en-US" sz="1400" dirty="0"/>
              <a:t> </a:t>
            </a:r>
            <a:r>
              <a:rPr lang="en-US" sz="1400" dirty="0" err="1"/>
              <a:t>pengukuran</a:t>
            </a:r>
            <a:r>
              <a:rPr lang="en-US" sz="1400" dirty="0"/>
              <a:t> radar </a:t>
            </a:r>
            <a:r>
              <a:rPr lang="en-US" sz="1400" dirty="0" err="1"/>
              <a:t>cuaca</a:t>
            </a:r>
            <a:r>
              <a:rPr lang="en-US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70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12" y="253777"/>
            <a:ext cx="6752339" cy="29575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709136"/>
            <a:ext cx="4767944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menunjukkan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side lobe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dapat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menyebabkan</a:t>
            </a:r>
            <a:r>
              <a:rPr lang="en-US" sz="1200" b="1" dirty="0">
                <a:solidFill>
                  <a:schemeClr val="bg1"/>
                </a:solidFill>
              </a:rPr>
              <a:t> target yang </a:t>
            </a:r>
            <a:r>
              <a:rPr lang="en-US" sz="1200" b="1" dirty="0" err="1">
                <a:solidFill>
                  <a:schemeClr val="bg1"/>
                </a:solidFill>
              </a:rPr>
              <a:t>sama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muncul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lebih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dari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satu</a:t>
            </a:r>
            <a:r>
              <a:rPr lang="en-US" sz="1200" b="1" dirty="0">
                <a:solidFill>
                  <a:schemeClr val="bg1"/>
                </a:solidFill>
              </a:rPr>
              <a:t> kali (multiple display) </a:t>
            </a:r>
            <a:r>
              <a:rPr lang="en-US" sz="1200" b="1" dirty="0" err="1">
                <a:solidFill>
                  <a:schemeClr val="bg1"/>
                </a:solidFill>
              </a:rPr>
              <a:t>dan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meningkatkan</a:t>
            </a:r>
            <a:r>
              <a:rPr lang="en-US" sz="1200" b="1" dirty="0">
                <a:solidFill>
                  <a:schemeClr val="bg1"/>
                </a:solidFill>
              </a:rPr>
              <a:t> clutter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tampilan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b="1" dirty="0" smtClean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1732531"/>
            <a:ext cx="476794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 err="1"/>
              <a:t>Bagian-bagian</a:t>
            </a:r>
            <a:r>
              <a:rPr lang="en-US" sz="1600" b="1" dirty="0"/>
              <a:t> </a:t>
            </a:r>
            <a:r>
              <a:rPr lang="en-US" sz="1600" b="1" dirty="0" err="1"/>
              <a:t>gambar</a:t>
            </a:r>
            <a:endParaRPr lang="en-US" sz="1600" b="1" dirty="0"/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1. Main Lobe (</a:t>
            </a:r>
            <a:r>
              <a:rPr lang="en-US" sz="1400" b="1" dirty="0" err="1">
                <a:solidFill>
                  <a:srgbClr val="FF0000"/>
                </a:solidFill>
              </a:rPr>
              <a:t>lobus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utama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/>
              <a:t>Area </a:t>
            </a:r>
            <a:r>
              <a:rPr lang="en-US" sz="1200" dirty="0" err="1"/>
              <a:t>abu-abu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yang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berkas</a:t>
            </a:r>
            <a:r>
              <a:rPr lang="en-US" sz="1200" dirty="0"/>
              <a:t> radar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dipancarkan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jalur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main lobe </a:t>
            </a:r>
            <a:r>
              <a:rPr lang="en-US" sz="1200" dirty="0" err="1"/>
              <a:t>merupakan</a:t>
            </a:r>
            <a:r>
              <a:rPr lang="en-US" sz="1200" dirty="0"/>
              <a:t> data yang </a:t>
            </a:r>
            <a:r>
              <a:rPr lang="en-US" sz="1200" dirty="0" err="1"/>
              <a:t>diinginkan</a:t>
            </a:r>
            <a:r>
              <a:rPr lang="en-US" sz="1200" dirty="0"/>
              <a:t>. </a:t>
            </a:r>
          </a:p>
          <a:p>
            <a:pPr algn="just"/>
            <a:r>
              <a:rPr lang="en-US" sz="1400" b="1" dirty="0">
                <a:solidFill>
                  <a:srgbClr val="FF0000"/>
                </a:solidFill>
              </a:rPr>
              <a:t>2. Side Lobes (</a:t>
            </a:r>
            <a:r>
              <a:rPr lang="en-US" sz="1400" b="1" dirty="0" err="1">
                <a:solidFill>
                  <a:srgbClr val="FF0000"/>
                </a:solidFill>
              </a:rPr>
              <a:t>lobus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samping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algn="just"/>
            <a:r>
              <a:rPr lang="en-US" sz="1200" dirty="0" err="1"/>
              <a:t>Garis-garis</a:t>
            </a:r>
            <a:r>
              <a:rPr lang="en-US" sz="1200" dirty="0"/>
              <a:t> tipis di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main lobe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Energinya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dibanding</a:t>
            </a:r>
            <a:r>
              <a:rPr lang="en-US" sz="1200" dirty="0"/>
              <a:t> main lobe.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objek</a:t>
            </a:r>
            <a:r>
              <a:rPr lang="en-US" sz="1200" dirty="0"/>
              <a:t> yang </a:t>
            </a:r>
            <a:r>
              <a:rPr lang="en-US" sz="1200" dirty="0" err="1"/>
              <a:t>sama</a:t>
            </a:r>
            <a:r>
              <a:rPr lang="en-US" sz="1200" dirty="0"/>
              <a:t>, </a:t>
            </a:r>
            <a:r>
              <a:rPr lang="en-US" sz="1200" dirty="0" err="1"/>
              <a:t>misalnya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side lobe </a:t>
            </a:r>
            <a:r>
              <a:rPr lang="en-US" sz="1200" dirty="0" err="1"/>
              <a:t>ikut</a:t>
            </a:r>
            <a:r>
              <a:rPr lang="en-US" sz="1200" dirty="0"/>
              <a:t> </a:t>
            </a:r>
            <a:r>
              <a:rPr lang="en-US" sz="1200" dirty="0" err="1"/>
              <a:t>diterima</a:t>
            </a:r>
            <a:r>
              <a:rPr lang="en-US" sz="1200" dirty="0"/>
              <a:t> radar.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285" y="4448697"/>
            <a:ext cx="476794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Apa</a:t>
            </a:r>
            <a:r>
              <a:rPr lang="en-US" b="1" dirty="0"/>
              <a:t> yang </a:t>
            </a:r>
            <a:r>
              <a:rPr lang="en-US" b="1" dirty="0" err="1"/>
              <a:t>Terjadi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r>
              <a:rPr lang="en-US" b="1" dirty="0"/>
              <a:t>?</a:t>
            </a:r>
          </a:p>
          <a:p>
            <a:r>
              <a:rPr lang="en-US" sz="1200" dirty="0"/>
              <a:t>Awan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dalam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/>
              <a:t>,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terkena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side lobe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Main lobe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→ </a:t>
            </a:r>
            <a:r>
              <a:rPr lang="en-US" sz="1200" dirty="0" err="1"/>
              <a:t>menghasilkan</a:t>
            </a:r>
            <a:r>
              <a:rPr lang="en-US" sz="1200" dirty="0"/>
              <a:t> echo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→ </a:t>
            </a:r>
            <a:r>
              <a:rPr lang="en-US" sz="1200" dirty="0" err="1"/>
              <a:t>menghasilkan</a:t>
            </a:r>
            <a:r>
              <a:rPr lang="en-US" sz="1200" dirty="0"/>
              <a:t> echo </a:t>
            </a:r>
            <a:r>
              <a:rPr lang="en-US" sz="1200" dirty="0" err="1"/>
              <a:t>tambahan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menganggap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 </a:t>
            </a:r>
            <a:r>
              <a:rPr lang="en-US" sz="1200" dirty="0" err="1"/>
              <a:t>berasal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</a:t>
            </a:r>
            <a:r>
              <a:rPr lang="en-US" sz="1200" dirty="0" err="1"/>
              <a:t>berbeda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Hasilnya</a:t>
            </a:r>
            <a:r>
              <a:rPr lang="en-US" sz="1200" dirty="0"/>
              <a:t>, target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kali </a:t>
            </a:r>
            <a:r>
              <a:rPr lang="en-US" sz="1200" dirty="0" err="1"/>
              <a:t>pada</a:t>
            </a:r>
            <a:r>
              <a:rPr lang="en-US" sz="1200" dirty="0"/>
              <a:t> display radar.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3012" y="3346494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Grafik</a:t>
            </a:r>
            <a:r>
              <a:rPr lang="en-US" b="1" dirty="0"/>
              <a:t> di </a:t>
            </a:r>
            <a:r>
              <a:rPr lang="en-US" b="1" dirty="0" err="1"/>
              <a:t>Bagian</a:t>
            </a:r>
            <a:r>
              <a:rPr lang="en-US" b="1" dirty="0"/>
              <a:t> </a:t>
            </a:r>
            <a:r>
              <a:rPr lang="en-US" b="1" dirty="0" err="1"/>
              <a:t>Bawah</a:t>
            </a:r>
            <a:endParaRPr lang="en-US" b="1" dirty="0"/>
          </a:p>
          <a:p>
            <a:pPr algn="just"/>
            <a:r>
              <a:rPr lang="en-US" sz="1200" dirty="0" err="1"/>
              <a:t>Grafik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ilustrasi</a:t>
            </a:r>
            <a:r>
              <a:rPr lang="en-US" sz="1200" dirty="0"/>
              <a:t>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Puncak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di </a:t>
            </a:r>
            <a:r>
              <a:rPr lang="en-US" sz="1200" dirty="0" err="1"/>
              <a:t>tengah</a:t>
            </a:r>
            <a:r>
              <a:rPr lang="en-US" sz="1200" dirty="0"/>
              <a:t> =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b="1" dirty="0"/>
              <a:t>main lobe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Puncak-puncak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di </a:t>
            </a:r>
            <a:r>
              <a:rPr lang="en-US" sz="1200" dirty="0" err="1"/>
              <a:t>samping</a:t>
            </a:r>
            <a:r>
              <a:rPr lang="en-US" sz="1200" dirty="0"/>
              <a:t> =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b="1" dirty="0"/>
              <a:t>side lobes</a:t>
            </a:r>
            <a:r>
              <a:rPr lang="en-US" sz="1200" dirty="0"/>
              <a:t>. </a:t>
            </a:r>
          </a:p>
          <a:p>
            <a:pPr algn="just"/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sederhana</a:t>
            </a:r>
            <a:r>
              <a:rPr lang="en-US" sz="1200" dirty="0"/>
              <a:t>:</a:t>
            </a:r>
          </a:p>
        </p:txBody>
      </p:sp>
      <p:cxnSp>
        <p:nvCxnSpPr>
          <p:cNvPr id="9" name="Elbow Connector 8"/>
          <p:cNvCxnSpPr/>
          <p:nvPr/>
        </p:nvCxnSpPr>
        <p:spPr>
          <a:xfrm rot="5400000" flipH="1" flipV="1">
            <a:off x="7304314" y="3113315"/>
            <a:ext cx="511628" cy="33745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flipV="1">
            <a:off x="2438400" y="1371600"/>
            <a:ext cx="4550229" cy="794658"/>
          </a:xfrm>
          <a:prstGeom prst="bentConnector3">
            <a:avLst>
              <a:gd name="adj1" fmla="val 5645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flipV="1">
            <a:off x="2547257" y="1981200"/>
            <a:ext cx="5268686" cy="1300843"/>
          </a:xfrm>
          <a:prstGeom prst="bentConnector3">
            <a:avLst>
              <a:gd name="adj1" fmla="val 7107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153" y="4522820"/>
            <a:ext cx="3679286" cy="149553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43012" y="6018357"/>
            <a:ext cx="43216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side lobe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, </a:t>
            </a:r>
            <a:r>
              <a:rPr lang="en-US" sz="1200" dirty="0" err="1"/>
              <a:t>puncaknya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411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ANTENA MAIN AND SIDE LOBES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12" y="253777"/>
            <a:ext cx="6752339" cy="29575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709136"/>
            <a:ext cx="4767944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menunjukkan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side lobe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antena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dapat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menyebabkan</a:t>
            </a:r>
            <a:r>
              <a:rPr lang="en-US" sz="1200" b="1" dirty="0">
                <a:solidFill>
                  <a:schemeClr val="bg1"/>
                </a:solidFill>
              </a:rPr>
              <a:t> target yang </a:t>
            </a:r>
            <a:r>
              <a:rPr lang="en-US" sz="1200" b="1" dirty="0" err="1">
                <a:solidFill>
                  <a:schemeClr val="bg1"/>
                </a:solidFill>
              </a:rPr>
              <a:t>sama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muncul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lebih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dari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satu</a:t>
            </a:r>
            <a:r>
              <a:rPr lang="en-US" sz="1200" b="1" dirty="0">
                <a:solidFill>
                  <a:schemeClr val="bg1"/>
                </a:solidFill>
              </a:rPr>
              <a:t> kali (multiple display) </a:t>
            </a:r>
            <a:r>
              <a:rPr lang="en-US" sz="1200" b="1" dirty="0" err="1">
                <a:solidFill>
                  <a:schemeClr val="bg1"/>
                </a:solidFill>
              </a:rPr>
              <a:t>dan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meningkatkan</a:t>
            </a:r>
            <a:r>
              <a:rPr lang="en-US" sz="1200" b="1" dirty="0">
                <a:solidFill>
                  <a:schemeClr val="bg1"/>
                </a:solidFill>
              </a:rPr>
              <a:t> clutter </a:t>
            </a:r>
            <a:r>
              <a:rPr lang="en-US" sz="1200" b="1" dirty="0" err="1">
                <a:solidFill>
                  <a:schemeClr val="bg1"/>
                </a:solidFill>
              </a:rPr>
              <a:t>pada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tampilan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b="1" dirty="0" smtClean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3285" y="1610027"/>
            <a:ext cx="47679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Dampak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endParaRPr lang="en-US" b="1" dirty="0"/>
          </a:p>
          <a:p>
            <a:r>
              <a:rPr lang="en-US" sz="1600" b="1" dirty="0" err="1">
                <a:solidFill>
                  <a:srgbClr val="FF0000"/>
                </a:solidFill>
              </a:rPr>
              <a:t>Kasus</a:t>
            </a:r>
            <a:r>
              <a:rPr lang="en-US" sz="1600" b="1" dirty="0">
                <a:solidFill>
                  <a:srgbClr val="FF0000"/>
                </a:solidFill>
              </a:rPr>
              <a:t> 1: </a:t>
            </a:r>
            <a:r>
              <a:rPr lang="en-US" sz="1600" b="1" dirty="0" err="1">
                <a:solidFill>
                  <a:srgbClr val="FF0000"/>
                </a:solidFill>
              </a:rPr>
              <a:t>Hujan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Sangat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Lebat</a:t>
            </a: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err="1"/>
              <a:t>badai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&gt;55 </a:t>
            </a:r>
            <a:r>
              <a:rPr lang="en-US" sz="1200" dirty="0" err="1"/>
              <a:t>dBZ</a:t>
            </a:r>
            <a:r>
              <a:rPr lang="en-US" sz="1200" dirty="0"/>
              <a:t>):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Main lobe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Side lobe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masih</a:t>
            </a:r>
            <a:r>
              <a:rPr lang="en-US" sz="1200" dirty="0"/>
              <a:t> </a:t>
            </a:r>
            <a:r>
              <a:rPr lang="en-US" sz="1200" dirty="0" err="1"/>
              <a:t>cukup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Akibatnya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Echo </a:t>
            </a:r>
            <a:r>
              <a:rPr lang="en-US" sz="1200" dirty="0" err="1"/>
              <a:t>ganda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Area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Ring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bayangan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inti </a:t>
            </a:r>
            <a:r>
              <a:rPr lang="en-US" sz="1200" dirty="0" err="1"/>
              <a:t>badai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163285" y="3549019"/>
            <a:ext cx="476794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</a:rPr>
              <a:t>Kasus</a:t>
            </a:r>
            <a:r>
              <a:rPr lang="en-US" sz="1600" b="1" dirty="0">
                <a:solidFill>
                  <a:srgbClr val="FF0000"/>
                </a:solidFill>
              </a:rPr>
              <a:t> 2: Ground Clutter</a:t>
            </a: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side lobe </a:t>
            </a:r>
            <a:r>
              <a:rPr lang="en-US" sz="1200" dirty="0" err="1"/>
              <a:t>mengenai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Gunung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Gedung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Menara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Bukit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luar</a:t>
            </a:r>
            <a:r>
              <a:rPr lang="en-US" sz="1200" dirty="0"/>
              <a:t> beam </a:t>
            </a:r>
            <a:r>
              <a:rPr lang="en-US" sz="1200" dirty="0" err="1"/>
              <a:t>utama</a:t>
            </a:r>
            <a:r>
              <a:rPr lang="en-US" sz="1200" dirty="0" smtClean="0"/>
              <a:t>. </a:t>
            </a:r>
            <a:r>
              <a:rPr lang="en-US" sz="1200" dirty="0" err="1" smtClean="0"/>
              <a:t>Akibatnya</a:t>
            </a:r>
            <a:r>
              <a:rPr lang="en-US" sz="1200" dirty="0" smtClean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clutter </a:t>
            </a:r>
            <a:r>
              <a:rPr lang="en-US" sz="1200" dirty="0" err="1"/>
              <a:t>tambahan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PPI.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9571" y="3405111"/>
            <a:ext cx="6096000" cy="221599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Pada</a:t>
            </a:r>
            <a:r>
              <a:rPr lang="en-US" b="1" dirty="0"/>
              <a:t> Radar </a:t>
            </a:r>
            <a:r>
              <a:rPr lang="en-US" b="1" dirty="0" err="1"/>
              <a:t>Cuaca</a:t>
            </a:r>
            <a:r>
              <a:rPr lang="en-US" b="1" dirty="0"/>
              <a:t> S-Band</a:t>
            </a:r>
          </a:p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Gematronik</a:t>
            </a:r>
            <a:r>
              <a:rPr lang="en-US" sz="1200" dirty="0"/>
              <a:t>/Leonardo Rainbow:</a:t>
            </a:r>
          </a:p>
          <a:p>
            <a:r>
              <a:rPr lang="en-US" sz="1200" dirty="0"/>
              <a:t>Side lobe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Echo tipis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err="1"/>
              <a:t>badai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Ground clutter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luas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seharusnya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"</a:t>
            </a:r>
            <a:r>
              <a:rPr lang="en-US" sz="1200" dirty="0" err="1"/>
              <a:t>Bayangan</a:t>
            </a:r>
            <a:r>
              <a:rPr lang="en-US" sz="1200" dirty="0"/>
              <a:t>"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duplikasi</a:t>
            </a:r>
            <a:r>
              <a:rPr lang="en-US" sz="1200" dirty="0"/>
              <a:t> target.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 yang </a:t>
            </a:r>
            <a:r>
              <a:rPr lang="en-US" sz="1200" dirty="0" err="1"/>
              <a:t>mengelilingi</a:t>
            </a:r>
            <a:r>
              <a:rPr lang="en-US" sz="1200" dirty="0"/>
              <a:t> echo </a:t>
            </a:r>
            <a:r>
              <a:rPr lang="en-US" sz="1200" dirty="0" err="1"/>
              <a:t>utama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Fenomena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Cumulonimbus (</a:t>
            </a:r>
            <a:r>
              <a:rPr lang="en-US" sz="1200" dirty="0" err="1"/>
              <a:t>Cb</a:t>
            </a:r>
            <a:r>
              <a:rPr lang="en-US" sz="1200" dirty="0"/>
              <a:t>)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ekstrem</a:t>
            </a:r>
            <a:r>
              <a:rPr lang="en-US" sz="1200" dirty="0"/>
              <a:t> </a:t>
            </a:r>
            <a:r>
              <a:rPr lang="en-US" sz="1200" dirty="0" err="1"/>
              <a:t>dekat</a:t>
            </a:r>
            <a:r>
              <a:rPr lang="en-US" sz="1200" dirty="0"/>
              <a:t> radar.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Pegunungan</a:t>
            </a:r>
            <a:r>
              <a:rPr lang="en-US" sz="1200" dirty="0"/>
              <a:t> di </a:t>
            </a:r>
            <a:r>
              <a:rPr lang="en-US" sz="1200" dirty="0" err="1"/>
              <a:t>sekitar</a:t>
            </a:r>
            <a:r>
              <a:rPr lang="en-US" sz="1200" dirty="0"/>
              <a:t> </a:t>
            </a:r>
            <a:r>
              <a:rPr lang="en-US" sz="1200" dirty="0" err="1"/>
              <a:t>lokasi</a:t>
            </a:r>
            <a:r>
              <a:rPr lang="en-US" sz="1200" dirty="0"/>
              <a:t> radar.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913" y="5299224"/>
            <a:ext cx="1150143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tersebut</a:t>
            </a:r>
            <a:r>
              <a:rPr lang="en-US" sz="1200" dirty="0" smtClean="0"/>
              <a:t> 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b="1" dirty="0"/>
              <a:t>side lobe </a:t>
            </a:r>
            <a:r>
              <a:rPr lang="en-US" sz="1200" b="1" dirty="0" err="1"/>
              <a:t>dapat</a:t>
            </a:r>
            <a:r>
              <a:rPr lang="en-US" sz="1200" b="1" dirty="0"/>
              <a:t> </a:t>
            </a:r>
            <a:r>
              <a:rPr lang="en-US" sz="1200" b="1" dirty="0" err="1"/>
              <a:t>mengenai</a:t>
            </a:r>
            <a:r>
              <a:rPr lang="en-US" sz="1200" b="1" dirty="0"/>
              <a:t> target </a:t>
            </a:r>
            <a:r>
              <a:rPr lang="en-US" sz="1200" b="1" dirty="0" err="1"/>
              <a:t>hujan</a:t>
            </a:r>
            <a:r>
              <a:rPr lang="en-US" sz="1200" b="1" dirty="0"/>
              <a:t> yang </a:t>
            </a:r>
            <a:r>
              <a:rPr lang="en-US" sz="1200" b="1" dirty="0" err="1"/>
              <a:t>sama</a:t>
            </a:r>
            <a:r>
              <a:rPr lang="en-US" sz="1200" b="1" dirty="0"/>
              <a:t> </a:t>
            </a:r>
            <a:r>
              <a:rPr lang="en-US" sz="1200" b="1" dirty="0" err="1"/>
              <a:t>dengan</a:t>
            </a:r>
            <a:r>
              <a:rPr lang="en-US" sz="1200" b="1" dirty="0"/>
              <a:t> yang </a:t>
            </a:r>
            <a:r>
              <a:rPr lang="en-US" sz="1200" b="1" dirty="0" err="1"/>
              <a:t>terkena</a:t>
            </a:r>
            <a:r>
              <a:rPr lang="en-US" sz="1200" b="1" dirty="0"/>
              <a:t> main lobe</a:t>
            </a:r>
            <a:r>
              <a:rPr lang="en-US" sz="1200" dirty="0"/>
              <a:t>. </a:t>
            </a:r>
            <a:r>
              <a:rPr lang="en-US" sz="1200" dirty="0" err="1"/>
              <a:t>Akibatnya</a:t>
            </a:r>
            <a:r>
              <a:rPr lang="en-US" sz="1200" dirty="0"/>
              <a:t> 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tambahan</a:t>
            </a:r>
            <a:r>
              <a:rPr lang="en-US" sz="1200" dirty="0"/>
              <a:t> </a:t>
            </a:r>
            <a:r>
              <a:rPr lang="en-US" sz="1200" dirty="0" err="1"/>
              <a:t>sehingga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Target yang </a:t>
            </a:r>
            <a:r>
              <a:rPr lang="en-US" sz="1200" dirty="0" err="1"/>
              <a:t>sama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muncul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sekali</a:t>
            </a:r>
            <a:r>
              <a:rPr lang="en-US" sz="1200" dirty="0"/>
              <a:t> (multiple display).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Ground clutter </a:t>
            </a:r>
            <a:r>
              <a:rPr lang="en-US" sz="1200" dirty="0" err="1"/>
              <a:t>bertambah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Muncul</a:t>
            </a:r>
            <a:r>
              <a:rPr lang="en-US" sz="1200" dirty="0"/>
              <a:t> echo </a:t>
            </a:r>
            <a:r>
              <a:rPr lang="en-US" sz="1200" dirty="0" err="1"/>
              <a:t>palsu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artefak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radar.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level side lobe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(</a:t>
            </a:r>
            <a:r>
              <a:rPr lang="en-US" sz="1200" dirty="0" err="1"/>
              <a:t>misalnya</a:t>
            </a:r>
            <a:r>
              <a:rPr lang="en-US" sz="1200" dirty="0"/>
              <a:t> −30 dB </a:t>
            </a:r>
            <a:r>
              <a:rPr lang="en-US" sz="1200" dirty="0" err="1"/>
              <a:t>dibanding</a:t>
            </a:r>
            <a:r>
              <a:rPr lang="en-US" sz="1200" dirty="0"/>
              <a:t> −20 dB),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data radar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gangguan</a:t>
            </a:r>
            <a:r>
              <a:rPr lang="en-US" sz="1200" dirty="0"/>
              <a:t> side lobe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935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1457627"/>
            <a:ext cx="6096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Alur</a:t>
            </a:r>
            <a:r>
              <a:rPr lang="en-US" b="1" dirty="0"/>
              <a:t> </a:t>
            </a:r>
            <a:r>
              <a:rPr lang="en-US" b="1" dirty="0" err="1"/>
              <a:t>Pengukuran</a:t>
            </a:r>
            <a:r>
              <a:rPr lang="en-US" b="1" dirty="0"/>
              <a:t> Radar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1. Radar </a:t>
            </a:r>
            <a:r>
              <a:rPr lang="en-US" sz="1400" b="1" dirty="0" err="1">
                <a:solidFill>
                  <a:srgbClr val="FF0000"/>
                </a:solidFill>
              </a:rPr>
              <a:t>menerima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pantulan</a:t>
            </a:r>
            <a:r>
              <a:rPr lang="en-US" sz="1400" b="1" dirty="0">
                <a:solidFill>
                  <a:srgbClr val="FF0000"/>
                </a:solidFill>
              </a:rPr>
              <a:t> (</a:t>
            </a:r>
            <a:r>
              <a:rPr lang="en-US" sz="1400" b="1" dirty="0" err="1">
                <a:solidFill>
                  <a:srgbClr val="FF0000"/>
                </a:solidFill>
              </a:rPr>
              <a:t>Pr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sisi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b="1" dirty="0"/>
              <a:t>Antenna</a:t>
            </a:r>
            <a:r>
              <a:rPr lang="en-US" sz="1200" dirty="0"/>
              <a:t> radar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b="1" dirty="0"/>
              <a:t>Receiver</a:t>
            </a:r>
            <a:r>
              <a:rPr lang="en-US" sz="1200" dirty="0"/>
              <a:t> (</a:t>
            </a:r>
            <a:r>
              <a:rPr lang="en-US" sz="1200" dirty="0" err="1"/>
              <a:t>penerima</a:t>
            </a:r>
            <a:r>
              <a:rPr lang="en-US" sz="1200" dirty="0"/>
              <a:t>) </a:t>
            </a:r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 smtClean="0"/>
              <a:t>. </a:t>
            </a:r>
            <a:r>
              <a:rPr lang="en-US" sz="1200" dirty="0" err="1" smtClean="0"/>
              <a:t>Ketika</a:t>
            </a:r>
            <a:r>
              <a:rPr lang="en-US" sz="1200" dirty="0" smtClean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di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,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Energi</a:t>
            </a:r>
            <a:r>
              <a:rPr lang="en-US" sz="1200" dirty="0" smtClean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 smtClean="0"/>
              <a:t>disebut</a:t>
            </a:r>
            <a:r>
              <a:rPr lang="en-US" sz="1200" dirty="0" smtClean="0"/>
              <a:t> </a:t>
            </a:r>
            <a:r>
              <a:rPr lang="en-US" sz="1200" i="1" dirty="0" err="1" smtClean="0"/>
              <a:t>Pr</a:t>
            </a:r>
            <a:r>
              <a:rPr lang="en-US" sz="1200" i="1" dirty="0" smtClean="0"/>
              <a:t> </a:t>
            </a:r>
            <a:r>
              <a:rPr lang="en-US" sz="1200" dirty="0" smtClean="0"/>
              <a:t>​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 smtClean="0"/>
              <a:t>satuan</a:t>
            </a:r>
            <a:r>
              <a:rPr lang="en-US" sz="1200" dirty="0" smtClean="0"/>
              <a:t>  </a:t>
            </a:r>
            <a:r>
              <a:rPr lang="en-US" sz="1200" b="1" dirty="0" err="1" smtClean="0"/>
              <a:t>mW</a:t>
            </a:r>
            <a:r>
              <a:rPr lang="en-US" sz="1200" b="1" dirty="0" smtClean="0"/>
              <a:t> </a:t>
            </a:r>
            <a:r>
              <a:rPr lang="en-US" sz="1200" b="1" dirty="0"/>
              <a:t>(</a:t>
            </a:r>
            <a:r>
              <a:rPr lang="en-US" sz="1200" b="1" dirty="0" err="1"/>
              <a:t>milliwatt</a:t>
            </a:r>
            <a:r>
              <a:rPr lang="en-US" sz="1200" b="1" dirty="0" smtClean="0"/>
              <a:t>).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ukurannya</a:t>
            </a:r>
            <a:r>
              <a:rPr lang="en-US" sz="1200" dirty="0"/>
              <a:t>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i="1" dirty="0" err="1" smtClean="0"/>
              <a:t>Pr</a:t>
            </a:r>
            <a:endParaRPr lang="en-US" sz="1200" i="1" dirty="0"/>
          </a:p>
        </p:txBody>
      </p:sp>
      <p:sp>
        <p:nvSpPr>
          <p:cNvPr id="9" name="Rectangle 8"/>
          <p:cNvSpPr/>
          <p:nvPr/>
        </p:nvSpPr>
        <p:spPr>
          <a:xfrm>
            <a:off x="163285" y="3421091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b="1" dirty="0">
                <a:solidFill>
                  <a:srgbClr val="FF0000"/>
                </a:solidFill>
              </a:rPr>
              <a:t>2. Receiver </a:t>
            </a:r>
            <a:r>
              <a:rPr lang="en-US" sz="1400" b="1" dirty="0" err="1">
                <a:solidFill>
                  <a:srgbClr val="FF0000"/>
                </a:solidFill>
              </a:rPr>
              <a:t>mengubah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menjadi</a:t>
            </a:r>
            <a:r>
              <a:rPr lang="en-US" sz="1400" b="1" dirty="0">
                <a:solidFill>
                  <a:srgbClr val="FF0000"/>
                </a:solidFill>
              </a:rPr>
              <a:t> data digital (U)</a:t>
            </a:r>
          </a:p>
          <a:p>
            <a:pPr algn="just"/>
            <a:r>
              <a:rPr lang="en-US" sz="1200" dirty="0" err="1"/>
              <a:t>Sinyal</a:t>
            </a:r>
            <a:r>
              <a:rPr lang="en-US" sz="1200" dirty="0"/>
              <a:t> analog </a:t>
            </a:r>
            <a:r>
              <a:rPr lang="en-US" sz="1200" dirty="0" err="1"/>
              <a:t>dari</a:t>
            </a:r>
            <a:r>
              <a:rPr lang="en-US" sz="1200" dirty="0"/>
              <a:t> receiver </a:t>
            </a:r>
            <a:r>
              <a:rPr lang="en-US" sz="1200" dirty="0" err="1"/>
              <a:t>kemudian</a:t>
            </a:r>
            <a:r>
              <a:rPr lang="en-US" sz="1200" dirty="0"/>
              <a:t>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digital </a:t>
            </a:r>
            <a:r>
              <a:rPr lang="en-US" sz="1200" dirty="0" err="1"/>
              <a:t>oleh</a:t>
            </a:r>
            <a:r>
              <a:rPr lang="en-US" sz="1200" dirty="0"/>
              <a:t> ADC (Analog-to-Digital Converter</a:t>
            </a:r>
            <a:r>
              <a:rPr lang="en-US" sz="1200" dirty="0" smtClean="0"/>
              <a:t>). </a:t>
            </a:r>
            <a:r>
              <a:rPr lang="en-US" sz="1200" dirty="0" err="1" smtClean="0"/>
              <a:t>Pada</a:t>
            </a:r>
            <a:r>
              <a:rPr lang="en-US" sz="1200" dirty="0" smtClean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ditulis</a:t>
            </a:r>
            <a:r>
              <a:rPr lang="en-US" sz="1200" dirty="0" smtClean="0"/>
              <a:t>: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smtClean="0"/>
              <a:t>                                </a:t>
            </a:r>
            <a:r>
              <a:rPr lang="en-US" sz="1200" i="1" dirty="0" smtClean="0"/>
              <a:t>U</a:t>
            </a:r>
            <a:r>
              <a:rPr lang="en-US" sz="1200" dirty="0" smtClean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 smtClean="0"/>
              <a:t>satuan</a:t>
            </a:r>
            <a:r>
              <a:rPr lang="en-US" sz="1200" dirty="0" smtClean="0"/>
              <a:t> </a:t>
            </a:r>
            <a:r>
              <a:rPr lang="en-US" sz="1200" b="1" dirty="0" smtClean="0"/>
              <a:t>AD </a:t>
            </a:r>
            <a:r>
              <a:rPr lang="en-US" sz="1200" b="1" dirty="0"/>
              <a:t>Counts</a:t>
            </a:r>
            <a:endParaRPr lang="en-US" sz="1200" dirty="0"/>
          </a:p>
          <a:p>
            <a:pPr algn="just"/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sebenarnya</a:t>
            </a:r>
            <a:r>
              <a:rPr lang="en-US" sz="1200" dirty="0"/>
              <a:t> </a:t>
            </a:r>
            <a:r>
              <a:rPr lang="en-US" sz="1200" dirty="0" err="1"/>
              <a:t>membaca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digital </a:t>
            </a:r>
            <a:r>
              <a:rPr lang="en-US" sz="1200" dirty="0" err="1"/>
              <a:t>mentah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Belum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curah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285" y="5107556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1: </a:t>
            </a:r>
            <a:r>
              <a:rPr lang="en-US" b="1" dirty="0" err="1"/>
              <a:t>Kalibrasi</a:t>
            </a:r>
            <a:r>
              <a:rPr lang="en-US" b="1" dirty="0"/>
              <a:t> Radar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114" y="5480579"/>
            <a:ext cx="952500" cy="3619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3285" y="5643674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b="1" dirty="0" err="1"/>
              <a:t>fungsi</a:t>
            </a:r>
            <a:r>
              <a:rPr lang="en-US" sz="1200" b="1" dirty="0"/>
              <a:t> </a:t>
            </a:r>
            <a:r>
              <a:rPr lang="en-US" sz="1200" b="1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mengubah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digital (</a:t>
            </a:r>
            <a:r>
              <a:rPr lang="en-US" sz="1200" i="1" dirty="0"/>
              <a:t>U</a:t>
            </a:r>
            <a:r>
              <a:rPr lang="en-US" sz="1200" dirty="0"/>
              <a:t>)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 (</a:t>
            </a:r>
            <a:r>
              <a:rPr lang="en-US" sz="1200" i="1" dirty="0" err="1"/>
              <a:t>Pr</a:t>
            </a:r>
            <a:r>
              <a:rPr lang="en-US" sz="1200" dirty="0" smtClean="0"/>
              <a:t>). </a:t>
            </a:r>
            <a:r>
              <a:rPr lang="en-US" sz="1200" dirty="0" err="1" smtClean="0"/>
              <a:t>Tanpa</a:t>
            </a:r>
            <a:r>
              <a:rPr lang="en-US" sz="1200" dirty="0" smtClean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yang </a:t>
            </a:r>
            <a:r>
              <a:rPr lang="en-US" sz="1200" dirty="0" err="1"/>
              <a:t>baik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salah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Estimasi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meleset</a:t>
            </a:r>
            <a:r>
              <a:rPr lang="en-US" sz="1200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9285" y="3582137"/>
            <a:ext cx="564968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2: </a:t>
            </a:r>
            <a:r>
              <a:rPr lang="en-US" b="1" dirty="0" err="1"/>
              <a:t>Persamaan</a:t>
            </a:r>
            <a:r>
              <a:rPr lang="en-US" b="1" dirty="0"/>
              <a:t> Radar</a:t>
            </a:r>
          </a:p>
          <a:p>
            <a:r>
              <a:rPr lang="en-US" sz="1200" dirty="0" err="1"/>
              <a:t>Kemudian</a:t>
            </a:r>
            <a:r>
              <a:rPr lang="en-US" sz="1200" dirty="0"/>
              <a:t>: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272" y="3946399"/>
            <a:ext cx="962025" cy="3333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259285" y="4285499"/>
            <a:ext cx="40442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Di </a:t>
            </a:r>
            <a:r>
              <a:rPr lang="en-US" sz="1200" dirty="0" err="1"/>
              <a:t>sini</a:t>
            </a:r>
            <a:r>
              <a:rPr lang="en-US" sz="1200" dirty="0"/>
              <a:t> radar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(Z</a:t>
            </a:r>
            <a:r>
              <a:rPr lang="en-US" sz="1200" b="1" dirty="0" smtClean="0"/>
              <a:t>)</a:t>
            </a:r>
            <a:r>
              <a:rPr lang="en-US" sz="1200" dirty="0" smtClean="0"/>
              <a:t>,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ditulis</a:t>
            </a:r>
            <a:r>
              <a:rPr lang="en-US" sz="1200" dirty="0" smtClean="0"/>
              <a:t> </a:t>
            </a:r>
            <a:r>
              <a:rPr lang="en-US" sz="1200" dirty="0" err="1" smtClean="0"/>
              <a:t>sebagai</a:t>
            </a:r>
            <a:r>
              <a:rPr lang="en-US" sz="1200" dirty="0" smtClean="0"/>
              <a:t> :</a:t>
            </a:r>
            <a:endParaRPr lang="en-US" sz="12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65" y="4568987"/>
            <a:ext cx="1171575" cy="285750"/>
          </a:xfrm>
          <a:prstGeom prst="rect">
            <a:avLst/>
          </a:prstGeom>
        </p:spPr>
      </p:pic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259286" y="5089676"/>
            <a:ext cx="543197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Reflektivitas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menggambarkan</a:t>
            </a:r>
            <a:r>
              <a:rPr lang="en-US" altLang="en-US" sz="1200" dirty="0"/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Seberapa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seberapa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volume radar.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nilai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Z: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Semakin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besar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ukuran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2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285" y="1614859"/>
            <a:ext cx="6096000" cy="16619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Kubus</a:t>
            </a:r>
            <a:r>
              <a:rPr lang="en-US" b="1" dirty="0"/>
              <a:t> </a:t>
            </a:r>
            <a:r>
              <a:rPr lang="en-US" b="1" dirty="0" err="1"/>
              <a:t>Biru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Awan</a:t>
            </a:r>
          </a:p>
          <a:p>
            <a:pPr algn="just"/>
            <a:r>
              <a:rPr lang="en-US" sz="1200" dirty="0" err="1"/>
              <a:t>Kubus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 </a:t>
            </a:r>
            <a:r>
              <a:rPr lang="en-US" sz="1200" dirty="0" err="1" smtClean="0"/>
              <a:t>menggambarkan</a:t>
            </a:r>
            <a:r>
              <a:rPr lang="en-US" sz="1200" dirty="0" smtClean="0"/>
              <a:t> </a:t>
            </a:r>
            <a:r>
              <a:rPr lang="en-US" sz="1200" b="1" dirty="0" smtClean="0"/>
              <a:t>Volume </a:t>
            </a:r>
            <a:r>
              <a:rPr lang="en-US" sz="1200" b="1" dirty="0"/>
              <a:t>sampling radar (radar bin </a:t>
            </a:r>
            <a:r>
              <a:rPr lang="en-US" sz="1200" b="1" dirty="0" err="1"/>
              <a:t>atau</a:t>
            </a:r>
            <a:r>
              <a:rPr lang="en-US" sz="1200" b="1" dirty="0"/>
              <a:t> radar resolution volume)</a:t>
            </a:r>
            <a:endParaRPr lang="en-US" sz="1200" dirty="0"/>
          </a:p>
          <a:p>
            <a:pPr algn="just"/>
            <a:r>
              <a:rPr lang="en-US" sz="1200" dirty="0"/>
              <a:t>Radar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seluruh</a:t>
            </a:r>
            <a:r>
              <a:rPr lang="en-US" sz="1200" dirty="0"/>
              <a:t> </a:t>
            </a:r>
            <a:r>
              <a:rPr lang="en-US" sz="1200" dirty="0" err="1"/>
              <a:t>awan</a:t>
            </a:r>
            <a:r>
              <a:rPr lang="en-US" sz="1200" dirty="0"/>
              <a:t> </a:t>
            </a:r>
            <a:r>
              <a:rPr lang="en-US" sz="1200" dirty="0" err="1"/>
              <a:t>sekaligus</a:t>
            </a:r>
            <a:r>
              <a:rPr lang="en-US" sz="1200" dirty="0" smtClean="0"/>
              <a:t>. Radar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volume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tertentu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beam.</a:t>
            </a:r>
          </a:p>
          <a:p>
            <a:pPr algn="just"/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Lebar</a:t>
            </a:r>
            <a:r>
              <a:rPr lang="en-US" sz="1200" dirty="0"/>
              <a:t> beam = 1°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= 250 m </a:t>
            </a:r>
          </a:p>
          <a:p>
            <a:pPr algn="just"/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bin radar </a:t>
            </a:r>
            <a:r>
              <a:rPr lang="en-US" sz="1200" dirty="0" err="1"/>
              <a:t>memiliki</a:t>
            </a:r>
            <a:r>
              <a:rPr lang="en-US" sz="1200" dirty="0"/>
              <a:t> volume </a:t>
            </a:r>
            <a:r>
              <a:rPr lang="en-US" sz="1200" dirty="0" err="1"/>
              <a:t>tertentu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i="1" dirty="0"/>
              <a:t>Z.</a:t>
            </a:r>
          </a:p>
        </p:txBody>
      </p:sp>
      <p:cxnSp>
        <p:nvCxnSpPr>
          <p:cNvPr id="8" name="Elbow Connector 7"/>
          <p:cNvCxnSpPr/>
          <p:nvPr/>
        </p:nvCxnSpPr>
        <p:spPr>
          <a:xfrm flipV="1">
            <a:off x="2492829" y="1262743"/>
            <a:ext cx="7522028" cy="510638"/>
          </a:xfrm>
          <a:prstGeom prst="bentConnector3">
            <a:avLst>
              <a:gd name="adj1" fmla="val 9283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7843" y="3352958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3: </a:t>
            </a:r>
            <a:r>
              <a:rPr lang="en-US" b="1" dirty="0" err="1"/>
              <a:t>Hubungan</a:t>
            </a:r>
            <a:r>
              <a:rPr lang="en-US" b="1" dirty="0"/>
              <a:t> Z-R</a:t>
            </a:r>
          </a:p>
          <a:p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memperoleh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: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554" y="3873283"/>
            <a:ext cx="895350" cy="3905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57843" y="4242615"/>
            <a:ext cx="19415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mengubah</a:t>
            </a:r>
            <a:r>
              <a:rPr lang="en-US" sz="1200" dirty="0"/>
              <a:t> </a:t>
            </a:r>
            <a:r>
              <a:rPr lang="en-US" sz="1200" i="1" dirty="0"/>
              <a:t>Z </a:t>
            </a:r>
            <a:r>
              <a:rPr lang="en-US" sz="1200" dirty="0" err="1"/>
              <a:t>menjadi</a:t>
            </a:r>
            <a:r>
              <a:rPr lang="en-US" sz="1200" dirty="0"/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554" y="4588833"/>
            <a:ext cx="257175" cy="2667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57843" y="4855273"/>
            <a:ext cx="31623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b="1" dirty="0" err="1"/>
              <a:t>intensitas</a:t>
            </a:r>
            <a:r>
              <a:rPr lang="en-US" sz="1200" b="1" dirty="0"/>
              <a:t> </a:t>
            </a:r>
            <a:r>
              <a:rPr lang="en-US" sz="1200" b="1" dirty="0" err="1" smtClean="0"/>
              <a:t>hujan</a:t>
            </a:r>
            <a:r>
              <a:rPr lang="en-US" sz="1200" b="1" dirty="0" smtClean="0"/>
              <a:t>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/>
              <a:t>satuan</a:t>
            </a:r>
            <a:r>
              <a:rPr lang="en-US" sz="1200" dirty="0" smtClean="0"/>
              <a:t>: </a:t>
            </a:r>
            <a:r>
              <a:rPr lang="en-US" sz="1200" i="1" dirty="0" smtClean="0"/>
              <a:t>mm/h</a:t>
            </a:r>
            <a:endParaRPr lang="en-US" sz="1200" i="1" dirty="0"/>
          </a:p>
        </p:txBody>
      </p:sp>
      <p:sp>
        <p:nvSpPr>
          <p:cNvPr id="24" name="Rectangle 23"/>
          <p:cNvSpPr/>
          <p:nvPr/>
        </p:nvSpPr>
        <p:spPr>
          <a:xfrm>
            <a:off x="157843" y="5262072"/>
            <a:ext cx="31623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Persamaan</a:t>
            </a:r>
            <a:r>
              <a:rPr lang="en-US" sz="1600" b="1" dirty="0"/>
              <a:t> Z-R yang </a:t>
            </a:r>
            <a:r>
              <a:rPr lang="en-US" sz="1600" b="1" dirty="0" err="1"/>
              <a:t>Umum</a:t>
            </a:r>
            <a:endParaRPr lang="en-US" sz="1600" b="1" dirty="0"/>
          </a:p>
          <a:p>
            <a:r>
              <a:rPr lang="en-US" sz="1200" dirty="0"/>
              <a:t>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554" y="5803850"/>
            <a:ext cx="1152525" cy="4000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57843" y="6093517"/>
            <a:ext cx="4076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 smtClean="0"/>
              <a:t>diatas</a:t>
            </a:r>
            <a:r>
              <a:rPr lang="en-US" sz="1200" dirty="0" smtClean="0"/>
              <a:t> </a:t>
            </a:r>
            <a:r>
              <a:rPr lang="en-US" sz="1200" dirty="0" err="1"/>
              <a:t>dikenal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b="1" dirty="0"/>
              <a:t>Marshall-Palmer</a:t>
            </a:r>
            <a:r>
              <a:rPr lang="en-US" dirty="0"/>
              <a:t>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424" y="3612444"/>
            <a:ext cx="49530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4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PRINSIP PENGHITUNGAN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" y="632936"/>
            <a:ext cx="6096000" cy="738664"/>
          </a:xfrm>
          <a:prstGeom prst="rect">
            <a:avLst/>
          </a:prstGeom>
          <a:solidFill>
            <a:srgbClr val="7030A0"/>
          </a:solidFill>
        </p:spPr>
        <p:txBody>
          <a:bodyPr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prinsip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dasar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bagaimana</a:t>
            </a:r>
            <a:r>
              <a:rPr lang="en-US" sz="1200" b="1" dirty="0">
                <a:solidFill>
                  <a:schemeClr val="bg1"/>
                </a:solidFill>
              </a:rPr>
              <a:t> radar </a:t>
            </a:r>
            <a:r>
              <a:rPr lang="en-US" sz="1200" b="1" dirty="0" err="1">
                <a:solidFill>
                  <a:schemeClr val="bg1"/>
                </a:solidFill>
              </a:rPr>
              <a:t>cuaca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mengubah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sinyal</a:t>
            </a:r>
            <a:r>
              <a:rPr lang="en-US" sz="1200" b="1" dirty="0">
                <a:solidFill>
                  <a:schemeClr val="bg1"/>
                </a:solidFill>
              </a:rPr>
              <a:t> yang </a:t>
            </a:r>
            <a:r>
              <a:rPr lang="en-US" sz="1200" b="1" dirty="0" err="1">
                <a:solidFill>
                  <a:schemeClr val="bg1"/>
                </a:solidFill>
              </a:rPr>
              <a:t>diterima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menjadi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estimasi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curah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di </a:t>
            </a:r>
            <a:r>
              <a:rPr lang="en-US" sz="1200" b="1" dirty="0" err="1" smtClean="0">
                <a:solidFill>
                  <a:schemeClr val="bg1"/>
                </a:solidFill>
              </a:rPr>
              <a:t>permukaan</a:t>
            </a:r>
            <a:r>
              <a:rPr lang="en-US" sz="1200" dirty="0" smtClean="0">
                <a:solidFill>
                  <a:schemeClr val="bg1"/>
                </a:solidFill>
              </a:rPr>
              <a:t>. </a:t>
            </a:r>
            <a:r>
              <a:rPr lang="en-US" sz="1200" dirty="0" err="1" smtClean="0">
                <a:solidFill>
                  <a:schemeClr val="bg1"/>
                </a:solidFill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sederhana</a:t>
            </a:r>
            <a:r>
              <a:rPr lang="en-US" sz="1200" dirty="0">
                <a:solidFill>
                  <a:schemeClr val="bg1"/>
                </a:solidFill>
              </a:rPr>
              <a:t>, radar </a:t>
            </a:r>
            <a:r>
              <a:rPr lang="en-US" sz="1200" b="1" dirty="0" err="1">
                <a:solidFill>
                  <a:schemeClr val="bg1"/>
                </a:solidFill>
              </a:rPr>
              <a:t>tidak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mengukur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hujan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secara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tetapi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melalui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beberapa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tahap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perhitungan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6" y="177577"/>
            <a:ext cx="4310743" cy="31916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285" y="1619855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Peran</a:t>
            </a:r>
            <a:r>
              <a:rPr lang="en-US" b="1" dirty="0"/>
              <a:t> Rain Gauge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endParaRPr lang="en-US" b="1" dirty="0"/>
          </a:p>
          <a:p>
            <a:r>
              <a:rPr lang="en-US" sz="1200" dirty="0" err="1"/>
              <a:t>Silinder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b="1" dirty="0"/>
              <a:t>rain gauge (</a:t>
            </a:r>
            <a:r>
              <a:rPr lang="en-US" sz="1200" b="1" dirty="0" err="1"/>
              <a:t>ombrometer</a:t>
            </a:r>
            <a:r>
              <a:rPr lang="en-US" sz="1200" b="1" dirty="0" smtClean="0"/>
              <a:t>)</a:t>
            </a:r>
            <a:r>
              <a:rPr lang="en-US" sz="1200" dirty="0" smtClean="0"/>
              <a:t>. Rain </a:t>
            </a:r>
            <a:r>
              <a:rPr lang="en-US" sz="1200" dirty="0"/>
              <a:t>gauge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sebenarnya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Membandingkan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radar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kondisi</a:t>
            </a:r>
            <a:r>
              <a:rPr lang="en-US" sz="1200" dirty="0"/>
              <a:t> </a:t>
            </a:r>
            <a:r>
              <a:rPr lang="en-US" sz="1200" dirty="0" err="1"/>
              <a:t>nyata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Menyesuaikan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Z-R agar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akurat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wilayah</a:t>
            </a:r>
            <a:r>
              <a:rPr lang="en-US" sz="1200" dirty="0"/>
              <a:t> </a:t>
            </a:r>
            <a:r>
              <a:rPr lang="en-US" sz="1200" dirty="0" err="1"/>
              <a:t>setempat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di </a:t>
            </a:r>
            <a:r>
              <a:rPr lang="en-US" sz="1200" dirty="0" err="1"/>
              <a:t>atmosfer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Rain gauge </a:t>
            </a:r>
            <a:r>
              <a:rPr lang="en-US" sz="1200" dirty="0" err="1"/>
              <a:t>mengukur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Keduanya</a:t>
            </a:r>
            <a:r>
              <a:rPr lang="en-US" sz="1200" dirty="0"/>
              <a:t> </a:t>
            </a:r>
            <a:r>
              <a:rPr lang="en-US" sz="1200" dirty="0" err="1"/>
              <a:t>perlu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berkala</a:t>
            </a:r>
            <a:r>
              <a:rPr lang="en-US" sz="1200" dirty="0"/>
              <a:t>.</a:t>
            </a:r>
          </a:p>
        </p:txBody>
      </p:sp>
      <p:cxnSp>
        <p:nvCxnSpPr>
          <p:cNvPr id="9" name="Elbow Connector 8"/>
          <p:cNvCxnSpPr/>
          <p:nvPr/>
        </p:nvCxnSpPr>
        <p:spPr>
          <a:xfrm>
            <a:off x="3320143" y="1773381"/>
            <a:ext cx="6727371" cy="164276"/>
          </a:xfrm>
          <a:prstGeom prst="bentConnector3">
            <a:avLst>
              <a:gd name="adj1" fmla="val 436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63285" y="3714769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Inti </a:t>
            </a:r>
            <a:r>
              <a:rPr lang="en-US" sz="1600" b="1" dirty="0" err="1"/>
              <a:t>dari</a:t>
            </a:r>
            <a:r>
              <a:rPr lang="en-US" sz="1600" b="1" dirty="0"/>
              <a:t> </a:t>
            </a:r>
            <a:r>
              <a:rPr lang="en-US" sz="1600" b="1" dirty="0" err="1"/>
              <a:t>gambar</a:t>
            </a:r>
            <a:endParaRPr lang="en-US" sz="1600" b="1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b="1" dirty="0" err="1"/>
              <a:t>tidak</a:t>
            </a:r>
            <a:r>
              <a:rPr lang="en-US" sz="1200" b="1" dirty="0"/>
              <a:t> </a:t>
            </a:r>
            <a:r>
              <a:rPr lang="en-US" sz="1200" b="1" dirty="0" err="1"/>
              <a:t>langsung</a:t>
            </a:r>
            <a:r>
              <a:rPr lang="en-US" sz="1200" b="1" dirty="0"/>
              <a:t> </a:t>
            </a:r>
            <a:r>
              <a:rPr lang="en-US" sz="1200" b="1" dirty="0" err="1"/>
              <a:t>mengukur</a:t>
            </a:r>
            <a:r>
              <a:rPr lang="en-US" sz="1200" b="1" dirty="0"/>
              <a:t> </a:t>
            </a:r>
            <a:r>
              <a:rPr lang="en-US" sz="1200" b="1" dirty="0" err="1"/>
              <a:t>curah</a:t>
            </a:r>
            <a:r>
              <a:rPr lang="en-US" sz="1200" b="1" dirty="0"/>
              <a:t> </a:t>
            </a:r>
            <a:r>
              <a:rPr lang="en-US" sz="1200" b="1" dirty="0" err="1"/>
              <a:t>hujan</a:t>
            </a:r>
            <a:r>
              <a:rPr lang="en-US" sz="1200" b="1" dirty="0"/>
              <a:t> (mm/jam)</a:t>
            </a:r>
            <a:r>
              <a:rPr lang="en-US" sz="1200" dirty="0"/>
              <a:t>. 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b="1" dirty="0" err="1"/>
              <a:t>energi</a:t>
            </a:r>
            <a:r>
              <a:rPr lang="en-US" sz="1200" b="1" dirty="0"/>
              <a:t> </a:t>
            </a:r>
            <a:r>
              <a:rPr lang="en-US" sz="1200" b="1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  <a:r>
              <a:rPr lang="en-US" sz="1200" dirty="0" err="1"/>
              <a:t>Melalui</a:t>
            </a:r>
            <a:r>
              <a:rPr lang="en-US" sz="1200" dirty="0"/>
              <a:t> proses </a:t>
            </a:r>
            <a:r>
              <a:rPr lang="en-US" sz="1200" b="1" dirty="0" err="1"/>
              <a:t>kalibrasi</a:t>
            </a:r>
            <a:r>
              <a:rPr lang="en-US" sz="1200" b="1" dirty="0"/>
              <a:t> → </a:t>
            </a:r>
            <a:r>
              <a:rPr lang="en-US" sz="1200" b="1" dirty="0" err="1"/>
              <a:t>perhitungan</a:t>
            </a:r>
            <a:r>
              <a:rPr lang="en-US" sz="1200" b="1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(Z) → </a:t>
            </a:r>
            <a:r>
              <a:rPr lang="en-US" sz="1200" b="1" dirty="0" err="1"/>
              <a:t>konversi</a:t>
            </a:r>
            <a:r>
              <a:rPr lang="en-US" sz="1200" b="1" dirty="0"/>
              <a:t> Z-R</a:t>
            </a:r>
            <a:r>
              <a:rPr lang="en-US" sz="1200" dirty="0"/>
              <a:t>, </a:t>
            </a:r>
            <a:endParaRPr lang="en-US" sz="1200" dirty="0" smtClean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smtClean="0"/>
              <a:t>radar </a:t>
            </a:r>
            <a:r>
              <a:rPr lang="en-US" sz="1200" dirty="0" err="1"/>
              <a:t>akhirnya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memperkirakan</a:t>
            </a:r>
            <a:r>
              <a:rPr lang="en-US" sz="1200" dirty="0"/>
              <a:t> </a:t>
            </a:r>
            <a:r>
              <a:rPr lang="en-US" sz="1200" dirty="0" err="1"/>
              <a:t>intensitas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kemudian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b="1" dirty="0"/>
              <a:t>rain gauge</a:t>
            </a:r>
            <a:r>
              <a:rPr lang="en-US" sz="1200" dirty="0"/>
              <a:t> di </a:t>
            </a:r>
            <a:r>
              <a:rPr lang="en-US" sz="1200" dirty="0" err="1"/>
              <a:t>permukaan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memastikan</a:t>
            </a:r>
            <a:r>
              <a:rPr lang="en-US" sz="1200" dirty="0"/>
              <a:t> </a:t>
            </a:r>
            <a:r>
              <a:rPr lang="en-US" sz="1200" dirty="0" err="1"/>
              <a:t>akurasinya</a:t>
            </a:r>
            <a:r>
              <a:rPr lang="en-US" sz="1200" dirty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56" y="2710543"/>
            <a:ext cx="2971801" cy="3828620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6259285" y="4386943"/>
            <a:ext cx="413658" cy="3483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0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</a:t>
            </a:r>
            <a:r>
              <a:rPr lang="en-US" b="1" dirty="0" smtClean="0">
                <a:solidFill>
                  <a:srgbClr val="FF0000"/>
                </a:solidFill>
              </a:rPr>
              <a:t>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2044140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Sumbu</a:t>
            </a:r>
            <a:r>
              <a:rPr lang="en-US" b="1" dirty="0"/>
              <a:t> </a:t>
            </a:r>
            <a:r>
              <a:rPr lang="en-US" b="1" dirty="0" err="1"/>
              <a:t>Grafik</a:t>
            </a:r>
            <a:endParaRPr lang="en-US" b="1" dirty="0"/>
          </a:p>
          <a:p>
            <a:r>
              <a:rPr lang="en-US" sz="1200" b="1" dirty="0" err="1">
                <a:solidFill>
                  <a:srgbClr val="FF0000"/>
                </a:solidFill>
              </a:rPr>
              <a:t>Sumbu</a:t>
            </a:r>
            <a:r>
              <a:rPr lang="en-US" sz="1200" b="1" dirty="0">
                <a:solidFill>
                  <a:srgbClr val="FF0000"/>
                </a:solidFill>
              </a:rPr>
              <a:t> Horizontal (X)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118" y="2598138"/>
            <a:ext cx="857250" cy="3143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2913704"/>
            <a:ext cx="50509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radar.</a:t>
            </a:r>
          </a:p>
          <a:p>
            <a:pPr algn="just"/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-113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-57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/>
              <a:t>-20 </a:t>
            </a:r>
            <a:r>
              <a:rPr lang="en-US" sz="1200" dirty="0" err="1"/>
              <a:t>dBm</a:t>
            </a:r>
            <a:r>
              <a:rPr lang="en-US" sz="1200" dirty="0"/>
              <a:t>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kanan</a:t>
            </a:r>
            <a:r>
              <a:rPr lang="en-US" sz="1200" dirty="0"/>
              <a:t>,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285" y="4114033"/>
            <a:ext cx="13707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err="1">
                <a:solidFill>
                  <a:srgbClr val="FF0000"/>
                </a:solidFill>
              </a:rPr>
              <a:t>Sumbu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Vertikal</a:t>
            </a:r>
            <a:r>
              <a:rPr lang="en-US" sz="1200" b="1" dirty="0">
                <a:solidFill>
                  <a:srgbClr val="FF0000"/>
                </a:solidFill>
              </a:rPr>
              <a:t> (Y)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045" y="4391032"/>
            <a:ext cx="1390650" cy="2762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72212" y="4695534"/>
            <a:ext cx="5042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Nilai</a:t>
            </a:r>
            <a:r>
              <a:rPr lang="en-US" sz="1200" dirty="0"/>
              <a:t> digital </a:t>
            </a:r>
            <a:r>
              <a:rPr lang="en-US" sz="1200" dirty="0" err="1"/>
              <a:t>keluaran</a:t>
            </a:r>
            <a:r>
              <a:rPr lang="en-US" sz="1200" dirty="0"/>
              <a:t> receiver.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> yang </a:t>
            </a:r>
            <a:r>
              <a:rPr lang="en-US" sz="1200" dirty="0" err="1"/>
              <a:t>dibaca</a:t>
            </a:r>
            <a:r>
              <a:rPr lang="en-US" sz="1200" dirty="0"/>
              <a:t> </a:t>
            </a:r>
            <a:r>
              <a:rPr lang="en-US" sz="1200" b="1" dirty="0"/>
              <a:t>ADC (Analog-to-Digital Converter).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2212" y="5138536"/>
            <a:ext cx="504204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Daerah Noise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 smtClean="0"/>
              <a:t>: </a:t>
            </a:r>
            <a:r>
              <a:rPr lang="en-US" sz="1200" b="1" dirty="0" smtClean="0"/>
              <a:t>Noise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dimana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terlalu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dibedakan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noise </a:t>
            </a:r>
            <a:r>
              <a:rPr lang="en-US" sz="1200" dirty="0" err="1"/>
              <a:t>elektronik</a:t>
            </a:r>
            <a:r>
              <a:rPr lang="en-US" sz="1200" dirty="0"/>
              <a:t> receiver. </a:t>
            </a:r>
          </a:p>
          <a:p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ditunjukkan</a:t>
            </a:r>
            <a:r>
              <a:rPr lang="en-US" sz="1200" dirty="0"/>
              <a:t>: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045" y="6246532"/>
            <a:ext cx="1647825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14257" y="479915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MDS = </a:t>
            </a:r>
            <a:r>
              <a:rPr lang="en-US" sz="1200" b="1" dirty="0"/>
              <a:t>Minimum Detectable Signal</a:t>
            </a:r>
            <a:endParaRPr lang="en-US" sz="1200" dirty="0"/>
          </a:p>
          <a:p>
            <a:r>
              <a:rPr lang="en-US" sz="1200" dirty="0" err="1" smtClean="0"/>
              <a:t>Artinya</a:t>
            </a:r>
            <a:r>
              <a:rPr lang="en-US" sz="1200" dirty="0" smtClean="0"/>
              <a:t> Radar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mendeteksi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-113 </a:t>
            </a:r>
            <a:r>
              <a:rPr lang="en-US" sz="1200" dirty="0" err="1"/>
              <a:t>dBm</a:t>
            </a:r>
            <a:r>
              <a:rPr lang="en-US" sz="12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70560" y="5306982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/>
              <a:t>Contoh</a:t>
            </a:r>
            <a:endParaRPr lang="en-US" sz="1200" b="1" dirty="0"/>
          </a:p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-120 </a:t>
            </a:r>
            <a:r>
              <a:rPr lang="en-US" sz="1200" dirty="0" err="1"/>
              <a:t>dBm</a:t>
            </a:r>
            <a:r>
              <a:rPr lang="en-US" sz="1200" dirty="0"/>
              <a:t> </a:t>
            </a:r>
            <a:r>
              <a:rPr lang="en-US" sz="1200" dirty="0" smtClean="0"/>
              <a:t>, </a:t>
            </a:r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/>
              <a:t>radar </a:t>
            </a:r>
            <a:r>
              <a:rPr lang="en-US" sz="1200" dirty="0" err="1"/>
              <a:t>hampir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melihatnya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Jika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-110 </a:t>
            </a:r>
            <a:r>
              <a:rPr lang="en-US" sz="1200" dirty="0" err="1" smtClean="0"/>
              <a:t>dBm</a:t>
            </a:r>
            <a:r>
              <a:rPr lang="en-US" sz="1200" dirty="0" smtClean="0"/>
              <a:t>, </a:t>
            </a:r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dirty="0"/>
              <a:t>radar </a:t>
            </a:r>
            <a:r>
              <a:rPr lang="en-US" sz="1200" dirty="0" err="1"/>
              <a:t>mulai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mendeteksinya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503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</a:t>
            </a:r>
            <a:r>
              <a:rPr lang="en-US" b="1" dirty="0" smtClean="0">
                <a:solidFill>
                  <a:srgbClr val="FF0000"/>
                </a:solidFill>
              </a:rPr>
              <a:t>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7085" y="2085592"/>
            <a:ext cx="51271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 Daerah Linear (Paling </a:t>
            </a:r>
            <a:r>
              <a:rPr lang="en-US" b="1" dirty="0" err="1"/>
              <a:t>Penting</a:t>
            </a:r>
            <a:r>
              <a:rPr lang="en-US" b="1" dirty="0"/>
              <a:t>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/>
              <a:t> </a:t>
            </a:r>
            <a:r>
              <a:rPr lang="en-US" sz="1200" dirty="0" err="1"/>
              <a:t>grafik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garis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lurus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merah</a:t>
            </a:r>
            <a:r>
              <a:rPr lang="en-US" sz="1200" b="1" dirty="0" smtClean="0">
                <a:solidFill>
                  <a:srgbClr val="FF0000"/>
                </a:solidFill>
              </a:rPr>
              <a:t>. </a:t>
            </a:r>
            <a:r>
              <a:rPr lang="en-US" sz="1200" dirty="0" smtClean="0"/>
              <a:t>Di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berlaku</a:t>
            </a:r>
            <a:r>
              <a:rPr lang="en-US" sz="12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639590"/>
            <a:ext cx="723900" cy="3714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085" y="3079707"/>
            <a:ext cx="51271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  <a:r>
              <a:rPr lang="en-US" sz="1200" b="1" i="1" dirty="0"/>
              <a:t>10 dB</a:t>
            </a:r>
            <a:r>
              <a:rPr lang="en-US" sz="1200" dirty="0"/>
              <a:t>, </a:t>
            </a:r>
            <a:r>
              <a:rPr lang="en-US" sz="1200" dirty="0" err="1"/>
              <a:t>maka</a:t>
            </a:r>
            <a:r>
              <a:rPr lang="en-US" sz="1200" dirty="0"/>
              <a:t> output digital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proporsional</a:t>
            </a:r>
            <a:r>
              <a:rPr lang="en-US" sz="1200" dirty="0" smtClean="0"/>
              <a:t>. </a:t>
            </a:r>
            <a:r>
              <a:rPr lang="en-US" sz="1200" dirty="0" err="1" smtClean="0"/>
              <a:t>Ini</a:t>
            </a:r>
            <a:r>
              <a:rPr lang="en-US" sz="1200" dirty="0" smtClean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> ideal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Sebagian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pengukuran</a:t>
            </a:r>
            <a:r>
              <a:rPr lang="en-US" sz="1200" dirty="0"/>
              <a:t>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 di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85" y="3979346"/>
            <a:ext cx="5127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FF0000"/>
                </a:solidFill>
              </a:rPr>
              <a:t>Contoh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Panah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Merah</a:t>
            </a:r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:</a:t>
            </a:r>
          </a:p>
          <a:p>
            <a:r>
              <a:rPr lang="en-US" sz="1200" dirty="0" err="1"/>
              <a:t>Jika</a:t>
            </a:r>
            <a:r>
              <a:rPr lang="en-US" sz="1200" dirty="0"/>
              <a:t> receiver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 </a:t>
            </a:r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694319"/>
            <a:ext cx="847725" cy="2476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7085" y="5010611"/>
            <a:ext cx="2805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berdasarkan</a:t>
            </a:r>
            <a:r>
              <a:rPr lang="en-US" sz="1200" dirty="0"/>
              <a:t> </a:t>
            </a:r>
            <a:r>
              <a:rPr lang="en-US" sz="1200" dirty="0" err="1"/>
              <a:t>kurva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didapat</a:t>
            </a:r>
            <a:r>
              <a:rPr lang="en-US" sz="1200" dirty="0"/>
              <a:t>: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846" y="5326903"/>
            <a:ext cx="1304925" cy="31432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63285" y="5900449"/>
            <a:ext cx="15270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fungsi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: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1662" y="5900449"/>
            <a:ext cx="895350" cy="31432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701143" y="4745401"/>
            <a:ext cx="425631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Daerah </a:t>
            </a:r>
            <a:r>
              <a:rPr lang="en-US" b="1" dirty="0" err="1"/>
              <a:t>Saturasi</a:t>
            </a:r>
            <a:endParaRPr lang="en-US" b="1" dirty="0"/>
          </a:p>
          <a:p>
            <a:r>
              <a:rPr lang="en-US" sz="1200" dirty="0"/>
              <a:t>Di </a:t>
            </a:r>
            <a:r>
              <a:rPr lang="en-US" sz="1200" dirty="0" err="1"/>
              <a:t>kanan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 smtClean="0"/>
              <a:t>:  </a:t>
            </a:r>
            <a:r>
              <a:rPr lang="en-US" sz="1200" b="1" dirty="0" smtClean="0"/>
              <a:t>Saturation</a:t>
            </a:r>
            <a:endParaRPr lang="en-US" sz="1200" dirty="0"/>
          </a:p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Receiver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mencapai</a:t>
            </a:r>
            <a:r>
              <a:rPr lang="en-US" sz="1200" dirty="0"/>
              <a:t> </a:t>
            </a:r>
            <a:r>
              <a:rPr lang="en-US" sz="1200" dirty="0" err="1"/>
              <a:t>batas</a:t>
            </a:r>
            <a:r>
              <a:rPr lang="en-US" sz="1200" dirty="0"/>
              <a:t> </a:t>
            </a:r>
            <a:r>
              <a:rPr lang="en-US" sz="1200" dirty="0" err="1"/>
              <a:t>maksimum</a:t>
            </a:r>
            <a:r>
              <a:rPr lang="en-US" sz="1200" dirty="0" smtClean="0"/>
              <a:t>. </a:t>
            </a:r>
            <a:r>
              <a:rPr lang="en-US" sz="1200" dirty="0" err="1" smtClean="0"/>
              <a:t>Walaupun</a:t>
            </a:r>
            <a:r>
              <a:rPr lang="en-US" sz="1200" dirty="0" smtClean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terus</a:t>
            </a:r>
            <a:r>
              <a:rPr lang="en-US" sz="1200" dirty="0"/>
              <a:t> </a:t>
            </a:r>
            <a:r>
              <a:rPr lang="en-US" sz="1200" dirty="0" err="1"/>
              <a:t>bertambah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, output digital </a:t>
            </a:r>
            <a:r>
              <a:rPr lang="en-US" sz="1200" dirty="0" err="1"/>
              <a:t>hampir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bertambah</a:t>
            </a:r>
            <a:r>
              <a:rPr lang="en-US" sz="1200" dirty="0"/>
              <a:t> </a:t>
            </a:r>
            <a:r>
              <a:rPr lang="en-US" sz="1200" dirty="0" err="1"/>
              <a:t>lagi</a:t>
            </a:r>
            <a:r>
              <a:rPr lang="en-US" sz="1200" dirty="0" smtClean="0"/>
              <a:t>. </a:t>
            </a:r>
            <a:r>
              <a:rPr lang="en-US" sz="1200" dirty="0" err="1" smtClean="0"/>
              <a:t>Kurva</a:t>
            </a:r>
            <a:r>
              <a:rPr lang="en-US" sz="1200" dirty="0" smtClean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datar</a:t>
            </a:r>
            <a:r>
              <a:rPr lang="en-US" sz="1200" dirty="0"/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7457" y="4837734"/>
            <a:ext cx="388279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Analogi</a:t>
            </a:r>
            <a:endParaRPr lang="en-US" b="1" dirty="0"/>
          </a:p>
          <a:p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timbangan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kapasitas</a:t>
            </a:r>
            <a:r>
              <a:rPr lang="en-US" sz="1200" dirty="0"/>
              <a:t> 150 kg: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100 kg → </a:t>
            </a:r>
            <a:r>
              <a:rPr lang="en-US" sz="1200" dirty="0" err="1"/>
              <a:t>terbaca</a:t>
            </a:r>
            <a:r>
              <a:rPr lang="en-US" sz="1200" dirty="0"/>
              <a:t> normal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140 kg → </a:t>
            </a:r>
            <a:r>
              <a:rPr lang="en-US" sz="1200" dirty="0" err="1"/>
              <a:t>terbaca</a:t>
            </a:r>
            <a:r>
              <a:rPr lang="en-US" sz="1200" dirty="0"/>
              <a:t> normal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Berat</a:t>
            </a:r>
            <a:r>
              <a:rPr lang="en-US" sz="1200" dirty="0"/>
              <a:t> 180 kg → </a:t>
            </a:r>
            <a:r>
              <a:rPr lang="en-US" sz="1200" dirty="0" err="1"/>
              <a:t>tetap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maksimum</a:t>
            </a:r>
            <a:r>
              <a:rPr lang="en-US" sz="1200" dirty="0"/>
              <a:t> </a:t>
            </a:r>
          </a:p>
          <a:p>
            <a:r>
              <a:rPr lang="en-US" sz="1200" dirty="0"/>
              <a:t>Receiver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demikian</a:t>
            </a:r>
            <a:r>
              <a:rPr lang="en-US" sz="1200" dirty="0"/>
              <a:t>.</a:t>
            </a:r>
          </a:p>
        </p:txBody>
      </p:sp>
      <p:cxnSp>
        <p:nvCxnSpPr>
          <p:cNvPr id="28" name="Elbow Connector 27"/>
          <p:cNvCxnSpPr/>
          <p:nvPr/>
        </p:nvCxnSpPr>
        <p:spPr>
          <a:xfrm flipV="1">
            <a:off x="5638800" y="838200"/>
            <a:ext cx="5366657" cy="4103769"/>
          </a:xfrm>
          <a:prstGeom prst="bentConnector3">
            <a:avLst>
              <a:gd name="adj1" fmla="val 4107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57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</a:t>
            </a:r>
            <a:r>
              <a:rPr lang="en-US" b="1" dirty="0" smtClean="0">
                <a:solidFill>
                  <a:srgbClr val="FF0000"/>
                </a:solidFill>
              </a:rPr>
              <a:t>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2044140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5. Dynamic Range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</p:txBody>
      </p:sp>
      <p:cxnSp>
        <p:nvCxnSpPr>
          <p:cNvPr id="12" name="Elbow Connector 11"/>
          <p:cNvCxnSpPr/>
          <p:nvPr/>
        </p:nvCxnSpPr>
        <p:spPr>
          <a:xfrm>
            <a:off x="2122714" y="2253343"/>
            <a:ext cx="5257800" cy="1872343"/>
          </a:xfrm>
          <a:prstGeom prst="bentConnector3">
            <a:avLst>
              <a:gd name="adj1" fmla="val 578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51" y="2572430"/>
            <a:ext cx="2171700" cy="2762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63285" y="2895595"/>
            <a:ext cx="5050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/>
              <a:t>Radar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mulai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84" y="3430431"/>
            <a:ext cx="971550" cy="2667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83" y="4041796"/>
            <a:ext cx="895350" cy="2857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59297" y="3701925"/>
            <a:ext cx="11285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3285" y="4302879"/>
            <a:ext cx="9557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Rentangnya</a:t>
            </a:r>
            <a:r>
              <a:rPr lang="en-US" sz="1200" dirty="0"/>
              <a:t>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133" y="4683798"/>
            <a:ext cx="628650" cy="31432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59297" y="5124630"/>
            <a:ext cx="5054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dynamic range: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mendeteksi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bersamaan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radar.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4255" y="4698085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6. Kotak Abu-Abu di </a:t>
            </a:r>
            <a:r>
              <a:rPr lang="en-US" b="1" dirty="0" err="1"/>
              <a:t>Kanan</a:t>
            </a:r>
            <a:endParaRPr lang="en-US" b="1" dirty="0"/>
          </a:p>
          <a:p>
            <a:r>
              <a:rPr lang="en-US" sz="1200" dirty="0" err="1"/>
              <a:t>Tertulis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Peak transmitted power = 10610^6106 watt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Received power = 10−910^{-9}10−9 watt </a:t>
            </a:r>
          </a:p>
          <a:p>
            <a:r>
              <a:rPr lang="en-US" sz="1200" dirty="0" err="1"/>
              <a:t>Artinya</a:t>
            </a:r>
            <a:r>
              <a:rPr lang="en-US" sz="1200" dirty="0" smtClean="0"/>
              <a:t>: 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: </a:t>
            </a:r>
            <a:r>
              <a:rPr lang="en-US" sz="1200" b="1" i="1" dirty="0" smtClean="0">
                <a:solidFill>
                  <a:srgbClr val="002060"/>
                </a:solidFill>
              </a:rPr>
              <a:t>1.000.000 watt</a:t>
            </a:r>
            <a:endParaRPr lang="en-US" sz="1200" b="1" i="1" dirty="0">
              <a:solidFill>
                <a:srgbClr val="002060"/>
              </a:solidFill>
            </a:endParaRPr>
          </a:p>
        </p:txBody>
      </p:sp>
      <p:cxnSp>
        <p:nvCxnSpPr>
          <p:cNvPr id="32" name="Elbow Connector 31"/>
          <p:cNvCxnSpPr/>
          <p:nvPr/>
        </p:nvCxnSpPr>
        <p:spPr>
          <a:xfrm flipV="1">
            <a:off x="8792255" y="3189514"/>
            <a:ext cx="2605088" cy="2242457"/>
          </a:xfrm>
          <a:prstGeom prst="bentConnector3">
            <a:avLst>
              <a:gd name="adj1" fmla="val 10014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744255" y="5832120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200" dirty="0" err="1" smtClean="0"/>
              <a:t>Tetapi</a:t>
            </a:r>
            <a:r>
              <a:rPr lang="en-US" sz="1200" dirty="0" smtClean="0"/>
              <a:t>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menempuh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, yang </a:t>
            </a:r>
            <a:r>
              <a:rPr lang="en-US" sz="1200" dirty="0" err="1"/>
              <a:t>diterima</a:t>
            </a:r>
            <a:r>
              <a:rPr lang="en-US" sz="1200" dirty="0"/>
              <a:t> radar </a:t>
            </a:r>
            <a:r>
              <a:rPr lang="en-US" sz="1200" dirty="0" err="1" smtClean="0"/>
              <a:t>hanya</a:t>
            </a:r>
            <a:r>
              <a:rPr lang="en-US" sz="1200" dirty="0" smtClean="0"/>
              <a:t> </a:t>
            </a:r>
            <a:r>
              <a:rPr lang="en-US" sz="1200" b="1" i="1" dirty="0" smtClean="0">
                <a:solidFill>
                  <a:srgbClr val="002060"/>
                </a:solidFill>
              </a:rPr>
              <a:t>0,000000001</a:t>
            </a:r>
            <a:r>
              <a:rPr lang="en-US" sz="1200" b="1" i="1" dirty="0">
                <a:solidFill>
                  <a:srgbClr val="002060"/>
                </a:solidFill>
              </a:rPr>
              <a:t> </a:t>
            </a:r>
            <a:r>
              <a:rPr lang="en-US" sz="1200" b="1" i="1" dirty="0" smtClean="0">
                <a:solidFill>
                  <a:srgbClr val="002060"/>
                </a:solidFill>
              </a:rPr>
              <a:t>watt 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b="1" i="1" dirty="0" smtClean="0">
                <a:solidFill>
                  <a:srgbClr val="002060"/>
                </a:solidFill>
              </a:rPr>
              <a:t>1</a:t>
            </a:r>
            <a:r>
              <a:rPr lang="en-US" sz="1200" b="1" i="1" dirty="0">
                <a:solidFill>
                  <a:srgbClr val="002060"/>
                </a:solidFill>
              </a:rPr>
              <a:t> </a:t>
            </a:r>
            <a:r>
              <a:rPr lang="en-US" sz="1200" b="1" i="1" dirty="0" err="1" smtClean="0">
                <a:solidFill>
                  <a:srgbClr val="002060"/>
                </a:solidFill>
              </a:rPr>
              <a:t>nanowatt</a:t>
            </a:r>
            <a:r>
              <a:rPr lang="en-US" sz="1200" b="1" i="1" dirty="0" smtClean="0">
                <a:solidFill>
                  <a:srgbClr val="00206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Karena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itulah</a:t>
            </a:r>
            <a:r>
              <a:rPr lang="en-US" sz="1600" b="1" dirty="0">
                <a:solidFill>
                  <a:srgbClr val="FF0000"/>
                </a:solidFill>
              </a:rPr>
              <a:t> receiver radar </a:t>
            </a:r>
            <a:r>
              <a:rPr lang="en-US" sz="1600" b="1" dirty="0" err="1">
                <a:solidFill>
                  <a:srgbClr val="FF0000"/>
                </a:solidFill>
              </a:rPr>
              <a:t>harus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</a:rPr>
              <a:t>sangat</a:t>
            </a:r>
            <a:r>
              <a:rPr lang="en-US" sz="1600" b="1" dirty="0" smtClean="0">
                <a:solidFill>
                  <a:srgbClr val="FF0000"/>
                </a:solidFill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</a:rPr>
              <a:t>sensitif</a:t>
            </a:r>
            <a:r>
              <a:rPr lang="en-US" sz="16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0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PROSES KALIBRASI </a:t>
            </a:r>
            <a:r>
              <a:rPr lang="en-US" b="1" dirty="0" smtClean="0">
                <a:solidFill>
                  <a:srgbClr val="FF0000"/>
                </a:solidFill>
              </a:rPr>
              <a:t> RADAR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15" y="177577"/>
            <a:ext cx="6509140" cy="4379458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5050972" cy="129266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Gambar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fungsi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kalibrasi</a:t>
            </a:r>
            <a:r>
              <a:rPr lang="en-US" sz="1200" b="1" dirty="0">
                <a:solidFill>
                  <a:schemeClr val="bg1"/>
                </a:solidFill>
              </a:rPr>
              <a:t> radar (Radar Calibration Function)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hubungan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antara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 err="1">
                <a:solidFill>
                  <a:schemeClr val="bg1"/>
                </a:solidFill>
              </a:rPr>
              <a:t>Pr</a:t>
            </a:r>
            <a:r>
              <a:rPr lang="en-US" sz="1200" b="1" dirty="0">
                <a:solidFill>
                  <a:schemeClr val="bg1"/>
                </a:solidFill>
              </a:rPr>
              <a:t> (Received Power)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daya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pantulan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diterima</a:t>
            </a:r>
            <a:r>
              <a:rPr lang="en-US" sz="1200" dirty="0">
                <a:solidFill>
                  <a:schemeClr val="bg1"/>
                </a:solidFill>
              </a:rPr>
              <a:t> radar (</a:t>
            </a:r>
            <a:r>
              <a:rPr lang="en-US" sz="1200" dirty="0" err="1">
                <a:solidFill>
                  <a:schemeClr val="bg1"/>
                </a:solidFill>
              </a:rPr>
              <a:t>dBm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</a:rPr>
              <a:t>U (AD Counts)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nilai</a:t>
            </a:r>
            <a:r>
              <a:rPr lang="en-US" sz="1200" dirty="0">
                <a:solidFill>
                  <a:schemeClr val="bg1"/>
                </a:solidFill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</a:rPr>
              <a:t>dibaca</a:t>
            </a:r>
            <a:r>
              <a:rPr lang="en-US" sz="1200" dirty="0">
                <a:solidFill>
                  <a:schemeClr val="bg1"/>
                </a:solidFill>
              </a:rPr>
              <a:t> receiver radar </a:t>
            </a:r>
          </a:p>
          <a:p>
            <a:pPr algn="just"/>
            <a:r>
              <a:rPr lang="en-US" sz="1200" dirty="0" err="1">
                <a:solidFill>
                  <a:schemeClr val="bg1"/>
                </a:solidFill>
              </a:rPr>
              <a:t>Kalibrasi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sangat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penting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radar </a:t>
            </a:r>
            <a:r>
              <a:rPr lang="en-US" sz="1200" dirty="0" err="1">
                <a:solidFill>
                  <a:schemeClr val="bg1"/>
                </a:solidFill>
              </a:rPr>
              <a:t>sebenarnya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langsung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mengukur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dBZ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melainkan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membaca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sinyal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receiver.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85" y="1962835"/>
            <a:ext cx="50509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dBZ</a:t>
            </a:r>
            <a:endParaRPr lang="en-US" b="1" dirty="0"/>
          </a:p>
          <a:p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memperoleh</a:t>
            </a:r>
            <a:r>
              <a:rPr lang="en-US" sz="12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12" y="2405743"/>
            <a:ext cx="333375" cy="30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3285" y="2765362"/>
            <a:ext cx="5050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kurva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, radar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b="1" dirty="0"/>
              <a:t>Radar Equation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312" y="3246956"/>
            <a:ext cx="209550" cy="228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53848" y="3222756"/>
            <a:ext cx="10458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reflektivitas</a:t>
            </a:r>
            <a:r>
              <a:rPr lang="en-US" sz="1200" dirty="0"/>
              <a:t>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866" y="3466514"/>
            <a:ext cx="9668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/>
              <a:t>Kemudian</a:t>
            </a:r>
            <a:r>
              <a:rPr lang="en-US" sz="1400" dirty="0"/>
              <a:t>: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540" y="3962395"/>
            <a:ext cx="2228850" cy="3143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60714" y="4552955"/>
            <a:ext cx="10058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diatas</a:t>
            </a:r>
            <a:r>
              <a:rPr lang="en-US" sz="1200" dirty="0" smtClean="0"/>
              <a:t> 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 err="1"/>
              <a:t>kurva</a:t>
            </a:r>
            <a:r>
              <a:rPr lang="en-US" sz="1200" b="1" dirty="0"/>
              <a:t> </a:t>
            </a:r>
            <a:r>
              <a:rPr lang="en-US" sz="1200" b="1" dirty="0" err="1"/>
              <a:t>kalibrasi</a:t>
            </a:r>
            <a:r>
              <a:rPr lang="en-US" sz="1200" b="1" dirty="0"/>
              <a:t> receiver radar</a:t>
            </a:r>
            <a:r>
              <a:rPr lang="en-US" sz="1200" dirty="0"/>
              <a:t>,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 (</a:t>
            </a:r>
            <a:r>
              <a:rPr lang="en-US" sz="1200" b="1" dirty="0" err="1"/>
              <a:t>Pr</a:t>
            </a:r>
            <a:r>
              <a:rPr lang="en-US" sz="1200" dirty="0"/>
              <a:t>)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digital yang </a:t>
            </a:r>
            <a:r>
              <a:rPr lang="en-US" sz="1200" dirty="0" err="1"/>
              <a:t>dibaca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(</a:t>
            </a:r>
            <a:r>
              <a:rPr lang="en-US" sz="1200" b="1" dirty="0"/>
              <a:t>U</a:t>
            </a:r>
            <a:r>
              <a:rPr lang="en-US" sz="1200" dirty="0"/>
              <a:t>).</a:t>
            </a:r>
          </a:p>
          <a:p>
            <a:pPr algn="just"/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tiga</a:t>
            </a:r>
            <a:r>
              <a:rPr lang="en-US" sz="1200" dirty="0"/>
              <a:t> </a:t>
            </a:r>
            <a:r>
              <a:rPr lang="en-US" sz="1200" dirty="0" err="1"/>
              <a:t>daerah</a:t>
            </a:r>
            <a:r>
              <a:rPr lang="en-US" sz="1200" dirty="0"/>
              <a:t> </a:t>
            </a:r>
            <a:r>
              <a:rPr lang="en-US" sz="1200" dirty="0" err="1"/>
              <a:t>utama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Noise Region</a:t>
            </a:r>
            <a:r>
              <a:rPr lang="en-US" sz="1200" dirty="0">
                <a:solidFill>
                  <a:srgbClr val="002060"/>
                </a:solidFill>
              </a:rPr>
              <a:t> (&lt; -113 </a:t>
            </a:r>
            <a:r>
              <a:rPr lang="en-US" sz="1200" dirty="0" err="1">
                <a:solidFill>
                  <a:srgbClr val="002060"/>
                </a:solidFill>
              </a:rPr>
              <a:t>dBm</a:t>
            </a:r>
            <a:r>
              <a:rPr lang="en-US" sz="1200" dirty="0">
                <a:solidFill>
                  <a:srgbClr val="002060"/>
                </a:solidFill>
              </a:rPr>
              <a:t>) → </a:t>
            </a:r>
            <a:r>
              <a:rPr lang="en-US" sz="1200" dirty="0" err="1">
                <a:solidFill>
                  <a:srgbClr val="002060"/>
                </a:solidFill>
              </a:rPr>
              <a:t>sinyal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terlalu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lemah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dideteksi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Linear Region</a:t>
            </a:r>
            <a:r>
              <a:rPr lang="en-US" sz="1200" dirty="0">
                <a:solidFill>
                  <a:srgbClr val="002060"/>
                </a:solidFill>
              </a:rPr>
              <a:t> → </a:t>
            </a:r>
            <a:r>
              <a:rPr lang="en-US" sz="1200" dirty="0" err="1">
                <a:solidFill>
                  <a:srgbClr val="002060"/>
                </a:solidFill>
              </a:rPr>
              <a:t>daerah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kerja</a:t>
            </a:r>
            <a:r>
              <a:rPr lang="en-US" sz="1200" dirty="0">
                <a:solidFill>
                  <a:srgbClr val="002060"/>
                </a:solidFill>
              </a:rPr>
              <a:t> ideal </a:t>
            </a:r>
            <a:r>
              <a:rPr lang="en-US" sz="1200" dirty="0" err="1">
                <a:solidFill>
                  <a:srgbClr val="002060"/>
                </a:solidFill>
              </a:rPr>
              <a:t>tempat</a:t>
            </a:r>
            <a:r>
              <a:rPr lang="en-US" sz="1200" dirty="0">
                <a:solidFill>
                  <a:srgbClr val="002060"/>
                </a:solidFill>
              </a:rPr>
              <a:t> radar </a:t>
            </a:r>
            <a:r>
              <a:rPr lang="en-US" sz="1200" dirty="0" err="1">
                <a:solidFill>
                  <a:srgbClr val="002060"/>
                </a:solidFill>
              </a:rPr>
              <a:t>mengukur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hujan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secara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akurat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Saturation Region</a:t>
            </a:r>
            <a:r>
              <a:rPr lang="en-US" sz="1200" dirty="0">
                <a:solidFill>
                  <a:srgbClr val="002060"/>
                </a:solidFill>
              </a:rPr>
              <a:t> → </a:t>
            </a:r>
            <a:r>
              <a:rPr lang="en-US" sz="1200" dirty="0" err="1">
                <a:solidFill>
                  <a:srgbClr val="002060"/>
                </a:solidFill>
              </a:rPr>
              <a:t>sinyal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terlalu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kuat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sehingga</a:t>
            </a:r>
            <a:r>
              <a:rPr lang="en-US" sz="1200" dirty="0">
                <a:solidFill>
                  <a:srgbClr val="002060"/>
                </a:solidFill>
              </a:rPr>
              <a:t> receiver </a:t>
            </a:r>
            <a:r>
              <a:rPr lang="en-US" sz="1200" dirty="0" err="1">
                <a:solidFill>
                  <a:srgbClr val="002060"/>
                </a:solidFill>
              </a:rPr>
              <a:t>mulai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jenuh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</a:p>
          <a:p>
            <a:pPr algn="just"/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002060"/>
                </a:solidFill>
              </a:rPr>
              <a:t>Dynamic Range = 95 dB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radar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hingga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tanpa</a:t>
            </a:r>
            <a:r>
              <a:rPr lang="en-US" sz="1200" dirty="0"/>
              <a:t> </a:t>
            </a:r>
            <a:r>
              <a:rPr lang="en-US" sz="1200" dirty="0" err="1"/>
              <a:t>kehilangan</a:t>
            </a:r>
            <a:r>
              <a:rPr lang="en-US" sz="1200" dirty="0"/>
              <a:t> </a:t>
            </a:r>
            <a:r>
              <a:rPr lang="en-US" sz="1200" dirty="0" err="1"/>
              <a:t>akurasi</a:t>
            </a:r>
            <a:r>
              <a:rPr lang="en-US" sz="1200" dirty="0"/>
              <a:t>.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salah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parameter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performa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modern.</a:t>
            </a:r>
          </a:p>
        </p:txBody>
      </p:sp>
    </p:spTree>
    <p:extLst>
      <p:ext uri="{BB962C8B-B14F-4D97-AF65-F5344CB8AC3E}">
        <p14:creationId xmlns:p14="http://schemas.microsoft.com/office/powerpoint/2010/main" val="165160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982" y="177577"/>
            <a:ext cx="6116149" cy="2000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546909"/>
            <a:ext cx="5726697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konsep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Radar Reflectivity (</a:t>
            </a:r>
            <a:r>
              <a:rPr lang="en-US" sz="1200" b="1" dirty="0" err="1">
                <a:solidFill>
                  <a:schemeClr val="bg1"/>
                </a:solidFill>
              </a:rPr>
              <a:t>Reflektivitas</a:t>
            </a:r>
            <a:r>
              <a:rPr lang="en-US" sz="1200" b="1" dirty="0">
                <a:solidFill>
                  <a:schemeClr val="bg1"/>
                </a:solidFill>
              </a:rPr>
              <a:t> Radar)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ukuran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kemampuan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suatu</a:t>
            </a:r>
            <a:r>
              <a:rPr lang="en-US" sz="1200" dirty="0">
                <a:solidFill>
                  <a:schemeClr val="bg1"/>
                </a:solidFill>
              </a:rPr>
              <a:t> target (</a:t>
            </a:r>
            <a:r>
              <a:rPr lang="en-US" sz="1200" dirty="0" err="1">
                <a:solidFill>
                  <a:schemeClr val="bg1"/>
                </a:solidFill>
              </a:rPr>
              <a:t>tetes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hujan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es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salju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atau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hidrometeor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lainnya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  <a:r>
              <a:rPr lang="en-US" sz="1200" dirty="0" err="1">
                <a:solidFill>
                  <a:schemeClr val="bg1"/>
                </a:solidFill>
              </a:rPr>
              <a:t>dalam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memantulkan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kembali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energi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gelombang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antena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3285" y="1285573"/>
            <a:ext cx="5726697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Reflektivitas</a:t>
            </a:r>
            <a:r>
              <a:rPr lang="en-US" b="1" dirty="0"/>
              <a:t> (Z)?</a:t>
            </a:r>
          </a:p>
          <a:p>
            <a:pPr algn="just"/>
            <a:r>
              <a:rPr lang="en-US" sz="1200" dirty="0" err="1"/>
              <a:t>Ketika</a:t>
            </a:r>
            <a:r>
              <a:rPr lang="en-US" sz="1200" dirty="0"/>
              <a:t> radar </a:t>
            </a:r>
            <a:r>
              <a:rPr lang="en-US" sz="1200" dirty="0" err="1"/>
              <a:t>memancarkan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elektromagnetik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(backscatter).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menerima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dirty="0"/>
              <a:t>Dari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 </a:t>
            </a:r>
            <a:r>
              <a:rPr lang="en-US" sz="1200" dirty="0" err="1"/>
              <a:t>dihitung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/>
              <a:t>Z (Reflectivity Factor)</a:t>
            </a:r>
            <a:r>
              <a:rPr lang="en-US" sz="1200" dirty="0"/>
              <a:t>. </a:t>
            </a:r>
            <a:r>
              <a:rPr lang="en-US" sz="1200" dirty="0" err="1" smtClean="0"/>
              <a:t>Semakin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Z: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5" y="3088528"/>
            <a:ext cx="57266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Penjelasan</a:t>
            </a:r>
            <a:r>
              <a:rPr lang="en-US" b="1" dirty="0"/>
              <a:t> </a:t>
            </a:r>
            <a:r>
              <a:rPr lang="en-US" b="1" dirty="0" err="1"/>
              <a:t>Gambar</a:t>
            </a:r>
            <a:endParaRPr lang="en-US" b="1" dirty="0"/>
          </a:p>
          <a:p>
            <a:r>
              <a:rPr lang="en-US" sz="1400" b="1" dirty="0">
                <a:solidFill>
                  <a:srgbClr val="FF0000"/>
                </a:solidFill>
              </a:rPr>
              <a:t>1. Radar </a:t>
            </a:r>
            <a:r>
              <a:rPr lang="en-US" sz="1400" b="1" dirty="0" err="1">
                <a:solidFill>
                  <a:srgbClr val="FF0000"/>
                </a:solidFill>
              </a:rPr>
              <a:t>Memancarkan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Gelombang</a:t>
            </a:r>
            <a:endParaRPr lang="en-US" sz="1400" b="1" dirty="0">
              <a:solidFill>
                <a:srgbClr val="FF0000"/>
              </a:solidFill>
            </a:endParaRPr>
          </a:p>
          <a:p>
            <a:pPr algn="just"/>
            <a:r>
              <a:rPr lang="en-US" sz="1200" dirty="0"/>
              <a:t>Di </a:t>
            </a:r>
            <a:r>
              <a:rPr lang="en-US" sz="1200" dirty="0" err="1"/>
              <a:t>sebelah</a:t>
            </a:r>
            <a:r>
              <a:rPr lang="en-US" sz="1200" dirty="0"/>
              <a:t> </a:t>
            </a:r>
            <a:r>
              <a:rPr lang="en-US" sz="1200" dirty="0" err="1"/>
              <a:t>kiri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radar</a:t>
            </a:r>
            <a:r>
              <a:rPr lang="en-US" sz="1200" dirty="0" smtClean="0"/>
              <a:t>. Radar </a:t>
            </a:r>
            <a:r>
              <a:rPr lang="en-US" sz="1200" dirty="0" err="1"/>
              <a:t>mengirimkan</a:t>
            </a:r>
            <a:r>
              <a:rPr lang="en-US" sz="1200" dirty="0"/>
              <a:t> </a:t>
            </a:r>
            <a:r>
              <a:rPr lang="en-US" sz="1200" dirty="0" err="1"/>
              <a:t>pulsa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radio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6414" y="3974467"/>
            <a:ext cx="24175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Radar →→→→→→→ </a:t>
            </a:r>
            <a:r>
              <a:rPr lang="en-US" sz="1200" b="1" dirty="0" smtClean="0">
                <a:solidFill>
                  <a:srgbClr val="0070C0"/>
                </a:solidFill>
              </a:rPr>
              <a:t>Awan/</a:t>
            </a:r>
            <a:r>
              <a:rPr lang="en-US" sz="1200" b="1" dirty="0" err="1" smtClean="0">
                <a:solidFill>
                  <a:srgbClr val="0070C0"/>
                </a:solidFill>
              </a:rPr>
              <a:t>Hujan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63285" y="4293482"/>
            <a:ext cx="572669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</a:t>
            </a:r>
            <a:r>
              <a:rPr lang="en-US" sz="1400" b="1" dirty="0" err="1">
                <a:solidFill>
                  <a:srgbClr val="FF0000"/>
                </a:solidFill>
              </a:rPr>
              <a:t>Gelombang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Mengenai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Hujan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/>
              <a:t>Di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/>
              <a:t> </a:t>
            </a:r>
            <a:r>
              <a:rPr lang="en-US" sz="1200" dirty="0" err="1"/>
              <a:t>diperlihatkan</a:t>
            </a:r>
            <a:r>
              <a:rPr lang="en-US" sz="1200" dirty="0"/>
              <a:t> </a:t>
            </a:r>
            <a:r>
              <a:rPr lang="en-US" sz="1200" dirty="0" err="1"/>
              <a:t>berbagai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Terdapat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Setiap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Panah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yang </a:t>
            </a:r>
            <a:r>
              <a:rPr lang="en-US" sz="1200" dirty="0" err="1"/>
              <a:t>mengarah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/>
              <a:t>backscatter</a:t>
            </a:r>
            <a:r>
              <a:rPr lang="en-US" sz="1200" dirty="0"/>
              <a:t> (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balik</a:t>
            </a:r>
            <a:r>
              <a:rPr lang="en-US" sz="1200" dirty="0"/>
              <a:t>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2185698"/>
            <a:ext cx="591013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Radar </a:t>
            </a:r>
            <a:r>
              <a:rPr lang="en-US" sz="1400" b="1" dirty="0" err="1">
                <a:solidFill>
                  <a:srgbClr val="FF0000"/>
                </a:solidFill>
              </a:rPr>
              <a:t>Menerima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Pantulan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 smtClean="0"/>
              <a:t>menghitung</a:t>
            </a:r>
            <a:r>
              <a:rPr lang="en-US" sz="1200" dirty="0"/>
              <a:t> </a:t>
            </a:r>
            <a:r>
              <a:rPr lang="en-US" sz="1200" i="1" dirty="0" smtClean="0"/>
              <a:t>Z, </a:t>
            </a:r>
            <a:endParaRPr lang="en-US" sz="1200" i="1" dirty="0"/>
          </a:p>
        </p:txBody>
      </p:sp>
      <p:sp>
        <p:nvSpPr>
          <p:cNvPr id="24" name="Rectangle 23"/>
          <p:cNvSpPr/>
          <p:nvPr/>
        </p:nvSpPr>
        <p:spPr>
          <a:xfrm>
            <a:off x="6096000" y="2628728"/>
            <a:ext cx="591013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operasional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ditampilkan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06" y="2938129"/>
            <a:ext cx="514350" cy="3048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096000" y="3304079"/>
            <a:ext cx="591013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Faktor</a:t>
            </a:r>
            <a:r>
              <a:rPr lang="en-US" b="1" dirty="0"/>
              <a:t> yang </a:t>
            </a:r>
            <a:r>
              <a:rPr lang="en-US" b="1" dirty="0" err="1"/>
              <a:t>Mempengaruhi</a:t>
            </a:r>
            <a:r>
              <a:rPr lang="en-US" b="1" dirty="0"/>
              <a:t> </a:t>
            </a:r>
            <a:r>
              <a:rPr lang="en-US" b="1" dirty="0" err="1"/>
              <a:t>Reflektivitas</a:t>
            </a:r>
            <a:endParaRPr lang="en-US" b="1" dirty="0"/>
          </a:p>
          <a:p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dijelaskan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0" y="3858077"/>
            <a:ext cx="591013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A. </a:t>
            </a:r>
            <a:r>
              <a:rPr lang="en-US" sz="1400" b="1" dirty="0" err="1">
                <a:solidFill>
                  <a:srgbClr val="FF0000"/>
                </a:solidFill>
              </a:rPr>
              <a:t>Ukuran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(Size)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 paling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877677"/>
              </p:ext>
            </p:extLst>
          </p:nvPr>
        </p:nvGraphicFramePr>
        <p:xfrm>
          <a:off x="6169477" y="4730056"/>
          <a:ext cx="4528458" cy="1163864"/>
        </p:xfrm>
        <a:graphic>
          <a:graphicData uri="http://schemas.openxmlformats.org/drawingml/2006/table">
            <a:tbl>
              <a:tblPr/>
              <a:tblGrid>
                <a:gridCol w="2264229">
                  <a:extLst>
                    <a:ext uri="{9D8B030D-6E8A-4147-A177-3AD203B41FA5}">
                      <a16:colId xmlns:a16="http://schemas.microsoft.com/office/drawing/2014/main" val="4027224428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499391470"/>
                    </a:ext>
                  </a:extLst>
                </a:gridCol>
              </a:tblGrid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Diameter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Tetes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Pantulan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967567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0,5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70C0"/>
                          </a:solidFill>
                        </a:rPr>
                        <a:t>Kecil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466930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2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70C0"/>
                          </a:solidFill>
                        </a:rPr>
                        <a:t>Besar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441649"/>
                  </a:ext>
                </a:extLst>
              </a:tr>
              <a:tr h="29096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5 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70C0"/>
                          </a:solidFill>
                        </a:rPr>
                        <a:t>Sangat</a:t>
                      </a: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070C0"/>
                          </a:solidFill>
                        </a:rPr>
                        <a:t>besar</a:t>
                      </a:r>
                      <a:endParaRPr lang="en-US" sz="1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30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00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982" y="177577"/>
            <a:ext cx="6116149" cy="2000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5" y="546909"/>
            <a:ext cx="5726697" cy="738664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bg1"/>
                </a:solidFill>
              </a:rPr>
              <a:t>Gambar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disamping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menjelaskan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konsep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Radar Reflectivity (</a:t>
            </a:r>
            <a:r>
              <a:rPr lang="en-US" sz="1200" b="1" dirty="0" err="1">
                <a:solidFill>
                  <a:schemeClr val="bg1"/>
                </a:solidFill>
              </a:rPr>
              <a:t>Reflektivitas</a:t>
            </a:r>
            <a:r>
              <a:rPr lang="en-US" sz="1200" b="1" dirty="0">
                <a:solidFill>
                  <a:schemeClr val="bg1"/>
                </a:solidFill>
              </a:rPr>
              <a:t> Radar)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ukuran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kemampuan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suatu</a:t>
            </a:r>
            <a:r>
              <a:rPr lang="en-US" sz="1200" dirty="0">
                <a:solidFill>
                  <a:schemeClr val="bg1"/>
                </a:solidFill>
              </a:rPr>
              <a:t> target (</a:t>
            </a:r>
            <a:r>
              <a:rPr lang="en-US" sz="1200" dirty="0" err="1">
                <a:solidFill>
                  <a:schemeClr val="bg1"/>
                </a:solidFill>
              </a:rPr>
              <a:t>tetes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hujan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es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salju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atau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hidrometeor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lainnya</a:t>
            </a:r>
            <a:r>
              <a:rPr lang="en-US" sz="1200" dirty="0">
                <a:solidFill>
                  <a:schemeClr val="bg1"/>
                </a:solidFill>
              </a:rPr>
              <a:t>) </a:t>
            </a:r>
            <a:r>
              <a:rPr lang="en-US" sz="1200" dirty="0" err="1">
                <a:solidFill>
                  <a:schemeClr val="bg1"/>
                </a:solidFill>
              </a:rPr>
              <a:t>dalam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memantulkan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kembali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energi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gelombang</a:t>
            </a:r>
            <a:r>
              <a:rPr lang="en-US" sz="1200" b="1" dirty="0">
                <a:solidFill>
                  <a:schemeClr val="bg1"/>
                </a:solidFill>
              </a:rPr>
              <a:t> radar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antena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285" y="1377906"/>
            <a:ext cx="1778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teori</a:t>
            </a:r>
            <a:r>
              <a:rPr lang="en-US" sz="1200" dirty="0"/>
              <a:t> radar: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346" y="1575788"/>
            <a:ext cx="771525" cy="342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3285" y="1918688"/>
            <a:ext cx="57266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i="1" dirty="0"/>
              <a:t>D</a:t>
            </a:r>
            <a:r>
              <a:rPr lang="en-US" sz="1200" dirty="0"/>
              <a:t> = diameter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Artinya</a:t>
            </a:r>
            <a:r>
              <a:rPr lang="en-US" sz="1200" dirty="0"/>
              <a:t>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peningkatan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peningkatan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. </a:t>
            </a:r>
            <a:r>
              <a:rPr lang="en-US" sz="1200" dirty="0" err="1" smtClean="0"/>
              <a:t>Contoh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2 mm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64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dibanding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1 mm. </a:t>
            </a:r>
            <a:r>
              <a:rPr lang="en-US" sz="1200" dirty="0" err="1" smtClean="0"/>
              <a:t>Karena</a:t>
            </a:r>
            <a:r>
              <a:rPr lang="en-US" sz="1200" dirty="0"/>
              <a:t>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842" y="2837255"/>
            <a:ext cx="733425" cy="3524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3211617"/>
            <a:ext cx="5726697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B. </a:t>
            </a:r>
            <a:r>
              <a:rPr lang="en-US" sz="1400" b="1" dirty="0" err="1">
                <a:solidFill>
                  <a:srgbClr val="FF0000"/>
                </a:solidFill>
              </a:rPr>
              <a:t>Konsentrasi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volume </a:t>
            </a:r>
            <a:r>
              <a:rPr lang="en-US" sz="1200" dirty="0" err="1"/>
              <a:t>udara</a:t>
            </a:r>
            <a:r>
              <a:rPr lang="en-US" sz="1200" dirty="0" smtClean="0"/>
              <a:t>. </a:t>
            </a:r>
            <a:r>
              <a:rPr lang="en-US" sz="1200" dirty="0" err="1" smtClean="0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Gerimis</a:t>
            </a:r>
            <a:r>
              <a:rPr lang="en-US" sz="1200" dirty="0"/>
              <a:t> →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lebat</a:t>
            </a:r>
            <a:r>
              <a:rPr lang="en-US" sz="1200" dirty="0"/>
              <a:t> →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 smtClean="0"/>
              <a:t>: →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meningkat</a:t>
            </a:r>
            <a:r>
              <a:rPr lang="en-US" sz="12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810" y="2810942"/>
            <a:ext cx="415834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C. </a:t>
            </a:r>
            <a:r>
              <a:rPr lang="en-US" sz="1400" b="1" dirty="0" err="1">
                <a:solidFill>
                  <a:srgbClr val="FF0000"/>
                </a:solidFill>
              </a:rPr>
              <a:t>Fase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(State)</a:t>
            </a:r>
          </a:p>
          <a:p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Campuran</a:t>
            </a:r>
            <a:r>
              <a:rPr lang="en-US" sz="1200" dirty="0"/>
              <a:t> air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itu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Salju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88320" y="2177827"/>
            <a:ext cx="358139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D. </a:t>
            </a:r>
            <a:r>
              <a:rPr lang="en-US" sz="1400" b="1" dirty="0" err="1">
                <a:solidFill>
                  <a:srgbClr val="FF0000"/>
                </a:solidFill>
              </a:rPr>
              <a:t>Bentuk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Partikel</a:t>
            </a:r>
            <a:r>
              <a:rPr lang="en-US" sz="1400" b="1" dirty="0">
                <a:solidFill>
                  <a:srgbClr val="FF0000"/>
                </a:solidFill>
              </a:rPr>
              <a:t> (Shape)</a:t>
            </a:r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Bulat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Pipih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Lonjong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Bentuk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dipantulkan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radar </a:t>
            </a:r>
            <a:r>
              <a:rPr lang="en-US" sz="1200" dirty="0" err="1"/>
              <a:t>polarimetrik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membedakan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Es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 (hail)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3285" y="4683616"/>
            <a:ext cx="42500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Mengapa</a:t>
            </a:r>
            <a:r>
              <a:rPr lang="en-US" b="1" dirty="0"/>
              <a:t> </a:t>
            </a:r>
            <a:r>
              <a:rPr lang="en-US" b="1" dirty="0" err="1"/>
              <a:t>Ukuran</a:t>
            </a:r>
            <a:r>
              <a:rPr lang="en-US" b="1" dirty="0"/>
              <a:t> </a:t>
            </a:r>
            <a:r>
              <a:rPr lang="en-US" b="1" dirty="0" err="1" smtClean="0"/>
              <a:t>Partikel</a:t>
            </a:r>
            <a:r>
              <a:rPr lang="en-US" b="1" dirty="0" smtClean="0"/>
              <a:t> </a:t>
            </a:r>
            <a:r>
              <a:rPr lang="en-US" b="1" dirty="0" err="1" smtClean="0"/>
              <a:t>Sangat</a:t>
            </a:r>
            <a:r>
              <a:rPr lang="en-US" b="1" dirty="0" smtClean="0"/>
              <a:t> </a:t>
            </a:r>
            <a:r>
              <a:rPr lang="en-US" b="1" dirty="0" err="1"/>
              <a:t>Penting</a:t>
            </a:r>
            <a:r>
              <a:rPr lang="en-US" b="1" dirty="0"/>
              <a:t>?</a:t>
            </a:r>
          </a:p>
          <a:p>
            <a:pPr algn="just"/>
            <a:r>
              <a:rPr lang="en-US" sz="1200" dirty="0" err="1"/>
              <a:t>Perhatikan</a:t>
            </a:r>
            <a:r>
              <a:rPr lang="en-US" sz="1200" dirty="0"/>
              <a:t> </a:t>
            </a:r>
            <a:r>
              <a:rPr lang="en-US" sz="1200" dirty="0" err="1"/>
              <a:t>lingkaran</a:t>
            </a:r>
            <a:r>
              <a:rPr lang="en-US" sz="1200" dirty="0"/>
              <a:t> </a:t>
            </a:r>
            <a:r>
              <a:rPr lang="en-US" sz="1200" dirty="0" err="1"/>
              <a:t>tengah</a:t>
            </a:r>
            <a:r>
              <a:rPr lang="en-US" sz="1200" dirty="0" smtClean="0"/>
              <a:t>. </a:t>
            </a:r>
            <a:r>
              <a:rPr lang="en-US" sz="1200" dirty="0" err="1" smtClean="0"/>
              <a:t>Terdapat</a:t>
            </a:r>
            <a:r>
              <a:rPr lang="en-US" sz="1200" dirty="0" smtClean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. </a:t>
            </a:r>
            <a:r>
              <a:rPr lang="en-US" sz="1200" dirty="0" err="1" smtClean="0"/>
              <a:t>Partikel</a:t>
            </a:r>
            <a:r>
              <a:rPr lang="en-US" sz="1200" dirty="0" smtClean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Itulah</a:t>
            </a:r>
            <a:r>
              <a:rPr lang="en-US" sz="1200" dirty="0"/>
              <a:t> </a:t>
            </a:r>
            <a:r>
              <a:rPr lang="en-US" sz="1200" dirty="0" err="1"/>
              <a:t>sebabnya</a:t>
            </a:r>
            <a:r>
              <a:rPr lang="en-US" sz="1200" dirty="0"/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284" y="5606946"/>
            <a:ext cx="42500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err="1" smtClean="0">
                <a:solidFill>
                  <a:srgbClr val="FF0000"/>
                </a:solidFill>
              </a:rPr>
              <a:t>Gerimis</a:t>
            </a:r>
            <a:r>
              <a:rPr lang="en-US" sz="1200" b="1" dirty="0" smtClean="0">
                <a:solidFill>
                  <a:srgbClr val="FF0000"/>
                </a:solidFill>
              </a:rPr>
              <a:t>,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 smtClean="0"/>
              <a:t>kecil</a:t>
            </a:r>
            <a:r>
              <a:rPr lang="en-US" sz="1200" dirty="0" smtClean="0"/>
              <a:t> : </a:t>
            </a:r>
            <a:r>
              <a:rPr lang="en-US" sz="1200" dirty="0" err="1" smtClean="0"/>
              <a:t>dBZ</a:t>
            </a:r>
            <a:r>
              <a:rPr lang="en-US" sz="1200" dirty="0" smtClean="0"/>
              <a:t> </a:t>
            </a:r>
            <a:r>
              <a:rPr lang="en-US" sz="1200" dirty="0" err="1" smtClean="0"/>
              <a:t>rendah</a:t>
            </a:r>
            <a:r>
              <a:rPr lang="en-US" sz="1200" dirty="0" smtClean="0"/>
              <a:t>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</a:p>
          <a:p>
            <a:pPr algn="just"/>
            <a:r>
              <a:rPr lang="en-US" sz="1200" b="1" dirty="0" err="1">
                <a:solidFill>
                  <a:srgbClr val="FF0000"/>
                </a:solidFill>
              </a:rPr>
              <a:t>Hujan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 smtClean="0">
                <a:solidFill>
                  <a:srgbClr val="FF0000"/>
                </a:solidFill>
              </a:rPr>
              <a:t>Lebat</a:t>
            </a:r>
            <a:r>
              <a:rPr lang="en-US" sz="1200" b="1" dirty="0" smtClean="0">
                <a:solidFill>
                  <a:srgbClr val="FF0000"/>
                </a:solidFill>
              </a:rPr>
              <a:t>, </a:t>
            </a:r>
            <a:r>
              <a:rPr lang="en-US" sz="1200" dirty="0" err="1" smtClean="0"/>
              <a:t>Banyak</a:t>
            </a:r>
            <a:r>
              <a:rPr lang="en-US" sz="1200" dirty="0" smtClean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 smtClean="0"/>
              <a:t>: </a:t>
            </a:r>
            <a:r>
              <a:rPr lang="en-US" sz="1200" dirty="0" err="1" smtClean="0"/>
              <a:t>dBZ</a:t>
            </a:r>
            <a:r>
              <a:rPr lang="en-US" sz="1200" dirty="0" smtClean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Pantulan</a:t>
            </a:r>
            <a:r>
              <a:rPr lang="en-US" sz="1200" dirty="0" smtClean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0319" y="4657303"/>
            <a:ext cx="716581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b="1" dirty="0" err="1"/>
              <a:t>reflektivitas</a:t>
            </a:r>
            <a:r>
              <a:rPr lang="en-US" sz="1200" b="1" dirty="0"/>
              <a:t> radar (Z)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seberapa</a:t>
            </a:r>
            <a:r>
              <a:rPr lang="en-US" sz="1200" dirty="0"/>
              <a:t> </a:t>
            </a:r>
            <a:r>
              <a:rPr lang="en-US" sz="1200" dirty="0" err="1"/>
              <a:t>efektif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atmosfer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. </a:t>
            </a:r>
            <a:r>
              <a:rPr lang="en-US" sz="1200" dirty="0" err="1"/>
              <a:t>Nilai</a:t>
            </a:r>
            <a:r>
              <a:rPr lang="en-US" sz="1200" dirty="0"/>
              <a:t> Z </a:t>
            </a:r>
            <a:r>
              <a:rPr lang="en-US" sz="1200" dirty="0" err="1"/>
              <a:t>terutama</a:t>
            </a:r>
            <a:r>
              <a:rPr lang="en-US" sz="1200" dirty="0"/>
              <a:t> </a:t>
            </a:r>
            <a:r>
              <a:rPr lang="en-US" sz="1200" dirty="0" err="1"/>
              <a:t>dipengaruhi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Ukuran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(paling </a:t>
            </a:r>
            <a:r>
              <a:rPr lang="en-US" sz="1200" dirty="0" err="1"/>
              <a:t>berpengaruh</a:t>
            </a:r>
            <a:r>
              <a:rPr lang="en-US" sz="1200" dirty="0"/>
              <a:t>).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Jumlah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volume </a:t>
            </a:r>
            <a:r>
              <a:rPr lang="en-US" sz="1200" dirty="0" err="1"/>
              <a:t>udara</a:t>
            </a:r>
            <a:r>
              <a:rPr lang="en-US" sz="12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Fase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 (air, </a:t>
            </a:r>
            <a:r>
              <a:rPr lang="en-US" sz="1200" dirty="0" err="1"/>
              <a:t>es</a:t>
            </a:r>
            <a:r>
              <a:rPr lang="en-US" sz="1200" dirty="0"/>
              <a:t>, </a:t>
            </a:r>
            <a:r>
              <a:rPr lang="en-US" sz="1200" dirty="0" err="1"/>
              <a:t>campuran</a:t>
            </a:r>
            <a:r>
              <a:rPr lang="en-US" sz="1200" dirty="0"/>
              <a:t>). </a:t>
            </a:r>
          </a:p>
          <a:p>
            <a:pPr algn="just">
              <a:buFont typeface="+mj-lt"/>
              <a:buAutoNum type="arabicPeriod"/>
            </a:pPr>
            <a:r>
              <a:rPr lang="en-US" sz="1200" b="1" dirty="0" err="1"/>
              <a:t>Bentuk</a:t>
            </a:r>
            <a:r>
              <a:rPr lang="en-US" sz="1200" b="1" dirty="0"/>
              <a:t> </a:t>
            </a:r>
            <a:r>
              <a:rPr lang="en-US" sz="1200" b="1" dirty="0" err="1"/>
              <a:t>partikel</a:t>
            </a:r>
            <a:r>
              <a:rPr lang="en-US" sz="1200" dirty="0"/>
              <a:t>. </a:t>
            </a:r>
          </a:p>
          <a:p>
            <a:pPr algn="just"/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,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radar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b="1" dirty="0" err="1"/>
              <a:t>dBZ</a:t>
            </a:r>
            <a:r>
              <a:rPr lang="en-US" sz="1200" dirty="0"/>
              <a:t> yang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1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163285" y="54690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1. Power </a:t>
            </a:r>
            <a:r>
              <a:rPr lang="en-US" sz="1600" b="1" i="1" dirty="0" err="1" smtClean="0">
                <a:solidFill>
                  <a:srgbClr val="FF0000"/>
                </a:solidFill>
              </a:rPr>
              <a:t>Pr</a:t>
            </a:r>
            <a:r>
              <a:rPr lang="en-US" sz="1600" b="1" i="1" dirty="0" smtClean="0">
                <a:solidFill>
                  <a:srgbClr val="FF0000"/>
                </a:solidFill>
              </a:rPr>
              <a:t>​ </a:t>
            </a:r>
            <a:r>
              <a:rPr lang="en-US" sz="1600" b="1" dirty="0">
                <a:solidFill>
                  <a:srgbClr val="FF0000"/>
                </a:solidFill>
              </a:rPr>
              <a:t>of Received Radiation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paling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176" y="916241"/>
            <a:ext cx="2962275" cy="7048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632856" y="1511443"/>
            <a:ext cx="6731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176" y="1738010"/>
            <a:ext cx="800100" cy="5048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92" y="2368968"/>
            <a:ext cx="5295900" cy="38195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811612" y="32350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 err="1"/>
              <a:t>Makna</a:t>
            </a:r>
            <a:r>
              <a:rPr lang="en-US" sz="1200" b="1" dirty="0"/>
              <a:t> </a:t>
            </a:r>
            <a:r>
              <a:rPr lang="en-US" sz="1200" b="1" dirty="0" err="1"/>
              <a:t>Fisik</a:t>
            </a:r>
            <a:endParaRPr lang="en-US" sz="1200" b="1" dirty="0"/>
          </a:p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mengatakan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target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reflektif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radar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target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. </a:t>
            </a:r>
          </a:p>
          <a:p>
            <a:r>
              <a:rPr lang="en-US" sz="1200" dirty="0"/>
              <a:t>Yang paling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dipahami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cxnSp>
        <p:nvCxnSpPr>
          <p:cNvPr id="23" name="Elbow Connector 22"/>
          <p:cNvCxnSpPr/>
          <p:nvPr/>
        </p:nvCxnSpPr>
        <p:spPr>
          <a:xfrm rot="10800000">
            <a:off x="3341915" y="1990423"/>
            <a:ext cx="2917371" cy="1244625"/>
          </a:xfrm>
          <a:prstGeom prst="bentConnector3">
            <a:avLst>
              <a:gd name="adj1" fmla="val -3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937" y="4358971"/>
            <a:ext cx="847725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917808" y="4904096"/>
            <a:ext cx="2345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2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437" y="5325937"/>
            <a:ext cx="657225" cy="46672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012213" y="5815895"/>
            <a:ext cx="950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semula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031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65655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Radar Reflectivity </a:t>
            </a: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l-GR" sz="1400" b="1" dirty="0" smtClean="0">
                <a:solidFill>
                  <a:srgbClr val="FF0000"/>
                </a:solidFill>
              </a:rPr>
              <a:t>η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  <a:endParaRPr lang="el-GR" sz="14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" y="1059393"/>
            <a:ext cx="1857375" cy="590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3285" y="1646928"/>
            <a:ext cx="6509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menyatakan</a:t>
            </a:r>
            <a:r>
              <a:rPr lang="en-US" sz="1200" dirty="0"/>
              <a:t> total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semua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volume radar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057" y="2000514"/>
            <a:ext cx="64878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Apa</a:t>
            </a:r>
            <a:r>
              <a:rPr lang="en-US" sz="1200" b="1" dirty="0"/>
              <a:t> </a:t>
            </a:r>
            <a:r>
              <a:rPr lang="en-US" sz="1200" b="1" dirty="0" err="1"/>
              <a:t>artinya</a:t>
            </a:r>
            <a:r>
              <a:rPr lang="en-US" sz="1200" b="1" dirty="0"/>
              <a:t>?</a:t>
            </a:r>
          </a:p>
          <a:p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volume radar </a:t>
            </a:r>
            <a:r>
              <a:rPr lang="en-US" sz="1200" dirty="0" err="1"/>
              <a:t>terdapat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sedang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Masing-masing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radar cross section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535" y="3146857"/>
            <a:ext cx="571500" cy="38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94806" y="3527857"/>
            <a:ext cx="15022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jumlahnya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535" y="3882971"/>
            <a:ext cx="514350" cy="2476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3284" y="4130621"/>
            <a:ext cx="36230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menjumlahkan</a:t>
            </a:r>
            <a:r>
              <a:rPr lang="en-US" sz="1200" dirty="0"/>
              <a:t> </a:t>
            </a:r>
            <a:r>
              <a:rPr lang="en-US" sz="1200" dirty="0" err="1"/>
              <a:t>kontribusi</a:t>
            </a:r>
            <a:r>
              <a:rPr lang="en-US" sz="1200" dirty="0"/>
              <a:t> </a:t>
            </a:r>
            <a:r>
              <a:rPr lang="en-US" sz="1200" dirty="0" err="1"/>
              <a:t>seluruh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4710" y="4456386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Mengapa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Muncul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smtClean="0">
                <a:solidFill>
                  <a:srgbClr val="FF0000"/>
                </a:solidFill>
              </a:rPr>
              <a:t>D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6 </a:t>
            </a:r>
            <a:r>
              <a:rPr lang="en-US" sz="1400" b="1" dirty="0" smtClean="0">
                <a:solidFill>
                  <a:srgbClr val="FF0000"/>
                </a:solidFill>
              </a:rPr>
              <a:t>?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(Rayleigh Scattering):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592" y="5034986"/>
            <a:ext cx="1028700" cy="381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208884" y="5456303"/>
            <a:ext cx="7859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Sehingga</a:t>
            </a:r>
            <a:r>
              <a:rPr lang="en-US" sz="1200" dirty="0"/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2662" y="5669791"/>
            <a:ext cx="1695450" cy="39052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83284" y="6179221"/>
            <a:ext cx="45084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sensitif</a:t>
            </a:r>
            <a:r>
              <a:rPr lang="en-US" sz="1200" dirty="0"/>
              <a:t>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91743" y="4133220"/>
            <a:ext cx="2427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1200" b="1" dirty="0"/>
              <a:t>Contoh</a:t>
            </a:r>
          </a:p>
          <a:p>
            <a:r>
              <a:rPr lang="nb-NO" sz="1200" dirty="0"/>
              <a:t>Tetes 2 mm dibanding tetes 1 mm: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0173" y="4594885"/>
            <a:ext cx="733425" cy="3714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702628" y="4827860"/>
            <a:ext cx="71192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2 mm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64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1 mm</a:t>
            </a:r>
            <a:r>
              <a:rPr lang="en-US" sz="1200" dirty="0" smtClean="0"/>
              <a:t>. </a:t>
            </a:r>
            <a:r>
              <a:rPr lang="en-US" sz="1200" dirty="0" err="1" smtClean="0"/>
              <a:t>Inilah</a:t>
            </a:r>
            <a:r>
              <a:rPr lang="en-US" sz="1200" dirty="0" smtClean="0"/>
              <a:t> </a:t>
            </a:r>
            <a:r>
              <a:rPr lang="en-US" sz="1200" dirty="0" err="1"/>
              <a:t>alasan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851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 Radar Reflectivity Factor </a:t>
            </a:r>
            <a:r>
              <a:rPr lang="en-US" sz="1400" b="1" dirty="0" smtClean="0">
                <a:solidFill>
                  <a:srgbClr val="FF0000"/>
                </a:solidFill>
              </a:rPr>
              <a:t>(Z)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berikutnya</a:t>
            </a:r>
            <a:r>
              <a:rPr lang="en-US" sz="1200" dirty="0" smtClean="0"/>
              <a:t>:</a:t>
            </a:r>
            <a:endParaRPr lang="en-US" sz="12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360" y="1108646"/>
            <a:ext cx="1685925" cy="6000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63285" y="1624126"/>
            <a:ext cx="32617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400" dirty="0"/>
              <a:t>Ini adalah definisi resmi reflektivitas radar.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012" y="1995601"/>
            <a:ext cx="1905000" cy="457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9" y="2541786"/>
            <a:ext cx="4843462" cy="19431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63285" y="4662492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5. Simplified Radar Equation</a:t>
            </a:r>
          </a:p>
          <a:p>
            <a:r>
              <a:rPr lang="en-US" sz="1200" dirty="0"/>
              <a:t>Di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bawah</a:t>
            </a:r>
            <a:r>
              <a:rPr lang="en-US" sz="1200" dirty="0"/>
              <a:t>: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0012" y="5094769"/>
            <a:ext cx="952500" cy="44767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3285" y="5566827"/>
            <a:ext cx="3348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bentuk</a:t>
            </a:r>
            <a:r>
              <a:rPr lang="en-US" sz="1200" dirty="0"/>
              <a:t> </a:t>
            </a:r>
            <a:r>
              <a:rPr lang="en-US" sz="1200" dirty="0" err="1"/>
              <a:t>sederhana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radar.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5738" y="5840219"/>
            <a:ext cx="39010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Berbanding</a:t>
            </a:r>
            <a:r>
              <a:rPr lang="en-US" sz="1200" dirty="0"/>
              <a:t> </a:t>
            </a:r>
            <a:r>
              <a:rPr lang="en-US" sz="1200" dirty="0" err="1"/>
              <a:t>lurus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dirty="0" smtClean="0"/>
              <a:t>Z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Berbanding</a:t>
            </a:r>
            <a:r>
              <a:rPr lang="en-US" sz="1200" dirty="0"/>
              <a:t> </a:t>
            </a:r>
            <a:r>
              <a:rPr lang="en-US" sz="1200" dirty="0" err="1"/>
              <a:t>terbalik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kuadrat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smtClean="0"/>
              <a:t>r</a:t>
            </a:r>
            <a:r>
              <a:rPr lang="en-US" sz="1200" baseline="30000" dirty="0" smtClean="0"/>
              <a:t>2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3760237" y="4647103"/>
            <a:ext cx="3135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b="1" dirty="0"/>
              <a:t>Jika Z naik</a:t>
            </a:r>
          </a:p>
          <a:p>
            <a:r>
              <a:rPr lang="sv-SE" sz="1200" dirty="0"/>
              <a:t>Misalnya: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Hujan ringan → Z kecil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Hujan lebat → Z besar </a:t>
            </a:r>
          </a:p>
          <a:p>
            <a:r>
              <a:rPr lang="sv-SE" sz="1200" dirty="0" smtClean="0"/>
              <a:t>Maka </a:t>
            </a:r>
            <a:r>
              <a:rPr lang="sv-SE" sz="1200" b="1" i="1" dirty="0" smtClean="0">
                <a:solidFill>
                  <a:srgbClr val="002060"/>
                </a:solidFill>
              </a:rPr>
              <a:t>Pr</a:t>
            </a:r>
            <a:r>
              <a:rPr lang="sv-SE" sz="1200" dirty="0" smtClean="0"/>
              <a:t> yang diterima radar juga meningkat</a:t>
            </a:r>
            <a:endParaRPr lang="sv-SE" sz="1200" dirty="0"/>
          </a:p>
        </p:txBody>
      </p:sp>
      <p:sp>
        <p:nvSpPr>
          <p:cNvPr id="28" name="Rectangle 27"/>
          <p:cNvSpPr/>
          <p:nvPr/>
        </p:nvSpPr>
        <p:spPr>
          <a:xfrm>
            <a:off x="3771124" y="5655553"/>
            <a:ext cx="27976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Jika</a:t>
            </a:r>
            <a:r>
              <a:rPr lang="en-US" sz="1200" b="1" dirty="0"/>
              <a:t> </a:t>
            </a:r>
            <a:r>
              <a:rPr lang="en-US" sz="1200" b="1" dirty="0" err="1"/>
              <a:t>jarak</a:t>
            </a:r>
            <a:r>
              <a:rPr lang="en-US" sz="1200" b="1" dirty="0"/>
              <a:t> </a:t>
            </a:r>
            <a:r>
              <a:rPr lang="en-US" sz="1200" b="1" dirty="0" err="1"/>
              <a:t>naik</a:t>
            </a:r>
            <a:endParaRPr lang="en-US" sz="1200" b="1" dirty="0"/>
          </a:p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50 km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sama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100 km </a:t>
            </a:r>
          </a:p>
          <a:p>
            <a:r>
              <a:rPr lang="en-US" sz="1200" dirty="0" err="1" smtClean="0"/>
              <a:t>Maka</a:t>
            </a:r>
            <a:r>
              <a:rPr lang="en-US" sz="1200" dirty="0" smtClean="0"/>
              <a:t> </a:t>
            </a:r>
            <a:r>
              <a:rPr lang="en-US" sz="1200" b="1" i="1" dirty="0" err="1" smtClean="0">
                <a:solidFill>
                  <a:srgbClr val="002060"/>
                </a:solidFill>
              </a:rPr>
              <a:t>Pr</a:t>
            </a:r>
            <a:r>
              <a:rPr lang="en-US" sz="1200" b="1" i="1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/>
              <a:t>menjadi</a:t>
            </a:r>
            <a:r>
              <a:rPr lang="en-US" sz="1200" dirty="0" smtClean="0"/>
              <a:t> </a:t>
            </a:r>
            <a:r>
              <a:rPr lang="en-US" sz="1200" dirty="0" err="1" smtClean="0"/>
              <a:t>sekitar</a:t>
            </a:r>
            <a:r>
              <a:rPr lang="en-US" sz="1200" dirty="0" smtClean="0"/>
              <a:t> </a:t>
            </a:r>
            <a:r>
              <a:rPr lang="en-US" sz="1200" dirty="0" err="1" smtClean="0"/>
              <a:t>seperempatnya</a:t>
            </a:r>
            <a:endParaRPr lang="en-US" sz="1200" dirty="0"/>
          </a:p>
        </p:txBody>
      </p:sp>
      <p:sp>
        <p:nvSpPr>
          <p:cNvPr id="32" name="Right Arrow 31"/>
          <p:cNvSpPr/>
          <p:nvPr/>
        </p:nvSpPr>
        <p:spPr>
          <a:xfrm>
            <a:off x="2694746" y="5111906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651172" y="3143348"/>
            <a:ext cx="533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b="1" dirty="0">
                <a:solidFill>
                  <a:srgbClr val="FF0000"/>
                </a:solidFill>
              </a:rPr>
              <a:t>6. Menghitung Z dari Pantulan Radar</a:t>
            </a:r>
          </a:p>
          <a:p>
            <a:r>
              <a:rPr lang="sv-SE" sz="1200" dirty="0"/>
              <a:t>Persamaan dibalik menjadi: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173" y="3596274"/>
            <a:ext cx="733425" cy="33337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673665" y="3863972"/>
            <a:ext cx="26445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Inilah</a:t>
            </a:r>
            <a:r>
              <a:rPr lang="en-US" sz="1200" dirty="0"/>
              <a:t> yang </a:t>
            </a:r>
            <a:r>
              <a:rPr lang="en-US" sz="1200" dirty="0" err="1"/>
              <a:t>dilakukan</a:t>
            </a:r>
            <a:r>
              <a:rPr lang="en-US" sz="1200" dirty="0"/>
              <a:t> radar </a:t>
            </a:r>
            <a:r>
              <a:rPr lang="en-US" sz="1200" dirty="0" err="1"/>
              <a:t>sebenarnya</a:t>
            </a:r>
            <a:r>
              <a:rPr lang="en-US" sz="1200" dirty="0"/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0728" y="4211543"/>
            <a:ext cx="529444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Langkahnya</a:t>
            </a:r>
            <a:r>
              <a:rPr lang="en-US" sz="12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 smtClean="0"/>
              <a:t>Pr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mengetahui</a:t>
            </a:r>
            <a:r>
              <a:rPr lang="en-US" sz="1200" dirty="0"/>
              <a:t> </a:t>
            </a:r>
            <a:r>
              <a:rPr lang="en-US" sz="1200" dirty="0" err="1"/>
              <a:t>jarak</a:t>
            </a:r>
            <a:r>
              <a:rPr lang="en-US" sz="1200" dirty="0"/>
              <a:t> </a:t>
            </a:r>
            <a:r>
              <a:rPr lang="en-US" sz="1200" dirty="0" smtClean="0"/>
              <a:t>r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 err="1"/>
              <a:t>Konstanta</a:t>
            </a:r>
            <a:r>
              <a:rPr lang="en-US" sz="1200" dirty="0"/>
              <a:t> radar </a:t>
            </a:r>
            <a:r>
              <a:rPr lang="en-US" sz="1200" dirty="0" smtClean="0"/>
              <a:t>C </a:t>
            </a:r>
            <a:r>
              <a:rPr lang="en-US" sz="1200" dirty="0" err="1"/>
              <a:t>diketahui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kalibrasi</a:t>
            </a:r>
            <a:r>
              <a:rPr lang="en-US" sz="12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smtClean="0"/>
              <a:t>Z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200" dirty="0"/>
              <a:t>Z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dikonversi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intensitas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(mm/jam)</a:t>
            </a:r>
          </a:p>
        </p:txBody>
      </p:sp>
    </p:spTree>
    <p:extLst>
      <p:ext uri="{BB962C8B-B14F-4D97-AF65-F5344CB8AC3E}">
        <p14:creationId xmlns:p14="http://schemas.microsoft.com/office/powerpoint/2010/main" val="428883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48057" y="2710543"/>
            <a:ext cx="1948542" cy="755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344" y="283710"/>
            <a:ext cx="5082268" cy="27324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163285" y="546909"/>
            <a:ext cx="6096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dBZ</a:t>
            </a:r>
            <a:endParaRPr lang="en-US" b="1" dirty="0"/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Z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1000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1000000 </a:t>
            </a:r>
          </a:p>
          <a:p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skala</a:t>
            </a:r>
            <a:r>
              <a:rPr lang="en-US" sz="1200" dirty="0"/>
              <a:t> </a:t>
            </a:r>
            <a:r>
              <a:rPr lang="en-US" sz="1200" dirty="0" err="1"/>
              <a:t>logaritmik</a:t>
            </a:r>
            <a:r>
              <a:rPr lang="en-US" sz="1200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12" y="1839571"/>
            <a:ext cx="1628775" cy="381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60659"/>
              </p:ext>
            </p:extLst>
          </p:nvPr>
        </p:nvGraphicFramePr>
        <p:xfrm>
          <a:off x="359229" y="2233073"/>
          <a:ext cx="3820886" cy="1920240"/>
        </p:xfrm>
        <a:graphic>
          <a:graphicData uri="http://schemas.openxmlformats.org/drawingml/2006/table">
            <a:tbl>
              <a:tblPr/>
              <a:tblGrid>
                <a:gridCol w="1910443">
                  <a:extLst>
                    <a:ext uri="{9D8B030D-6E8A-4147-A177-3AD203B41FA5}">
                      <a16:colId xmlns:a16="http://schemas.microsoft.com/office/drawing/2014/main" val="4091152160"/>
                    </a:ext>
                  </a:extLst>
                </a:gridCol>
                <a:gridCol w="1910443">
                  <a:extLst>
                    <a:ext uri="{9D8B030D-6E8A-4147-A177-3AD203B41FA5}">
                      <a16:colId xmlns:a16="http://schemas.microsoft.com/office/drawing/2014/main" val="1295902969"/>
                    </a:ext>
                  </a:extLst>
                </a:gridCol>
              </a:tblGrid>
              <a:tr h="242638">
                <a:tc>
                  <a:txBody>
                    <a:bodyPr/>
                    <a:lstStyle/>
                    <a:p>
                      <a:r>
                        <a:rPr lang="en-US" sz="1200" dirty="0"/>
                        <a:t>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677022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434505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232170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26984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864677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 dBZ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587361"/>
                  </a:ext>
                </a:extLst>
              </a:tr>
              <a:tr h="242638">
                <a:tc>
                  <a:txBody>
                    <a:bodyPr/>
                    <a:lstStyle/>
                    <a:p>
                      <a:r>
                        <a:rPr lang="en-US" sz="1200"/>
                        <a:t>100000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 </a:t>
                      </a:r>
                      <a:r>
                        <a:rPr lang="en-US" sz="1200" dirty="0" err="1"/>
                        <a:t>dBZ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318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557587" y="3238237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dasar</a:t>
            </a:r>
            <a:r>
              <a:rPr lang="en-US" sz="1200" dirty="0"/>
              <a:t> </a:t>
            </a:r>
            <a:r>
              <a:rPr lang="en-US" sz="1200" dirty="0" err="1"/>
              <a:t>matematika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Radar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b="1" i="1" dirty="0" err="1" smtClean="0">
                <a:solidFill>
                  <a:srgbClr val="0070C0"/>
                </a:solidFill>
              </a:rPr>
              <a:t>Pr</a:t>
            </a:r>
            <a:endParaRPr lang="en-US" sz="1200" b="1" i="1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Pantulan</a:t>
            </a:r>
            <a:r>
              <a:rPr lang="en-US" sz="1200" dirty="0"/>
              <a:t>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target </a:t>
            </a:r>
            <a:r>
              <a:rPr lang="el-GR" sz="1200" b="1" i="1" dirty="0" smtClean="0">
                <a:solidFill>
                  <a:srgbClr val="0070C0"/>
                </a:solidFill>
              </a:rPr>
              <a:t>η</a:t>
            </a:r>
            <a:endParaRPr lang="el-GR" sz="1200" b="1" i="1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Reflektivitas</a:t>
            </a:r>
            <a:r>
              <a:rPr lang="en-US" sz="1200" dirty="0"/>
              <a:t> radar </a:t>
            </a:r>
            <a:r>
              <a:rPr lang="en-US" sz="1200" dirty="0" err="1"/>
              <a:t>didefinisikan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545" y="4418522"/>
            <a:ext cx="1215800" cy="3724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57587" y="479099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 startAt="4"/>
            </a:pPr>
            <a:r>
              <a:rPr lang="en-US" sz="1200" dirty="0" err="1" smtClean="0"/>
              <a:t>Karena</a:t>
            </a:r>
            <a:r>
              <a:rPr lang="en-US" sz="1200" dirty="0" smtClean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 </a:t>
            </a:r>
            <a:r>
              <a:rPr lang="en-US" sz="1200" b="1" i="1" dirty="0" smtClean="0">
                <a:solidFill>
                  <a:srgbClr val="0070C0"/>
                </a:solidFill>
              </a:rPr>
              <a:t>D</a:t>
            </a:r>
            <a:r>
              <a:rPr lang="en-US" sz="1200" b="1" i="1" baseline="30000" dirty="0" smtClean="0">
                <a:solidFill>
                  <a:srgbClr val="0070C0"/>
                </a:solidFill>
              </a:rPr>
              <a:t>6</a:t>
            </a:r>
            <a:r>
              <a:rPr lang="en-US" sz="1200" dirty="0" smtClean="0"/>
              <a:t>, </a:t>
            </a: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radar. </a:t>
            </a:r>
          </a:p>
          <a:p>
            <a:pPr>
              <a:buFont typeface="+mj-lt"/>
              <a:buAutoNum type="arabicPeriod" startAt="4"/>
            </a:pP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radar: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614" y="5177454"/>
            <a:ext cx="990600" cy="4476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57587" y="569741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radar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err="1"/>
              <a:t>reflektivitas</a:t>
            </a:r>
            <a:r>
              <a:rPr lang="en-US" sz="1200" dirty="0"/>
              <a:t> </a:t>
            </a:r>
            <a:r>
              <a:rPr lang="en-US" sz="1200" b="1" i="1" dirty="0" smtClean="0">
                <a:solidFill>
                  <a:srgbClr val="0070C0"/>
                </a:solidFill>
              </a:rPr>
              <a:t>Z</a:t>
            </a:r>
            <a:r>
              <a:rPr lang="en-US" sz="1200" dirty="0" smtClean="0"/>
              <a:t>, </a:t>
            </a:r>
            <a:r>
              <a:rPr lang="en-US" sz="1200" dirty="0" err="1"/>
              <a:t>lalu</a:t>
            </a:r>
            <a:r>
              <a:rPr lang="en-US" sz="1200" dirty="0"/>
              <a:t> </a:t>
            </a:r>
            <a:r>
              <a:rPr lang="en-US" sz="1200" dirty="0" err="1"/>
              <a:t>mengubahnya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i="1" dirty="0" err="1">
                <a:solidFill>
                  <a:srgbClr val="0070C0"/>
                </a:solidFill>
              </a:rPr>
              <a:t>dBZ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akhirnya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dirty="0" err="1"/>
              <a:t>estimasi</a:t>
            </a:r>
            <a:r>
              <a:rPr lang="en-US" sz="1200" b="1" dirty="0"/>
              <a:t> </a:t>
            </a:r>
            <a:r>
              <a:rPr lang="en-US" sz="1200" b="1" dirty="0" err="1"/>
              <a:t>curah</a:t>
            </a:r>
            <a:r>
              <a:rPr lang="en-US" sz="1200" b="1" dirty="0"/>
              <a:t> </a:t>
            </a:r>
            <a:r>
              <a:rPr lang="en-US" sz="1200" b="1" dirty="0" err="1"/>
              <a:t>hujan</a:t>
            </a:r>
            <a:r>
              <a:rPr lang="en-US" sz="1200" b="1" dirty="0"/>
              <a:t> (mm/jam)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49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284" y="546909"/>
            <a:ext cx="764780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Gambar</a:t>
            </a:r>
            <a:r>
              <a:rPr lang="en-US" sz="1200" dirty="0"/>
              <a:t> </a:t>
            </a:r>
            <a:r>
              <a:rPr lang="en-US" sz="1200" dirty="0" err="1" smtClean="0"/>
              <a:t>disamping</a:t>
            </a:r>
            <a:r>
              <a:rPr lang="en-US" sz="1200" dirty="0" smtClean="0"/>
              <a:t> 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b="1" dirty="0" err="1"/>
              <a:t>Persamaan</a:t>
            </a:r>
            <a:r>
              <a:rPr lang="en-US" sz="1200" b="1" dirty="0"/>
              <a:t> Radar </a:t>
            </a:r>
            <a:r>
              <a:rPr lang="en-US" sz="1200" b="1" dirty="0" err="1"/>
              <a:t>Meteorologi</a:t>
            </a:r>
            <a:r>
              <a:rPr lang="en-US" sz="1200" b="1" dirty="0"/>
              <a:t> (Meteorological Radar Equation)</a:t>
            </a:r>
            <a:r>
              <a:rPr lang="en-US" sz="1200" dirty="0"/>
              <a:t> yang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radar (</a:t>
            </a:r>
            <a:r>
              <a:rPr lang="en-US" sz="1200" b="1" i="1" dirty="0" err="1">
                <a:solidFill>
                  <a:srgbClr val="0070C0"/>
                </a:solidFill>
              </a:rPr>
              <a:t>Pr</a:t>
            </a:r>
            <a:r>
              <a:rPr lang="en-US" sz="1200" dirty="0"/>
              <a:t>)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Karakteristik</a:t>
            </a:r>
            <a:r>
              <a:rPr lang="en-US" sz="1200" dirty="0"/>
              <a:t> radar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Karakteristik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diamati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 err="1"/>
              <a:t>Persamaannya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303" y="1690687"/>
            <a:ext cx="3219450" cy="7334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3284" y="2424112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persamaan</a:t>
            </a:r>
            <a:r>
              <a:rPr lang="en-US" sz="1200" dirty="0"/>
              <a:t> </a:t>
            </a:r>
            <a:r>
              <a:rPr lang="en-US" sz="1200" dirty="0" err="1"/>
              <a:t>dibagi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b="1" dirty="0"/>
              <a:t>3 </a:t>
            </a:r>
            <a:r>
              <a:rPr lang="en-US" sz="1200" b="1" dirty="0" err="1"/>
              <a:t>kelompok</a:t>
            </a:r>
            <a:r>
              <a:rPr lang="en-US" sz="1200" b="1" dirty="0"/>
              <a:t> (</a:t>
            </a:r>
            <a:r>
              <a:rPr lang="en-US" sz="1200" b="1" dirty="0" err="1"/>
              <a:t>lingkaran</a:t>
            </a:r>
            <a:r>
              <a:rPr lang="en-US" sz="1200" b="1" dirty="0"/>
              <a:t> </a:t>
            </a:r>
            <a:r>
              <a:rPr lang="en-US" sz="1200" b="1" dirty="0" err="1"/>
              <a:t>hijau</a:t>
            </a:r>
            <a:r>
              <a:rPr lang="en-US" sz="1200" b="1" dirty="0"/>
              <a:t>)</a:t>
            </a:r>
            <a:r>
              <a:rPr lang="en-US" sz="1200" dirty="0"/>
              <a:t> agar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dipahami</a:t>
            </a:r>
            <a:r>
              <a:rPr lang="en-US" sz="12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4" y="2823987"/>
            <a:ext cx="22894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Fraksi</a:t>
            </a:r>
            <a:r>
              <a:rPr lang="en-US" sz="1400" dirty="0">
                <a:solidFill>
                  <a:srgbClr val="FF0000"/>
                </a:solidFill>
              </a:rPr>
              <a:t> 1: </a:t>
            </a:r>
            <a:r>
              <a:rPr lang="en-US" sz="1400" dirty="0" err="1">
                <a:solidFill>
                  <a:srgbClr val="FF0000"/>
                </a:solidFill>
              </a:rPr>
              <a:t>Konstanta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Geometri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828" y="3131764"/>
            <a:ext cx="838200" cy="5238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63284" y="3655639"/>
            <a:ext cx="54210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disebut</a:t>
            </a:r>
            <a:r>
              <a:rPr lang="en-US" sz="1400" dirty="0"/>
              <a:t> </a:t>
            </a:r>
            <a:r>
              <a:rPr lang="en-US" sz="1400" b="1" dirty="0"/>
              <a:t>geometrical constant</a:t>
            </a:r>
            <a:r>
              <a:rPr lang="en-US" sz="1400" dirty="0"/>
              <a:t>.</a:t>
            </a:r>
          </a:p>
          <a:p>
            <a:pPr algn="just"/>
            <a:r>
              <a:rPr lang="en-US" sz="1400" dirty="0" err="1"/>
              <a:t>Nilainya</a:t>
            </a:r>
            <a:r>
              <a:rPr lang="en-US" sz="1400" dirty="0"/>
              <a:t> </a:t>
            </a:r>
            <a:r>
              <a:rPr lang="en-US" sz="1400" dirty="0" err="1"/>
              <a:t>tetap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berasal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Geometri</a:t>
            </a:r>
            <a:r>
              <a:rPr lang="en-US" sz="1400" dirty="0"/>
              <a:t> beam radar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Bentuk</a:t>
            </a:r>
            <a:r>
              <a:rPr lang="en-US" sz="1400" dirty="0"/>
              <a:t> volume </a:t>
            </a:r>
            <a:r>
              <a:rPr lang="en-US" sz="1400" dirty="0" err="1"/>
              <a:t>pengamatan</a:t>
            </a:r>
            <a:r>
              <a:rPr lang="en-US" sz="1400" dirty="0"/>
              <a:t> radar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Turunan</a:t>
            </a:r>
            <a:r>
              <a:rPr lang="en-US" sz="1400" dirty="0"/>
              <a:t> </a:t>
            </a:r>
            <a:r>
              <a:rPr lang="en-US" sz="1400" dirty="0" err="1"/>
              <a:t>matematis</a:t>
            </a:r>
            <a:r>
              <a:rPr lang="en-US" sz="1400" dirty="0"/>
              <a:t> </a:t>
            </a:r>
            <a:r>
              <a:rPr lang="en-US" sz="1400" dirty="0" err="1"/>
              <a:t>persamaan</a:t>
            </a:r>
            <a:r>
              <a:rPr lang="en-US" sz="1400" dirty="0"/>
              <a:t> radar </a:t>
            </a:r>
          </a:p>
          <a:p>
            <a:pPr algn="just"/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nilainya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sama</a:t>
            </a:r>
            <a:r>
              <a:rPr lang="en-US" sz="1400" dirty="0"/>
              <a:t>, </a:t>
            </a:r>
            <a:r>
              <a:rPr lang="en-US" sz="1400" dirty="0" err="1"/>
              <a:t>biasanya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diperhatikan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operasi</a:t>
            </a:r>
            <a:r>
              <a:rPr lang="en-US" sz="1400" dirty="0"/>
              <a:t> radar </a:t>
            </a:r>
            <a:r>
              <a:rPr lang="en-US" sz="1400" dirty="0" err="1"/>
              <a:t>sehari-hari</a:t>
            </a:r>
            <a:r>
              <a:rPr lang="en-US" sz="1400"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6835" y="2873046"/>
            <a:ext cx="22005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Fraksi</a:t>
            </a:r>
            <a:r>
              <a:rPr lang="en-US" sz="1400" dirty="0">
                <a:solidFill>
                  <a:srgbClr val="FF0000"/>
                </a:solidFill>
              </a:rPr>
              <a:t> 2: </a:t>
            </a:r>
            <a:r>
              <a:rPr lang="en-US" sz="1400" dirty="0" err="1">
                <a:solidFill>
                  <a:srgbClr val="FF0000"/>
                </a:solidFill>
              </a:rPr>
              <a:t>Karakteristik</a:t>
            </a:r>
            <a:r>
              <a:rPr lang="en-US" sz="1400" dirty="0">
                <a:solidFill>
                  <a:srgbClr val="FF0000"/>
                </a:solidFill>
              </a:rPr>
              <a:t> Radar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878" y="3180823"/>
            <a:ext cx="990600" cy="63817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900058" y="3818998"/>
            <a:ext cx="56823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berisi</a:t>
            </a:r>
            <a:r>
              <a:rPr lang="en-US" sz="1200" dirty="0"/>
              <a:t> parameter </a:t>
            </a:r>
            <a:r>
              <a:rPr lang="en-US" sz="1200" dirty="0" err="1"/>
              <a:t>perangkat</a:t>
            </a:r>
            <a:r>
              <a:rPr lang="en-US" sz="1200" dirty="0"/>
              <a:t> radar.</a:t>
            </a:r>
          </a:p>
          <a:p>
            <a:r>
              <a:rPr lang="en-US" sz="1200" i="1" dirty="0" smtClean="0">
                <a:solidFill>
                  <a:srgbClr val="0070C0"/>
                </a:solidFill>
              </a:rPr>
              <a:t>Pt</a:t>
            </a:r>
            <a:r>
              <a:rPr lang="en-US" sz="1200" b="1" dirty="0" smtClean="0"/>
              <a:t> = </a:t>
            </a:r>
            <a:r>
              <a:rPr lang="en-US" sz="1200" b="1" dirty="0"/>
              <a:t>Peak Transmitted Power</a:t>
            </a:r>
          </a:p>
          <a:p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C-band: 250 kW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Radar S-band: 750 kW – 1 MW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 smtClean="0"/>
              <a:t>: ➡️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102" y="5256077"/>
            <a:ext cx="1210356" cy="30075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900058" y="5556832"/>
            <a:ext cx="56823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Gain </a:t>
            </a:r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memfokuskan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45 </a:t>
            </a:r>
            <a:r>
              <a:rPr lang="en-US" sz="1200" dirty="0" err="1"/>
              <a:t>dBi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46 </a:t>
            </a:r>
            <a:r>
              <a:rPr lang="en-US" sz="1200" dirty="0" err="1"/>
              <a:t>dBi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gain</a:t>
            </a:r>
            <a:r>
              <a:rPr lang="en-US" sz="1200" dirty="0" smtClean="0"/>
              <a:t>: ➡️ </a:t>
            </a:r>
            <a:r>
              <a:rPr lang="en-US" sz="1200" dirty="0"/>
              <a:t>Radar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sensitif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252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" y="546909"/>
            <a:ext cx="3895725" cy="19716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3837" y="2518584"/>
            <a:ext cx="36297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untuk</a:t>
            </a:r>
            <a:r>
              <a:rPr lang="en-US" sz="1200" dirty="0"/>
              <a:t> radar </a:t>
            </a:r>
            <a:r>
              <a:rPr lang="en-US" sz="1200" dirty="0" err="1"/>
              <a:t>cuaca</a:t>
            </a:r>
            <a:r>
              <a:rPr lang="en-US" sz="1200" dirty="0"/>
              <a:t> modern</a:t>
            </a:r>
            <a:r>
              <a:rPr lang="en-US" sz="1200" dirty="0" smtClean="0"/>
              <a:t>. Beam </a:t>
            </a:r>
            <a:r>
              <a:rPr lang="en-US" sz="1200" dirty="0"/>
              <a:t>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sempit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Resolusi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endParaRPr lang="en-US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" y="3328308"/>
            <a:ext cx="2447925" cy="10287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894359"/>
              </p:ext>
            </p:extLst>
          </p:nvPr>
        </p:nvGraphicFramePr>
        <p:xfrm>
          <a:off x="348342" y="4397830"/>
          <a:ext cx="3646714" cy="1097280"/>
        </p:xfrm>
        <a:graphic>
          <a:graphicData uri="http://schemas.openxmlformats.org/drawingml/2006/table">
            <a:tbl>
              <a:tblPr/>
              <a:tblGrid>
                <a:gridCol w="1823357">
                  <a:extLst>
                    <a:ext uri="{9D8B030D-6E8A-4147-A177-3AD203B41FA5}">
                      <a16:colId xmlns:a16="http://schemas.microsoft.com/office/drawing/2014/main" val="3178012633"/>
                    </a:ext>
                  </a:extLst>
                </a:gridCol>
                <a:gridCol w="1823357">
                  <a:extLst>
                    <a:ext uri="{9D8B030D-6E8A-4147-A177-3AD203B41FA5}">
                      <a16:colId xmlns:a16="http://schemas.microsoft.com/office/drawing/2014/main" val="2449206466"/>
                    </a:ext>
                  </a:extLst>
                </a:gridCol>
              </a:tblGrid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200"/>
                        <a:t>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343983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X-band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079659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C-band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193406"/>
                  </a:ext>
                </a:extLst>
              </a:tr>
              <a:tr h="271809">
                <a:tc>
                  <a:txBody>
                    <a:bodyPr/>
                    <a:lstStyle/>
                    <a:p>
                      <a:r>
                        <a:rPr lang="en-US" sz="1200"/>
                        <a:t>S-band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9827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3837" y="5589923"/>
            <a:ext cx="4086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mempengaruhi</a:t>
            </a:r>
            <a:r>
              <a:rPr lang="en-US" sz="1200" dirty="0"/>
              <a:t> </a:t>
            </a:r>
            <a:r>
              <a:rPr lang="en-US" sz="1200" dirty="0" err="1"/>
              <a:t>interaksi</a:t>
            </a:r>
            <a:r>
              <a:rPr lang="en-US" sz="1200" dirty="0"/>
              <a:t> radar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1" y="546909"/>
            <a:ext cx="413657" cy="348343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637314" y="546909"/>
            <a:ext cx="10886" cy="607160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876801" y="895252"/>
            <a:ext cx="2666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dirty="0"/>
              <a:t>Jarak target dari radar.</a:t>
            </a:r>
          </a:p>
          <a:p>
            <a:r>
              <a:rPr lang="it-IT" sz="1200" dirty="0"/>
              <a:t>Ini berada di penyebut: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23" y="1251758"/>
            <a:ext cx="400050" cy="56197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915488" y="1713423"/>
            <a:ext cx="2971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r>
              <a:rPr lang="en-US" sz="1200" dirty="0"/>
              <a:t>➡️ </a:t>
            </a:r>
            <a:r>
              <a:rPr lang="en-US" sz="1200" dirty="0" err="1"/>
              <a:t>Sinyal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50 km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100 km → </a:t>
            </a:r>
            <a:r>
              <a:rPr lang="en-US" sz="1200" dirty="0" err="1"/>
              <a:t>sinyal</a:t>
            </a:r>
            <a:r>
              <a:rPr lang="en-US" sz="1200" dirty="0"/>
              <a:t> </a:t>
            </a:r>
            <a:r>
              <a:rPr lang="en-US" sz="1200" dirty="0" err="1"/>
              <a:t>sekitar</a:t>
            </a:r>
            <a:r>
              <a:rPr lang="en-US" sz="1200" dirty="0"/>
              <a:t> 4 kali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lemah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4813581" y="2980247"/>
            <a:ext cx="25910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</a:rPr>
              <a:t>Fraksi</a:t>
            </a:r>
            <a:r>
              <a:rPr lang="en-US" sz="1400" b="1" dirty="0">
                <a:solidFill>
                  <a:srgbClr val="FF0000"/>
                </a:solidFill>
              </a:rPr>
              <a:t> 3: </a:t>
            </a:r>
            <a:r>
              <a:rPr lang="en-US" sz="1400" b="1" dirty="0" err="1">
                <a:solidFill>
                  <a:srgbClr val="FF0000"/>
                </a:solidFill>
              </a:rPr>
              <a:t>Karakteristik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Presipitasi</a:t>
            </a:r>
            <a:endParaRPr lang="en-US" sz="1400" b="1" dirty="0">
              <a:solidFill>
                <a:srgbClr val="FF000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0223" y="3303316"/>
            <a:ext cx="781050" cy="33337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844144" y="3704158"/>
            <a:ext cx="31684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berhubungan</a:t>
            </a:r>
            <a:r>
              <a:rPr lang="en-US" sz="1200" dirty="0"/>
              <a:t> </a:t>
            </a:r>
            <a:r>
              <a:rPr lang="en-US" sz="1200" dirty="0" err="1"/>
              <a:t>langsung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02" y="4034083"/>
            <a:ext cx="1864472" cy="36945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844144" y="4307351"/>
            <a:ext cx="33636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  <a:r>
              <a:rPr lang="en-US" sz="1200" dirty="0" err="1" smtClean="0"/>
              <a:t>Nilainya</a:t>
            </a:r>
            <a:r>
              <a:rPr lang="en-US" sz="1200" dirty="0" smtClean="0"/>
              <a:t> </a:t>
            </a:r>
            <a:r>
              <a:rPr lang="en-US" sz="1200" dirty="0" err="1"/>
              <a:t>berbeda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: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1" y="4769016"/>
            <a:ext cx="1807029" cy="93997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887288" y="4946470"/>
            <a:ext cx="36528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pPr algn="just"/>
            <a:r>
              <a:rPr lang="en-US" sz="1200" dirty="0"/>
              <a:t>Air </a:t>
            </a:r>
            <a:r>
              <a:rPr lang="en-US" sz="1200" dirty="0" err="1"/>
              <a:t>cair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jauh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  <a:p>
            <a:pPr algn="just"/>
            <a:r>
              <a:rPr lang="en-US" sz="1200" dirty="0" err="1"/>
              <a:t>Itulah</a:t>
            </a:r>
            <a:r>
              <a:rPr lang="en-US" sz="1200" dirty="0"/>
              <a:t> </a:t>
            </a:r>
            <a:r>
              <a:rPr lang="en-US" sz="1200" dirty="0" err="1"/>
              <a:t>sebabnya</a:t>
            </a:r>
            <a:r>
              <a:rPr lang="en-US" sz="1200" dirty="0"/>
              <a:t>: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 err="1"/>
              <a:t>Salju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dBZ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15471" y="5181601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8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88" y="177577"/>
            <a:ext cx="4184970" cy="2326137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3" name="Straight Connector 12"/>
          <p:cNvCxnSpPr/>
          <p:nvPr/>
        </p:nvCxnSpPr>
        <p:spPr>
          <a:xfrm>
            <a:off x="4637314" y="546909"/>
            <a:ext cx="10886" cy="607160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3644" y="546909"/>
            <a:ext cx="435127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Reflektivitas</a:t>
            </a:r>
            <a:r>
              <a:rPr lang="en-US" sz="1400" b="1" dirty="0"/>
              <a:t> Z</a:t>
            </a:r>
          </a:p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parameter paling </a:t>
            </a:r>
            <a:r>
              <a:rPr lang="en-US" sz="1200" dirty="0" err="1"/>
              <a:t>penting</a:t>
            </a:r>
            <a:r>
              <a:rPr lang="en-US" sz="1200" dirty="0"/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08" y="1094359"/>
            <a:ext cx="1245735" cy="51067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3644" y="1660040"/>
            <a:ext cx="3621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 smtClean="0"/>
              <a:t>: Z </a:t>
            </a:r>
            <a:r>
              <a:rPr lang="en-US" sz="1200" dirty="0" err="1"/>
              <a:t>bergantung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Ukuran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tetes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faktor</a:t>
            </a:r>
            <a:r>
              <a:rPr lang="en-US" sz="1200" dirty="0"/>
              <a:t>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650" y="2491037"/>
            <a:ext cx="428625" cy="381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3644" y="2872037"/>
            <a:ext cx="24111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/>
              <a:t>maka ukuran tetes sangat dominan.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133644" y="3149036"/>
            <a:ext cx="418798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Hubungannya</a:t>
            </a:r>
            <a:r>
              <a:rPr lang="en-US" sz="1400" b="1" dirty="0"/>
              <a:t> </a:t>
            </a:r>
            <a:r>
              <a:rPr lang="en-US" sz="1400" b="1" dirty="0" err="1"/>
              <a:t>dengan</a:t>
            </a:r>
            <a:r>
              <a:rPr lang="en-US" sz="1400" b="1" dirty="0"/>
              <a:t> </a:t>
            </a:r>
            <a:r>
              <a:rPr lang="en-US" sz="1400" b="1" dirty="0" err="1"/>
              <a:t>Produk</a:t>
            </a:r>
            <a:r>
              <a:rPr lang="en-US" sz="1400" b="1" dirty="0"/>
              <a:t> Radar </a:t>
            </a:r>
            <a:r>
              <a:rPr lang="en-US" sz="1400" b="1" dirty="0" err="1"/>
              <a:t>Cuaca</a:t>
            </a:r>
            <a:endParaRPr lang="en-US" sz="1400" b="1" dirty="0"/>
          </a:p>
          <a:p>
            <a:r>
              <a:rPr lang="en-US" sz="1200" dirty="0" err="1"/>
              <a:t>Ketika</a:t>
            </a:r>
            <a:r>
              <a:rPr lang="en-US" sz="1200" dirty="0"/>
              <a:t> radar </a:t>
            </a:r>
            <a:r>
              <a:rPr lang="en-US" sz="1200" dirty="0" err="1"/>
              <a:t>menampilkan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Reflectivity (</a:t>
            </a:r>
            <a:r>
              <a:rPr lang="en-US" sz="1200" dirty="0" err="1"/>
              <a:t>dBZ</a:t>
            </a:r>
            <a:r>
              <a:rPr lang="en-US" sz="1200" dirty="0"/>
              <a:t>)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CAPPI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PPI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Rainfall Rate </a:t>
            </a:r>
          </a:p>
          <a:p>
            <a:r>
              <a:rPr lang="en-US" sz="1200" dirty="0" err="1"/>
              <a:t>prosesnya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: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274" y="4287170"/>
            <a:ext cx="2559907" cy="233134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963885" y="2503714"/>
            <a:ext cx="67926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 smtClean="0"/>
              <a:t>Jadi</a:t>
            </a:r>
            <a:r>
              <a:rPr lang="en-US" sz="1400" dirty="0" smtClean="0"/>
              <a:t> </a:t>
            </a:r>
            <a:r>
              <a:rPr lang="en-US" sz="1400" dirty="0" err="1" smtClean="0"/>
              <a:t>berdasarkan</a:t>
            </a:r>
            <a:r>
              <a:rPr lang="en-US" sz="1400" dirty="0" smtClean="0"/>
              <a:t> </a:t>
            </a:r>
            <a:r>
              <a:rPr lang="en-US" sz="1400" dirty="0" err="1" smtClean="0"/>
              <a:t>persamaan</a:t>
            </a:r>
            <a:r>
              <a:rPr lang="en-US" sz="1400" dirty="0" smtClean="0"/>
              <a:t> </a:t>
            </a:r>
            <a:r>
              <a:rPr lang="en-US" sz="1400" dirty="0" err="1" smtClean="0"/>
              <a:t>pada</a:t>
            </a:r>
            <a:r>
              <a:rPr lang="en-US" sz="1400" dirty="0" smtClean="0"/>
              <a:t> </a:t>
            </a:r>
            <a:r>
              <a:rPr lang="en-US" sz="1400" dirty="0" err="1" smtClean="0"/>
              <a:t>gambar</a:t>
            </a:r>
            <a:r>
              <a:rPr lang="en-US" sz="1400" dirty="0" smtClean="0"/>
              <a:t> </a:t>
            </a:r>
            <a:r>
              <a:rPr lang="en-US" sz="1400" dirty="0" err="1" smtClean="0"/>
              <a:t>diatas</a:t>
            </a:r>
            <a:r>
              <a:rPr lang="en-US" sz="1400" dirty="0" smtClean="0"/>
              <a:t> </a:t>
            </a:r>
            <a:r>
              <a:rPr lang="en-US" sz="1400" dirty="0" err="1"/>
              <a:t>menjelaskan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b="1" dirty="0" err="1"/>
              <a:t>daya</a:t>
            </a:r>
            <a:r>
              <a:rPr lang="en-US" sz="1400" b="1" dirty="0"/>
              <a:t> </a:t>
            </a:r>
            <a:r>
              <a:rPr lang="en-US" sz="1400" b="1" dirty="0" err="1"/>
              <a:t>pantulan</a:t>
            </a:r>
            <a:r>
              <a:rPr lang="en-US" sz="1400" b="1" dirty="0"/>
              <a:t> yang </a:t>
            </a:r>
            <a:r>
              <a:rPr lang="en-US" sz="1400" b="1" dirty="0" err="1"/>
              <a:t>diterima</a:t>
            </a:r>
            <a:r>
              <a:rPr lang="en-US" sz="1400" b="1" dirty="0"/>
              <a:t> radar (</a:t>
            </a:r>
            <a:r>
              <a:rPr lang="en-US" sz="1400" b="1" i="1" dirty="0" err="1">
                <a:solidFill>
                  <a:srgbClr val="0070C0"/>
                </a:solidFill>
              </a:rPr>
              <a:t>Pr</a:t>
            </a:r>
            <a:r>
              <a:rPr lang="en-US" sz="1400" b="1" dirty="0"/>
              <a:t>)</a:t>
            </a:r>
            <a:r>
              <a:rPr lang="en-US" sz="1400" dirty="0"/>
              <a:t> </a:t>
            </a:r>
            <a:r>
              <a:rPr lang="en-US" sz="1400" dirty="0" err="1"/>
              <a:t>ditentukan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</a:t>
            </a:r>
            <a:r>
              <a:rPr lang="en-US" sz="1400" dirty="0" err="1"/>
              <a:t>tiga</a:t>
            </a:r>
            <a:r>
              <a:rPr lang="en-US" sz="1400" dirty="0"/>
              <a:t> </a:t>
            </a:r>
            <a:r>
              <a:rPr lang="en-US" sz="1400" dirty="0" err="1"/>
              <a:t>kelompok</a:t>
            </a:r>
            <a:r>
              <a:rPr lang="en-US" sz="1400" dirty="0"/>
              <a:t> </a:t>
            </a:r>
            <a:r>
              <a:rPr lang="en-US" sz="1400" dirty="0" err="1"/>
              <a:t>faktor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Konstanta</a:t>
            </a:r>
            <a:r>
              <a:rPr lang="en-US" sz="1400" b="1" dirty="0"/>
              <a:t> </a:t>
            </a:r>
            <a:r>
              <a:rPr lang="en-US" sz="1400" b="1" dirty="0" err="1"/>
              <a:t>geometri</a:t>
            </a:r>
            <a:r>
              <a:rPr lang="en-US" sz="1400" dirty="0"/>
              <a:t> radar.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Spesifikasi</a:t>
            </a:r>
            <a:r>
              <a:rPr lang="en-US" sz="1400" b="1" dirty="0"/>
              <a:t> </a:t>
            </a:r>
            <a:r>
              <a:rPr lang="en-US" sz="1400" b="1" dirty="0" err="1"/>
              <a:t>perangkat</a:t>
            </a:r>
            <a:r>
              <a:rPr lang="en-US" sz="1400" b="1" dirty="0"/>
              <a:t> radar</a:t>
            </a:r>
            <a:r>
              <a:rPr lang="en-US" sz="1400" dirty="0"/>
              <a:t> (</a:t>
            </a:r>
            <a:r>
              <a:rPr lang="en-US" sz="1400" dirty="0" err="1"/>
              <a:t>daya</a:t>
            </a:r>
            <a:r>
              <a:rPr lang="en-US" sz="1400" dirty="0"/>
              <a:t> </a:t>
            </a:r>
            <a:r>
              <a:rPr lang="en-US" sz="1400" dirty="0" err="1"/>
              <a:t>pancar</a:t>
            </a:r>
            <a:r>
              <a:rPr lang="en-US" sz="1400" dirty="0"/>
              <a:t>, gain, </a:t>
            </a:r>
            <a:r>
              <a:rPr lang="en-US" sz="1400" dirty="0" err="1"/>
              <a:t>beamwidth</a:t>
            </a:r>
            <a:r>
              <a:rPr lang="en-US" sz="1400" dirty="0"/>
              <a:t>, </a:t>
            </a:r>
            <a:r>
              <a:rPr lang="en-US" sz="1400" dirty="0" err="1"/>
              <a:t>panjang</a:t>
            </a:r>
            <a:r>
              <a:rPr lang="en-US" sz="1400" dirty="0"/>
              <a:t> </a:t>
            </a:r>
            <a:r>
              <a:rPr lang="en-US" sz="1400" dirty="0" err="1"/>
              <a:t>gelombang</a:t>
            </a:r>
            <a:r>
              <a:rPr lang="en-US" sz="1400" dirty="0"/>
              <a:t>,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jarak</a:t>
            </a:r>
            <a:r>
              <a:rPr lang="en-US" sz="1400" dirty="0"/>
              <a:t>).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 err="1"/>
              <a:t>Karakteristik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dirty="0"/>
              <a:t> (</a:t>
            </a:r>
            <a:r>
              <a:rPr lang="en-US" sz="1400" dirty="0" err="1"/>
              <a:t>ukuran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jumlah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yang </a:t>
            </a:r>
            <a:r>
              <a:rPr lang="en-US" sz="1400" dirty="0" err="1"/>
              <a:t>direpresentasikan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</a:t>
            </a:r>
            <a:r>
              <a:rPr lang="en-US" sz="1400" b="1" i="1" dirty="0">
                <a:solidFill>
                  <a:srgbClr val="0070C0"/>
                </a:solidFill>
              </a:rPr>
              <a:t>Z</a:t>
            </a:r>
            <a:r>
              <a:rPr lang="en-US" sz="1400" dirty="0"/>
              <a:t>).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b="1" i="1" dirty="0">
                <a:solidFill>
                  <a:srgbClr val="0070C0"/>
                </a:solidFill>
              </a:rPr>
              <a:t>Z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dekat</a:t>
            </a:r>
            <a:r>
              <a:rPr lang="en-US" sz="1400" dirty="0"/>
              <a:t> target </a:t>
            </a:r>
            <a:r>
              <a:rPr lang="en-US" sz="1400" dirty="0" err="1"/>
              <a:t>ke</a:t>
            </a:r>
            <a:r>
              <a:rPr lang="en-US" sz="1400" dirty="0"/>
              <a:t> radar,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sinyal</a:t>
            </a:r>
            <a:r>
              <a:rPr lang="en-US" sz="1400" dirty="0"/>
              <a:t> yang </a:t>
            </a:r>
            <a:r>
              <a:rPr lang="en-US" sz="1400" dirty="0" err="1"/>
              <a:t>diterima</a:t>
            </a:r>
            <a:r>
              <a:rPr lang="en-US" sz="1400" dirty="0"/>
              <a:t> radar.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691" y="4319596"/>
            <a:ext cx="6594966" cy="229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963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TARGET TITIK KE TARGET VOLUM RADAR CUACA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751344"/>
            <a:ext cx="1176745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Dari Target </a:t>
            </a:r>
            <a:r>
              <a:rPr lang="en-US" sz="1600" b="1" dirty="0" err="1"/>
              <a:t>Titik</a:t>
            </a:r>
            <a:r>
              <a:rPr lang="en-US" sz="1600" b="1" dirty="0"/>
              <a:t> </a:t>
            </a:r>
            <a:r>
              <a:rPr lang="en-US" sz="1600" b="1" dirty="0" err="1"/>
              <a:t>ke</a:t>
            </a:r>
            <a:r>
              <a:rPr lang="en-US" sz="1600" b="1" dirty="0"/>
              <a:t> Target Volume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Persamaan</a:t>
            </a:r>
            <a:r>
              <a:rPr lang="en-US" sz="1600" dirty="0"/>
              <a:t> radar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b="1" dirty="0"/>
              <a:t>target </a:t>
            </a:r>
            <a:r>
              <a:rPr lang="en-US" sz="1600" b="1" dirty="0" err="1"/>
              <a:t>titik</a:t>
            </a:r>
            <a:r>
              <a:rPr lang="en-US" sz="1600" b="1" dirty="0"/>
              <a:t> (point target)</a:t>
            </a:r>
            <a:r>
              <a:rPr lang="en-US" sz="1600" dirty="0"/>
              <a:t> </a:t>
            </a:r>
            <a:r>
              <a:rPr lang="en-US" sz="1600" dirty="0" err="1"/>
              <a:t>perlu</a:t>
            </a:r>
            <a:r>
              <a:rPr lang="en-US" sz="1600" dirty="0"/>
              <a:t> </a:t>
            </a:r>
            <a:r>
              <a:rPr lang="en-US" sz="1600" dirty="0" err="1"/>
              <a:t>disesuaikan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dikembangkan</a:t>
            </a:r>
            <a:r>
              <a:rPr lang="en-US" sz="1600" dirty="0"/>
              <a:t> agar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kebutuhan</a:t>
            </a:r>
            <a:r>
              <a:rPr lang="en-US" sz="1600" dirty="0"/>
              <a:t> </a:t>
            </a:r>
            <a:r>
              <a:rPr lang="en-US" sz="1600" dirty="0" err="1"/>
              <a:t>berbagai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radar, </a:t>
            </a:r>
            <a:r>
              <a:rPr lang="en-US" sz="1600" dirty="0" err="1"/>
              <a:t>misalnya</a:t>
            </a:r>
            <a:r>
              <a:rPr lang="en-US" sz="1600" dirty="0"/>
              <a:t>: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 err="1"/>
              <a:t>Deteksi</a:t>
            </a:r>
            <a:r>
              <a:rPr lang="en-US" sz="1600" dirty="0"/>
              <a:t> target </a:t>
            </a:r>
            <a:r>
              <a:rPr lang="en-US" sz="1600" dirty="0" err="1"/>
              <a:t>bergerak</a:t>
            </a:r>
            <a:r>
              <a:rPr lang="en-US" sz="1600" dirty="0"/>
              <a:t> (Moving Target Indication/MTI)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/>
              <a:t>Radar </a:t>
            </a:r>
            <a:r>
              <a:rPr lang="en-US" sz="1600" dirty="0" err="1"/>
              <a:t>apertur</a:t>
            </a:r>
            <a:r>
              <a:rPr lang="en-US" sz="1600" dirty="0"/>
              <a:t> </a:t>
            </a:r>
            <a:r>
              <a:rPr lang="en-US" sz="1600" dirty="0" err="1"/>
              <a:t>sintetis</a:t>
            </a:r>
            <a:r>
              <a:rPr lang="en-US" sz="1600" dirty="0"/>
              <a:t> (Synthetic Aperture Radar/SAR) </a:t>
            </a:r>
          </a:p>
          <a:p>
            <a:pPr marL="800100" lvl="1" indent="-342900" algn="just">
              <a:buFont typeface="Wingdings" panose="05000000000000000000" pitchFamily="2" charset="2"/>
              <a:buChar char="q"/>
            </a:pPr>
            <a:r>
              <a:rPr lang="en-US" sz="1600" dirty="0"/>
              <a:t>Radar </a:t>
            </a:r>
            <a:r>
              <a:rPr lang="en-US" sz="1600" dirty="0" err="1"/>
              <a:t>meteorologi</a:t>
            </a:r>
            <a:r>
              <a:rPr lang="en-US" sz="1600" dirty="0"/>
              <a:t> (Radar </a:t>
            </a:r>
            <a:r>
              <a:rPr lang="en-US" sz="1600" dirty="0" err="1"/>
              <a:t>Cuaca</a:t>
            </a:r>
            <a:r>
              <a:rPr lang="en-US" sz="1600" dirty="0"/>
              <a:t>)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Instrumen</a:t>
            </a:r>
            <a:r>
              <a:rPr lang="en-US" sz="1600" dirty="0"/>
              <a:t> </a:t>
            </a:r>
            <a:r>
              <a:rPr lang="en-US" sz="1600" dirty="0" err="1"/>
              <a:t>penginderaan</a:t>
            </a:r>
            <a:r>
              <a:rPr lang="en-US" sz="1600" dirty="0"/>
              <a:t> </a:t>
            </a:r>
            <a:r>
              <a:rPr lang="en-US" sz="1600" dirty="0" err="1"/>
              <a:t>jauh</a:t>
            </a:r>
            <a:r>
              <a:rPr lang="en-US" sz="1600" dirty="0"/>
              <a:t> </a:t>
            </a:r>
            <a:r>
              <a:rPr lang="en-US" sz="1600" dirty="0" err="1"/>
              <a:t>aktif</a:t>
            </a:r>
            <a:r>
              <a:rPr lang="en-US" sz="1600" dirty="0"/>
              <a:t> (</a:t>
            </a:r>
            <a:r>
              <a:rPr lang="en-US" sz="1600" dirty="0" err="1"/>
              <a:t>seperti</a:t>
            </a:r>
            <a:r>
              <a:rPr lang="en-US" sz="1600" dirty="0"/>
              <a:t> radar)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b="1" dirty="0" err="1"/>
              <a:t>resolusi</a:t>
            </a:r>
            <a:r>
              <a:rPr lang="en-US" sz="1600" b="1" dirty="0"/>
              <a:t> </a:t>
            </a:r>
            <a:r>
              <a:rPr lang="en-US" sz="1600" b="1" dirty="0" err="1"/>
              <a:t>spasial</a:t>
            </a:r>
            <a:r>
              <a:rPr lang="en-US" sz="1600" b="1" dirty="0"/>
              <a:t> yang </a:t>
            </a:r>
            <a:r>
              <a:rPr lang="en-US" sz="1600" b="1" dirty="0" err="1"/>
              <a:t>terbatas</a:t>
            </a:r>
            <a:r>
              <a:rPr lang="en-US" sz="1600" dirty="0"/>
              <a:t>.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, radar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mengamati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target </a:t>
            </a:r>
            <a:r>
              <a:rPr lang="en-US" sz="1600" dirty="0" err="1"/>
              <a:t>tunggal</a:t>
            </a:r>
            <a:r>
              <a:rPr lang="en-US" sz="1600" dirty="0"/>
              <a:t> (</a:t>
            </a:r>
            <a:r>
              <a:rPr lang="en-US" sz="1600" dirty="0" err="1"/>
              <a:t>misalnya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tetes</a:t>
            </a:r>
            <a:r>
              <a:rPr lang="en-US" sz="1600" dirty="0"/>
              <a:t> </a:t>
            </a:r>
            <a:r>
              <a:rPr lang="en-US" sz="1600" dirty="0" err="1"/>
              <a:t>hujan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kristal</a:t>
            </a:r>
            <a:r>
              <a:rPr lang="en-US" sz="1600" dirty="0"/>
              <a:t> </a:t>
            </a:r>
            <a:r>
              <a:rPr lang="en-US" sz="1600" dirty="0" err="1"/>
              <a:t>es</a:t>
            </a:r>
            <a:r>
              <a:rPr lang="en-US" sz="1600" dirty="0"/>
              <a:t>), </a:t>
            </a:r>
            <a:r>
              <a:rPr lang="en-US" sz="1600" dirty="0" err="1"/>
              <a:t>melainkan</a:t>
            </a:r>
            <a:r>
              <a:rPr lang="en-US" sz="1600" dirty="0"/>
              <a:t> </a:t>
            </a:r>
            <a:r>
              <a:rPr lang="en-US" sz="1600" dirty="0" err="1"/>
              <a:t>selalu</a:t>
            </a:r>
            <a:r>
              <a:rPr lang="en-US" sz="1600" dirty="0"/>
              <a:t> </a:t>
            </a:r>
            <a:r>
              <a:rPr lang="en-US" sz="1600" dirty="0" err="1"/>
              <a:t>mengukur</a:t>
            </a:r>
            <a:r>
              <a:rPr lang="en-US" sz="1600" dirty="0"/>
              <a:t> </a:t>
            </a:r>
            <a:r>
              <a:rPr lang="en-US" sz="1600" b="1" dirty="0" err="1"/>
              <a:t>suatu</a:t>
            </a:r>
            <a:r>
              <a:rPr lang="en-US" sz="1600" b="1" dirty="0"/>
              <a:t> volume </a:t>
            </a:r>
            <a:r>
              <a:rPr lang="en-US" sz="1600" b="1" dirty="0" err="1"/>
              <a:t>ruang</a:t>
            </a:r>
            <a:r>
              <a:rPr lang="en-US" sz="1600" dirty="0"/>
              <a:t> yang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sangat</a:t>
            </a:r>
            <a:r>
              <a:rPr lang="en-US" sz="1600" dirty="0"/>
              <a:t> </a:t>
            </a:r>
            <a:r>
              <a:rPr lang="en-US" sz="1600" dirty="0" err="1"/>
              <a:t>banyak</a:t>
            </a:r>
            <a:r>
              <a:rPr lang="en-US" sz="1600" dirty="0"/>
              <a:t> target.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→ Yang </a:t>
            </a:r>
            <a:r>
              <a:rPr lang="en-US" sz="1600" dirty="0" err="1"/>
              <a:t>diamati</a:t>
            </a:r>
            <a:r>
              <a:rPr lang="en-US" sz="1600" dirty="0"/>
              <a:t> radar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b="1" dirty="0"/>
              <a:t>target volume (distributed target)</a:t>
            </a:r>
            <a:r>
              <a:rPr lang="en-US" sz="1600" dirty="0"/>
              <a:t>, </a:t>
            </a:r>
            <a:r>
              <a:rPr lang="en-US" sz="1600" dirty="0" err="1"/>
              <a:t>bukan</a:t>
            </a:r>
            <a:r>
              <a:rPr lang="en-US" sz="1600" dirty="0"/>
              <a:t> </a:t>
            </a:r>
            <a:r>
              <a:rPr lang="en-US" sz="1600" b="1" dirty="0"/>
              <a:t>target </a:t>
            </a:r>
            <a:r>
              <a:rPr lang="en-US" sz="1600" b="1" dirty="0" err="1"/>
              <a:t>titik</a:t>
            </a:r>
            <a:r>
              <a:rPr lang="en-US" sz="1600" b="1" dirty="0"/>
              <a:t> (point target)</a:t>
            </a:r>
            <a:r>
              <a:rPr lang="en-US" sz="1600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memperhitungkan</a:t>
            </a:r>
            <a:r>
              <a:rPr lang="en-US" sz="1600" dirty="0"/>
              <a:t> </a:t>
            </a:r>
            <a:r>
              <a:rPr lang="en-US" sz="1600" dirty="0" err="1"/>
              <a:t>hal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, </a:t>
            </a:r>
            <a:r>
              <a:rPr lang="en-US" sz="1600" b="1" dirty="0"/>
              <a:t>Radar Cross Section (RCS)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luas</a:t>
            </a:r>
            <a:r>
              <a:rPr lang="en-US" sz="1600" dirty="0"/>
              <a:t> </a:t>
            </a:r>
            <a:r>
              <a:rPr lang="en-US" sz="1600" dirty="0" err="1"/>
              <a:t>penampang</a:t>
            </a:r>
            <a:r>
              <a:rPr lang="en-US" sz="1600" dirty="0"/>
              <a:t> radar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lagi</a:t>
            </a:r>
            <a:r>
              <a:rPr lang="en-US" sz="1600" dirty="0"/>
              <a:t> </a:t>
            </a:r>
            <a:r>
              <a:rPr lang="en-US" sz="1600" dirty="0" err="1"/>
              <a:t>dihitung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objek</a:t>
            </a:r>
            <a:r>
              <a:rPr lang="en-US" sz="1600" dirty="0"/>
              <a:t> </a:t>
            </a:r>
            <a:r>
              <a:rPr lang="en-US" sz="1600" dirty="0" err="1"/>
              <a:t>saja</a:t>
            </a:r>
            <a:r>
              <a:rPr lang="en-US" sz="1600" dirty="0"/>
              <a:t>, </a:t>
            </a:r>
            <a:r>
              <a:rPr lang="en-US" sz="1600" dirty="0" err="1"/>
              <a:t>melainkan</a:t>
            </a:r>
            <a:r>
              <a:rPr lang="en-US" sz="1600" dirty="0"/>
              <a:t> </a:t>
            </a:r>
            <a:r>
              <a:rPr lang="en-US" sz="1600" dirty="0" err="1"/>
              <a:t>diganti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b="1" dirty="0" err="1"/>
              <a:t>jumlah</a:t>
            </a:r>
            <a:r>
              <a:rPr lang="en-US" sz="1600" b="1" dirty="0"/>
              <a:t> </a:t>
            </a:r>
            <a:r>
              <a:rPr lang="en-US" sz="1600" b="1" dirty="0" err="1"/>
              <a:t>seluruh</a:t>
            </a:r>
            <a:r>
              <a:rPr lang="en-US" sz="1600" b="1" dirty="0"/>
              <a:t> </a:t>
            </a:r>
            <a:r>
              <a:rPr lang="en-US" sz="1600" b="1" dirty="0" err="1"/>
              <a:t>penampang</a:t>
            </a:r>
            <a:r>
              <a:rPr lang="en-US" sz="1600" b="1" dirty="0"/>
              <a:t> </a:t>
            </a:r>
            <a:r>
              <a:rPr lang="en-US" sz="1600" b="1" dirty="0" err="1"/>
              <a:t>hambur</a:t>
            </a:r>
            <a:r>
              <a:rPr lang="en-US" sz="1600" b="1" dirty="0"/>
              <a:t> (scattering cross section)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partikel</a:t>
            </a:r>
            <a:r>
              <a:rPr lang="en-US" sz="1600" dirty="0"/>
              <a:t> yang </a:t>
            </a:r>
            <a:r>
              <a:rPr lang="en-US" sz="1600" dirty="0" err="1"/>
              <a:t>berada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volume </a:t>
            </a:r>
            <a:r>
              <a:rPr lang="en-US" sz="1600" dirty="0" err="1"/>
              <a:t>resolusi</a:t>
            </a:r>
            <a:r>
              <a:rPr lang="en-US" sz="1600" dirty="0"/>
              <a:t> radar (range-bin).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791" y="4248988"/>
            <a:ext cx="3728525" cy="156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3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7728857" y="362243"/>
            <a:ext cx="1600200" cy="30885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400" b="1" dirty="0">
                <a:solidFill>
                  <a:srgbClr val="FF0000"/>
                </a:solidFill>
              </a:rPr>
              <a:t>1. Bagian C (System Constant)</a:t>
            </a:r>
          </a:p>
          <a:p>
            <a:r>
              <a:rPr lang="sv-SE" sz="1200" dirty="0"/>
              <a:t>Bagian berwarna oranye: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63" y="916242"/>
            <a:ext cx="1775052" cy="576316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V="1">
            <a:off x="2569029" y="685800"/>
            <a:ext cx="5159828" cy="10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63285" y="14086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Disebut</a:t>
            </a:r>
            <a:r>
              <a:rPr lang="en-US" sz="1200" dirty="0"/>
              <a:t>:</a:t>
            </a:r>
          </a:p>
          <a:p>
            <a:r>
              <a:rPr lang="en-US" sz="1200" b="1" dirty="0"/>
              <a:t>System Constant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b="1" dirty="0"/>
              <a:t>Radar Constant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Berisi</a:t>
            </a:r>
            <a:r>
              <a:rPr lang="en-US" sz="1200" dirty="0"/>
              <a:t> parameter yang </a:t>
            </a:r>
            <a:r>
              <a:rPr lang="en-US" sz="1200" dirty="0" err="1"/>
              <a:t>berasal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radar </a:t>
            </a:r>
            <a:r>
              <a:rPr lang="en-US" sz="1200" dirty="0" err="1"/>
              <a:t>itu</a:t>
            </a:r>
            <a:r>
              <a:rPr lang="en-US" sz="1200" dirty="0"/>
              <a:t> </a:t>
            </a:r>
            <a:r>
              <a:rPr lang="en-US" sz="1200" dirty="0" err="1"/>
              <a:t>sendiri</a:t>
            </a:r>
            <a:r>
              <a:rPr lang="en-US" sz="1200" dirty="0"/>
              <a:t>: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055015"/>
            <a:ext cx="1924050" cy="16192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74171" y="3674265"/>
            <a:ext cx="43978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Jika</a:t>
            </a:r>
            <a:r>
              <a:rPr lang="en-US" sz="1200" dirty="0"/>
              <a:t> parameter radar </a:t>
            </a:r>
            <a:r>
              <a:rPr lang="en-US" sz="1200" dirty="0" err="1"/>
              <a:t>berubah</a:t>
            </a:r>
            <a:r>
              <a:rPr lang="en-US" sz="1200" dirty="0"/>
              <a:t>, </a:t>
            </a:r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sensitivitas</a:t>
            </a:r>
            <a:r>
              <a:rPr lang="en-US" sz="1200" dirty="0"/>
              <a:t>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berubah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Contoh</a:t>
            </a:r>
            <a:r>
              <a:rPr lang="en-US" sz="12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Daya</a:t>
            </a:r>
            <a:r>
              <a:rPr lang="en-US" sz="1200" dirty="0"/>
              <a:t> </a:t>
            </a:r>
            <a:r>
              <a:rPr lang="en-US" sz="1200" dirty="0" err="1"/>
              <a:t>pancar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/>
              <a:t>Gain </a:t>
            </a:r>
            <a:r>
              <a:rPr lang="en-US" sz="1200" dirty="0" err="1"/>
              <a:t>antena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Panjang</a:t>
            </a:r>
            <a:r>
              <a:rPr lang="en-US" sz="1200" dirty="0"/>
              <a:t> </a:t>
            </a:r>
            <a:r>
              <a:rPr lang="en-US" sz="1200" dirty="0" err="1"/>
              <a:t>pulsa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→ </a:t>
            </a:r>
            <a:r>
              <a:rPr lang="en-US" sz="1200" dirty="0" err="1"/>
              <a:t>Pr</a:t>
            </a:r>
            <a:r>
              <a:rPr lang="en-US" sz="1200" dirty="0"/>
              <a:t> </a:t>
            </a:r>
            <a:r>
              <a:rPr lang="en-US" sz="1200" dirty="0" err="1"/>
              <a:t>naik</a:t>
            </a:r>
            <a:r>
              <a:rPr lang="en-US" sz="1200" dirty="0"/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4171" y="4874594"/>
            <a:ext cx="28520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</a:t>
            </a:r>
            <a:r>
              <a:rPr lang="en-US" sz="1400" b="1" dirty="0" err="1">
                <a:solidFill>
                  <a:srgbClr val="FF0000"/>
                </a:solidFill>
              </a:rPr>
              <a:t>Bagian</a:t>
            </a:r>
            <a:r>
              <a:rPr lang="en-US" sz="1400" b="1" dirty="0">
                <a:solidFill>
                  <a:srgbClr val="FF0000"/>
                </a:solidFill>
              </a:rPr>
              <a:t> G(R) (Range Dependent)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biru</a:t>
            </a:r>
            <a:r>
              <a:rPr lang="en-US" sz="1200" dirty="0"/>
              <a:t>: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465" y="5367037"/>
            <a:ext cx="1171575" cy="54292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16713" y="5847513"/>
            <a:ext cx="32776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Maknanya</a:t>
            </a:r>
            <a:endParaRPr lang="en-US" sz="1200" b="1" dirty="0"/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r>
              <a:rPr lang="en-US" sz="1200" dirty="0"/>
              <a:t>➡️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diterima</a:t>
            </a:r>
            <a:r>
              <a:rPr lang="en-US" sz="1200" dirty="0"/>
              <a:t>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771935"/>
              </p:ext>
            </p:extLst>
          </p:nvPr>
        </p:nvGraphicFramePr>
        <p:xfrm>
          <a:off x="5050972" y="5361322"/>
          <a:ext cx="2902764" cy="1097280"/>
        </p:xfrm>
        <a:graphic>
          <a:graphicData uri="http://schemas.openxmlformats.org/drawingml/2006/table">
            <a:tbl>
              <a:tblPr/>
              <a:tblGrid>
                <a:gridCol w="1451382">
                  <a:extLst>
                    <a:ext uri="{9D8B030D-6E8A-4147-A177-3AD203B41FA5}">
                      <a16:colId xmlns:a16="http://schemas.microsoft.com/office/drawing/2014/main" val="2743923305"/>
                    </a:ext>
                  </a:extLst>
                </a:gridCol>
                <a:gridCol w="1451382">
                  <a:extLst>
                    <a:ext uri="{9D8B030D-6E8A-4147-A177-3AD203B41FA5}">
                      <a16:colId xmlns:a16="http://schemas.microsoft.com/office/drawing/2014/main" val="1323888234"/>
                    </a:ext>
                  </a:extLst>
                </a:gridCol>
              </a:tblGrid>
              <a:tr h="241151">
                <a:tc>
                  <a:txBody>
                    <a:bodyPr/>
                    <a:lstStyle/>
                    <a:p>
                      <a:r>
                        <a:rPr lang="en-US" sz="1200" dirty="0" err="1"/>
                        <a:t>Jarak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Faktor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54351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 dirty="0"/>
                        <a:t>50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693603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 dirty="0"/>
                        <a:t>100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1/4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469460"/>
                  </a:ext>
                </a:extLst>
              </a:tr>
              <a:tr h="241151">
                <a:tc>
                  <a:txBody>
                    <a:bodyPr/>
                    <a:lstStyle/>
                    <a:p>
                      <a:r>
                        <a:rPr lang="en-US" sz="1200"/>
                        <a:t>150 km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1/9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004294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050972" y="5084323"/>
            <a:ext cx="7805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Misalnya</a:t>
            </a:r>
            <a:r>
              <a:rPr lang="en-US" sz="1200" dirty="0"/>
              <a:t>: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865375" y="5605197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856313" y="5222822"/>
            <a:ext cx="37802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Mengapa</a:t>
            </a:r>
            <a:r>
              <a:rPr lang="en-US" sz="1200" b="1" dirty="0"/>
              <a:t> </a:t>
            </a:r>
            <a:r>
              <a:rPr lang="en-US" sz="1200" b="1" dirty="0" err="1"/>
              <a:t>Terjadi</a:t>
            </a:r>
            <a:r>
              <a:rPr lang="en-US" sz="1200" b="1" dirty="0"/>
              <a:t>?</a:t>
            </a:r>
          </a:p>
          <a:p>
            <a:r>
              <a:rPr lang="en-US" sz="1200" dirty="0" err="1"/>
              <a:t>Energi</a:t>
            </a:r>
            <a:r>
              <a:rPr lang="en-US" sz="1200" dirty="0"/>
              <a:t> radar </a:t>
            </a:r>
            <a:r>
              <a:rPr lang="en-US" sz="1200" dirty="0" err="1"/>
              <a:t>menyebar</a:t>
            </a:r>
            <a:r>
              <a:rPr lang="en-US" sz="1200" dirty="0"/>
              <a:t> </a:t>
            </a:r>
            <a:r>
              <a:rPr lang="en-US" sz="1200" dirty="0" err="1"/>
              <a:t>ketika</a:t>
            </a:r>
            <a:r>
              <a:rPr lang="en-US" sz="1200" dirty="0"/>
              <a:t> </a:t>
            </a:r>
            <a:r>
              <a:rPr lang="en-US" sz="1200" dirty="0" err="1"/>
              <a:t>bergerak</a:t>
            </a:r>
            <a:r>
              <a:rPr lang="en-US" sz="1200" dirty="0"/>
              <a:t> </a:t>
            </a:r>
            <a:r>
              <a:rPr lang="en-US" sz="1200" dirty="0" err="1"/>
              <a:t>menjauhi</a:t>
            </a:r>
            <a:r>
              <a:rPr lang="en-US" sz="1200" dirty="0"/>
              <a:t> </a:t>
            </a:r>
            <a:r>
              <a:rPr lang="en-US" sz="1200" dirty="0" err="1"/>
              <a:t>antena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jauh</a:t>
            </a:r>
            <a:r>
              <a:rPr lang="en-US" sz="1200" dirty="0"/>
              <a:t> target: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Energi</a:t>
            </a:r>
            <a:r>
              <a:rPr lang="en-US" sz="1200" dirty="0"/>
              <a:t> yang </a:t>
            </a:r>
            <a:r>
              <a:rPr lang="en-US" sz="1200" dirty="0" err="1"/>
              <a:t>mengenai</a:t>
            </a:r>
            <a:r>
              <a:rPr lang="en-US" sz="1200" dirty="0"/>
              <a:t> target </a:t>
            </a:r>
            <a:r>
              <a:rPr lang="en-US" sz="1200" dirty="0" err="1"/>
              <a:t>berkurang</a:t>
            </a:r>
            <a:r>
              <a:rPr lang="en-US" sz="12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radar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berkurang</a:t>
            </a:r>
            <a:r>
              <a:rPr lang="en-US" sz="1200" dirty="0"/>
              <a:t>. </a:t>
            </a:r>
          </a:p>
        </p:txBody>
      </p:sp>
      <p:cxnSp>
        <p:nvCxnSpPr>
          <p:cNvPr id="34" name="Elbow Connector 33"/>
          <p:cNvCxnSpPr/>
          <p:nvPr/>
        </p:nvCxnSpPr>
        <p:spPr>
          <a:xfrm flipV="1">
            <a:off x="2819040" y="1926771"/>
            <a:ext cx="6923674" cy="3157553"/>
          </a:xfrm>
          <a:prstGeom prst="bentConnector3">
            <a:avLst>
              <a:gd name="adj1" fmla="val 9685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46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3285" y="546909"/>
            <a:ext cx="6096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Bagian</a:t>
            </a:r>
            <a:r>
              <a:rPr lang="en-US" sz="1400" b="1" dirty="0">
                <a:solidFill>
                  <a:srgbClr val="FF0000"/>
                </a:solidFill>
              </a:rPr>
              <a:t> T(R) (Target Characteristics)</a:t>
            </a:r>
          </a:p>
          <a:p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merah</a:t>
            </a:r>
            <a:r>
              <a:rPr lang="en-US" sz="1200" dirty="0"/>
              <a:t> yang </a:t>
            </a:r>
            <a:r>
              <a:rPr lang="en-US" sz="1200" dirty="0" err="1"/>
              <a:t>Anda</a:t>
            </a:r>
            <a:r>
              <a:rPr lang="en-US" sz="1200" dirty="0"/>
              <a:t> </a:t>
            </a:r>
            <a:r>
              <a:rPr lang="en-US" sz="1200" dirty="0" err="1"/>
              <a:t>lingkari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cxnSp>
        <p:nvCxnSpPr>
          <p:cNvPr id="9" name="Elbow Connector 8"/>
          <p:cNvCxnSpPr/>
          <p:nvPr/>
        </p:nvCxnSpPr>
        <p:spPr>
          <a:xfrm>
            <a:off x="3113314" y="793130"/>
            <a:ext cx="7304315" cy="65467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60" y="991164"/>
            <a:ext cx="1466850" cy="5048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3285" y="1408684"/>
            <a:ext cx="3410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mewakili</a:t>
            </a:r>
            <a:r>
              <a:rPr lang="en-US" sz="1200" dirty="0"/>
              <a:t> </a:t>
            </a:r>
            <a:r>
              <a:rPr lang="en-US" sz="1200" dirty="0" err="1"/>
              <a:t>sifat</a:t>
            </a:r>
            <a:r>
              <a:rPr lang="en-US" sz="1200" dirty="0"/>
              <a:t> </a:t>
            </a:r>
            <a:r>
              <a:rPr lang="en-US" sz="1200" dirty="0" err="1"/>
              <a:t>fisik</a:t>
            </a:r>
            <a:r>
              <a:rPr lang="en-US" sz="1200" dirty="0"/>
              <a:t> target yang </a:t>
            </a:r>
            <a:r>
              <a:rPr lang="en-US" sz="1200" dirty="0" err="1"/>
              <a:t>dipantulkan</a:t>
            </a:r>
            <a:r>
              <a:rPr lang="en-US" sz="1200" dirty="0"/>
              <a:t> radar.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97" y="1870349"/>
            <a:ext cx="1770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Faktor</a:t>
            </a:r>
            <a:r>
              <a:rPr lang="en-US" b="1" dirty="0"/>
              <a:t> </a:t>
            </a:r>
            <a:r>
              <a:rPr lang="en-US" b="1" dirty="0" err="1"/>
              <a:t>Dielektrik</a:t>
            </a:r>
            <a:endParaRPr lang="en-US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460" y="2239681"/>
            <a:ext cx="552450" cy="4191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5" y="2662155"/>
            <a:ext cx="46917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Menunjukkan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partikel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radar.</a:t>
            </a:r>
          </a:p>
          <a:p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tipikal</a:t>
            </a:r>
            <a:r>
              <a:rPr lang="en-US" sz="1200" dirty="0"/>
              <a:t>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787" y="3020196"/>
            <a:ext cx="1524000" cy="10858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3285" y="401500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/>
              <a:t>Artinya</a:t>
            </a:r>
            <a:r>
              <a:rPr lang="en-US" sz="1200" dirty="0"/>
              <a:t>:</a:t>
            </a:r>
          </a:p>
          <a:p>
            <a:r>
              <a:rPr lang="en-US" sz="1200" dirty="0"/>
              <a:t>Air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memantulkan</a:t>
            </a:r>
            <a:r>
              <a:rPr lang="en-US" sz="1200" dirty="0"/>
              <a:t> radar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daripada</a:t>
            </a:r>
            <a:r>
              <a:rPr lang="en-US" sz="1200" dirty="0"/>
              <a:t> </a:t>
            </a:r>
            <a:r>
              <a:rPr lang="en-US" sz="1200" dirty="0" err="1"/>
              <a:t>es</a:t>
            </a:r>
            <a:r>
              <a:rPr lang="en-US" sz="12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285" y="4580463"/>
            <a:ext cx="26887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Faktor</a:t>
            </a:r>
            <a:r>
              <a:rPr lang="en-US" b="1" dirty="0" smtClean="0"/>
              <a:t> </a:t>
            </a:r>
            <a:r>
              <a:rPr lang="en-US" b="1" dirty="0" err="1" smtClean="0"/>
              <a:t>Reflektivitas</a:t>
            </a:r>
            <a:r>
              <a:rPr lang="en-US" b="1" dirty="0" smtClean="0"/>
              <a:t> Z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163285" y="4998531"/>
            <a:ext cx="22315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/>
              <a:t>Menggambarkan: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Ukuran tetes hujan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Jumlah tetes hujan </a:t>
            </a:r>
          </a:p>
          <a:p>
            <a:r>
              <a:rPr lang="sv-SE" sz="1200" dirty="0"/>
              <a:t>Semakin besar: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Tetes hujan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sv-SE" sz="1200" dirty="0"/>
              <a:t>Konsentrasi hujan </a:t>
            </a:r>
          </a:p>
          <a:p>
            <a:r>
              <a:rPr lang="sv-SE" sz="1200" dirty="0"/>
              <a:t>maka nilai Z semakin besar.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8358" y="3738010"/>
            <a:ext cx="79394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Mengapa</a:t>
            </a:r>
            <a:r>
              <a:rPr lang="en-US" sz="1200" b="1" dirty="0"/>
              <a:t> </a:t>
            </a:r>
            <a:r>
              <a:rPr lang="en-US" sz="1200" b="1" dirty="0" err="1"/>
              <a:t>Disebut</a:t>
            </a:r>
            <a:r>
              <a:rPr lang="en-US" sz="1200" b="1" dirty="0"/>
              <a:t> "Target Characteristics and Attenuation"?</a:t>
            </a:r>
          </a:p>
          <a:p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dipengaruhi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yang </a:t>
            </a:r>
            <a:r>
              <a:rPr lang="en-US" sz="1200" dirty="0" err="1"/>
              <a:t>dipantulkan</a:t>
            </a:r>
            <a:r>
              <a:rPr lang="en-US" sz="1200" dirty="0"/>
              <a:t>,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pelemahan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(</a:t>
            </a:r>
            <a:r>
              <a:rPr lang="en-US" sz="1200" b="1" dirty="0"/>
              <a:t>attenuation</a:t>
            </a:r>
            <a:r>
              <a:rPr lang="en-US" sz="1200" dirty="0"/>
              <a:t>) </a:t>
            </a:r>
            <a:r>
              <a:rPr lang="en-US" sz="1200" dirty="0" err="1"/>
              <a:t>sepanjang</a:t>
            </a:r>
            <a:r>
              <a:rPr lang="en-US" sz="1200" dirty="0"/>
              <a:t> </a:t>
            </a:r>
            <a:r>
              <a:rPr lang="en-US" sz="1200" dirty="0" err="1"/>
              <a:t>jalur</a:t>
            </a:r>
            <a:r>
              <a:rPr lang="en-US" sz="1200" dirty="0"/>
              <a:t> radar</a:t>
            </a:r>
            <a:r>
              <a:rPr lang="en-US" sz="1200" dirty="0" smtClean="0"/>
              <a:t>. </a:t>
            </a:r>
          </a:p>
          <a:p>
            <a:r>
              <a:rPr lang="en-US" sz="1200" dirty="0" err="1" smtClean="0"/>
              <a:t>Misalnya</a:t>
            </a:r>
            <a:r>
              <a:rPr lang="en-US" sz="1200" dirty="0"/>
              <a:t>: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115" y="4569007"/>
            <a:ext cx="971550" cy="10858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550949" y="4398367"/>
            <a:ext cx="329913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Sebelum</a:t>
            </a:r>
            <a:r>
              <a:rPr lang="en-US" sz="1200" dirty="0"/>
              <a:t> </a:t>
            </a:r>
            <a:r>
              <a:rPr lang="en-US" sz="1200" dirty="0" err="1"/>
              <a:t>mencapai</a:t>
            </a:r>
            <a:r>
              <a:rPr lang="en-US" sz="1200" dirty="0"/>
              <a:t> target: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energi</a:t>
            </a:r>
            <a:r>
              <a:rPr lang="en-US" sz="1200" dirty="0"/>
              <a:t>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diserap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 err="1"/>
              <a:t>Pantulan</a:t>
            </a:r>
            <a:r>
              <a:rPr lang="en-US" sz="1200" dirty="0"/>
              <a:t> yang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juga</a:t>
            </a:r>
            <a:r>
              <a:rPr lang="en-US" sz="1200" dirty="0"/>
              <a:t> </a:t>
            </a:r>
            <a:r>
              <a:rPr lang="en-US" sz="1200" dirty="0" err="1"/>
              <a:t>mengalami</a:t>
            </a:r>
            <a:r>
              <a:rPr lang="en-US" sz="1200" dirty="0"/>
              <a:t> </a:t>
            </a:r>
            <a:r>
              <a:rPr lang="en-US" sz="1200" dirty="0" err="1"/>
              <a:t>pelemahan</a:t>
            </a:r>
            <a:r>
              <a:rPr lang="en-US" sz="1200" dirty="0"/>
              <a:t>. </a:t>
            </a:r>
          </a:p>
          <a:p>
            <a:r>
              <a:rPr lang="en-US" sz="1200" dirty="0" err="1"/>
              <a:t>Akibatnya</a:t>
            </a:r>
            <a:r>
              <a:rPr lang="en-US" sz="1200" dirty="0"/>
              <a:t>:</a:t>
            </a:r>
          </a:p>
          <a:p>
            <a:r>
              <a:rPr lang="en-US" sz="1200" b="1" i="1" dirty="0" err="1">
                <a:solidFill>
                  <a:srgbClr val="0070C0"/>
                </a:solidFill>
              </a:rPr>
              <a:t>Pr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seharusnya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Fenomena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sangat</a:t>
            </a:r>
            <a:r>
              <a:rPr lang="en-US" sz="1200" dirty="0"/>
              <a:t>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X-band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C-band </a:t>
            </a:r>
          </a:p>
          <a:p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pengaruhnya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Radar S-band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151665" y="5084622"/>
            <a:ext cx="399284" cy="1971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9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78" y="177577"/>
            <a:ext cx="5620750" cy="3407908"/>
          </a:xfrm>
          <a:prstGeom prst="rect">
            <a:avLst/>
          </a:prstGeom>
          <a:ln w="19050">
            <a:solidFill>
              <a:srgbClr val="92D05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301078" y="109918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/>
              <a:t>Contoh</a:t>
            </a:r>
            <a:r>
              <a:rPr lang="en-US" sz="1600" b="1" dirty="0"/>
              <a:t> </a:t>
            </a:r>
            <a:r>
              <a:rPr lang="en-US" sz="1600" b="1" dirty="0" err="1"/>
              <a:t>Praktis</a:t>
            </a:r>
            <a:r>
              <a:rPr lang="en-US" sz="1600" b="1" dirty="0"/>
              <a:t> </a:t>
            </a:r>
            <a:r>
              <a:rPr lang="en-US" sz="1600" b="1" dirty="0" err="1"/>
              <a:t>pada</a:t>
            </a:r>
            <a:r>
              <a:rPr lang="en-US" sz="1600" b="1" dirty="0"/>
              <a:t> Radar </a:t>
            </a:r>
            <a:r>
              <a:rPr lang="en-US" sz="1600" b="1" dirty="0" err="1"/>
              <a:t>Cuaca</a:t>
            </a:r>
            <a:endParaRPr lang="en-US" sz="1600" b="1" dirty="0"/>
          </a:p>
          <a:p>
            <a:r>
              <a:rPr lang="en-US" sz="1600" dirty="0" err="1"/>
              <a:t>Misalkan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</a:t>
            </a:r>
            <a:r>
              <a:rPr lang="en-US" sz="1600" dirty="0" err="1"/>
              <a:t>awan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intensitas</a:t>
            </a:r>
            <a:r>
              <a:rPr lang="en-US" sz="1600" dirty="0"/>
              <a:t> </a:t>
            </a:r>
            <a:r>
              <a:rPr lang="en-US" sz="1600" dirty="0" err="1"/>
              <a:t>hujan</a:t>
            </a:r>
            <a:r>
              <a:rPr lang="en-US" sz="1600" dirty="0"/>
              <a:t> yang </a:t>
            </a:r>
            <a:r>
              <a:rPr lang="en-US" sz="1600" dirty="0" err="1"/>
              <a:t>sama</a:t>
            </a:r>
            <a:r>
              <a:rPr lang="en-US" sz="1600" dirty="0"/>
              <a:t>:</a:t>
            </a:r>
          </a:p>
          <a:p>
            <a:r>
              <a:rPr lang="en-US" sz="1600" b="1" dirty="0"/>
              <a:t>Awan 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/>
              <a:t>Jarak</a:t>
            </a:r>
            <a:r>
              <a:rPr lang="en-US" sz="1600" dirty="0"/>
              <a:t> 20 km </a:t>
            </a:r>
          </a:p>
          <a:p>
            <a:r>
              <a:rPr lang="en-US" sz="1600" b="1" dirty="0"/>
              <a:t>Awan B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/>
              <a:t>Jarak</a:t>
            </a:r>
            <a:r>
              <a:rPr lang="en-US" sz="1600" dirty="0"/>
              <a:t> 200 km </a:t>
            </a:r>
          </a:p>
          <a:p>
            <a:r>
              <a:rPr lang="en-US" sz="1600" dirty="0" err="1"/>
              <a:t>Walaupun</a:t>
            </a:r>
            <a:r>
              <a:rPr lang="en-US" sz="1600" dirty="0"/>
              <a:t> </a:t>
            </a:r>
            <a:r>
              <a:rPr lang="en-US" sz="1600" dirty="0" err="1"/>
              <a:t>hujannya</a:t>
            </a:r>
            <a:r>
              <a:rPr lang="en-US" sz="1600" dirty="0"/>
              <a:t> </a:t>
            </a:r>
            <a:r>
              <a:rPr lang="en-US" sz="1600" dirty="0" err="1"/>
              <a:t>sama</a:t>
            </a:r>
            <a:r>
              <a:rPr lang="en-US" sz="1600" dirty="0"/>
              <a:t>, </a:t>
            </a:r>
            <a:r>
              <a:rPr lang="en-US" sz="1600" dirty="0" err="1"/>
              <a:t>pantulan</a:t>
            </a:r>
            <a:r>
              <a:rPr lang="en-US" sz="1600" dirty="0"/>
              <a:t> yang </a:t>
            </a:r>
            <a:r>
              <a:rPr lang="en-US" sz="1600" dirty="0" err="1"/>
              <a:t>diterima</a:t>
            </a:r>
            <a:r>
              <a:rPr lang="en-US" sz="1600" dirty="0"/>
              <a:t> radar </a:t>
            </a:r>
            <a:r>
              <a:rPr lang="en-US" sz="1600" dirty="0" err="1"/>
              <a:t>dari</a:t>
            </a:r>
            <a:r>
              <a:rPr lang="en-US" sz="1600" dirty="0"/>
              <a:t> Awan B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jauh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kecil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faktor</a:t>
            </a:r>
            <a:r>
              <a:rPr lang="en-US" sz="16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075" y="3161284"/>
            <a:ext cx="913040" cy="913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36171" y="4346224"/>
            <a:ext cx="102978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radar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b="1" dirty="0"/>
              <a:t>range correction</a:t>
            </a:r>
            <a:r>
              <a:rPr lang="en-US" dirty="0"/>
              <a:t> agar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awan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dBZ</a:t>
            </a:r>
            <a:r>
              <a:rPr lang="en-US" dirty="0"/>
              <a:t> yang </a:t>
            </a:r>
            <a:r>
              <a:rPr lang="en-US" dirty="0" err="1"/>
              <a:t>benar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Itulah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alasan</a:t>
            </a:r>
            <a:r>
              <a:rPr lang="en-US" dirty="0"/>
              <a:t> </a:t>
            </a: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data radar </a:t>
            </a:r>
            <a:r>
              <a:rPr lang="en-US" dirty="0" err="1"/>
              <a:t>cuaca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proses </a:t>
            </a:r>
            <a:r>
              <a:rPr lang="en-US" b="1" dirty="0" err="1"/>
              <a:t>kalibrasi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koreksi</a:t>
            </a:r>
            <a:r>
              <a:rPr lang="en-US" b="1" dirty="0"/>
              <a:t> </a:t>
            </a:r>
            <a:r>
              <a:rPr lang="en-US" b="1" dirty="0" err="1"/>
              <a:t>jarak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reflektivitas</a:t>
            </a:r>
            <a:r>
              <a:rPr lang="en-US" dirty="0"/>
              <a:t> yang </a:t>
            </a:r>
            <a:r>
              <a:rPr lang="en-US" dirty="0" err="1"/>
              <a:t>tampil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PPI </a:t>
            </a:r>
            <a:r>
              <a:rPr lang="en-US" dirty="0" err="1"/>
              <a:t>atau</a:t>
            </a:r>
            <a:r>
              <a:rPr lang="en-US" dirty="0"/>
              <a:t> CAPPI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target </a:t>
            </a:r>
            <a:r>
              <a:rPr lang="en-US" dirty="0" err="1"/>
              <a:t>dari</a:t>
            </a:r>
            <a:r>
              <a:rPr lang="en-US" dirty="0"/>
              <a:t> radar.</a:t>
            </a:r>
          </a:p>
        </p:txBody>
      </p:sp>
    </p:spTree>
    <p:extLst>
      <p:ext uri="{BB962C8B-B14F-4D97-AF65-F5344CB8AC3E}">
        <p14:creationId xmlns:p14="http://schemas.microsoft.com/office/powerpoint/2010/main" val="349205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546909"/>
            <a:ext cx="1933575" cy="4762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3284" y="1023159"/>
            <a:ext cx="115715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menggambarkan</a:t>
            </a:r>
            <a:r>
              <a:rPr lang="en-US" sz="1400" dirty="0"/>
              <a:t> </a:t>
            </a:r>
            <a:r>
              <a:rPr lang="en-US" sz="1400" dirty="0" err="1"/>
              <a:t>sifat</a:t>
            </a:r>
            <a:r>
              <a:rPr lang="en-US" sz="1400" dirty="0"/>
              <a:t> </a:t>
            </a:r>
            <a:r>
              <a:rPr lang="en-US" sz="1400" dirty="0" err="1"/>
              <a:t>fisik</a:t>
            </a:r>
            <a:r>
              <a:rPr lang="en-US" sz="1400" dirty="0"/>
              <a:t> target, </a:t>
            </a:r>
            <a:r>
              <a:rPr lang="en-US" sz="1400" dirty="0" err="1"/>
              <a:t>terutama</a:t>
            </a:r>
            <a:r>
              <a:rPr lang="en-US" sz="1400" dirty="0"/>
              <a:t> </a:t>
            </a:r>
            <a:r>
              <a:rPr lang="en-US" sz="1400" dirty="0" err="1"/>
              <a:t>kemampuan</a:t>
            </a:r>
            <a:r>
              <a:rPr lang="en-US" sz="1400" dirty="0"/>
              <a:t> material target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menghantarkan</a:t>
            </a:r>
            <a:r>
              <a:rPr lang="en-US" sz="1400" dirty="0"/>
              <a:t> </a:t>
            </a:r>
            <a:r>
              <a:rPr lang="en-US" sz="1400" dirty="0" err="1"/>
              <a:t>arus</a:t>
            </a:r>
            <a:r>
              <a:rPr lang="en-US" sz="1400" dirty="0"/>
              <a:t> </a:t>
            </a:r>
            <a:r>
              <a:rPr lang="en-US" sz="1400" dirty="0" err="1"/>
              <a:t>listrik</a:t>
            </a:r>
            <a:r>
              <a:rPr lang="en-US" sz="1400" dirty="0"/>
              <a:t> (</a:t>
            </a:r>
            <a:r>
              <a:rPr lang="en-US" sz="1400" b="1" dirty="0" err="1"/>
              <a:t>konduktivitas</a:t>
            </a:r>
            <a:r>
              <a:rPr lang="en-US" sz="1400" b="1" dirty="0"/>
              <a:t> </a:t>
            </a:r>
            <a:r>
              <a:rPr lang="en-US" sz="1400" b="1" dirty="0" err="1"/>
              <a:t>listrik</a:t>
            </a:r>
            <a:r>
              <a:rPr lang="en-US" sz="1400" dirty="0"/>
              <a:t>).</a:t>
            </a:r>
          </a:p>
          <a:p>
            <a:r>
              <a:rPr lang="en-US" sz="1400" b="1" dirty="0" err="1"/>
              <a:t>Untuk</a:t>
            </a:r>
            <a:r>
              <a:rPr lang="en-US" sz="1400" b="1" dirty="0"/>
              <a:t> air </a:t>
            </a:r>
            <a:r>
              <a:rPr lang="en-US" sz="1400" b="1" dirty="0" err="1"/>
              <a:t>cair</a:t>
            </a:r>
            <a:r>
              <a:rPr lang="en-US" sz="1400" b="1" dirty="0"/>
              <a:t>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093" y="1392491"/>
            <a:ext cx="1866900" cy="533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3284" y="1925891"/>
            <a:ext cx="8931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es</a:t>
            </a:r>
            <a:r>
              <a:rPr lang="en-US" sz="1400" b="1" dirty="0"/>
              <a:t>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963" y="2079779"/>
            <a:ext cx="1076325" cy="4381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671817"/>
            <a:ext cx="1943100" cy="342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137" y="3148066"/>
            <a:ext cx="1381125" cy="609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284" y="379241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seberapa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material </a:t>
            </a:r>
            <a:r>
              <a:rPr lang="en-US" sz="1400" dirty="0" err="1"/>
              <a:t>memantulkan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radar.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4193957"/>
            <a:ext cx="3848100" cy="285750"/>
          </a:xfrm>
          <a:prstGeom prst="rect">
            <a:avLst/>
          </a:prstGeom>
        </p:spPr>
      </p:pic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806042" y="4585821"/>
            <a:ext cx="38769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(air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cair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memantulkan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kuat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salju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memantulkan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lemah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483" y="1721103"/>
            <a:ext cx="2314575" cy="4095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84483" y="2193454"/>
            <a:ext cx="54136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Terdapat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karakteristik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target </a:t>
            </a:r>
            <a:r>
              <a:rPr lang="en-US" sz="1400" dirty="0" err="1"/>
              <a:t>presipitasi</a:t>
            </a:r>
            <a:r>
              <a:rPr lang="en-US" sz="1400" dirty="0"/>
              <a:t> (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cair</a:t>
            </a:r>
            <a:r>
              <a:rPr lang="en-US" sz="1400" dirty="0"/>
              <a:t>) yang </a:t>
            </a:r>
            <a:r>
              <a:rPr lang="en-US" sz="1400" dirty="0" err="1"/>
              <a:t>menentukan</a:t>
            </a:r>
            <a:r>
              <a:rPr lang="en-US" sz="1400" dirty="0"/>
              <a:t> </a:t>
            </a:r>
            <a:r>
              <a:rPr lang="en-US" sz="1400" dirty="0" err="1"/>
              <a:t>seberapa</a:t>
            </a:r>
            <a:r>
              <a:rPr lang="en-US" sz="1400" dirty="0"/>
              <a:t> </a:t>
            </a:r>
            <a:r>
              <a:rPr lang="en-US" sz="1400" dirty="0" err="1"/>
              <a:t>efisien</a:t>
            </a:r>
            <a:r>
              <a:rPr lang="en-US" sz="1400" dirty="0"/>
              <a:t> target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mengembalikan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(</a:t>
            </a:r>
            <a:r>
              <a:rPr lang="en-US" sz="1400" dirty="0" err="1" smtClean="0"/>
              <a:t>Pr</a:t>
            </a:r>
            <a:r>
              <a:rPr lang="en-US" sz="1400" dirty="0" smtClean="0"/>
              <a:t>​</a:t>
            </a:r>
            <a:r>
              <a:rPr lang="en-US" sz="1400" dirty="0"/>
              <a:t>) </a:t>
            </a:r>
            <a:r>
              <a:rPr lang="en-US" sz="1400" dirty="0" err="1"/>
              <a:t>ke</a:t>
            </a:r>
            <a:r>
              <a:rPr lang="en-US" sz="1400" dirty="0"/>
              <a:t> radar: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➡️ </a:t>
            </a:r>
            <a:r>
              <a:rPr lang="en-US" sz="1400" b="1" dirty="0" err="1"/>
              <a:t>Jumlah</a:t>
            </a:r>
            <a:r>
              <a:rPr lang="en-US" sz="1400" b="1" dirty="0"/>
              <a:t>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➡️ </a:t>
            </a:r>
            <a:r>
              <a:rPr lang="en-US" sz="1400" b="1" dirty="0" err="1"/>
              <a:t>Ukuran</a:t>
            </a:r>
            <a:r>
              <a:rPr lang="en-US" sz="1400" b="1" dirty="0"/>
              <a:t> (diameter D)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endParaRPr lang="en-US" sz="1400" dirty="0"/>
          </a:p>
          <a:p>
            <a:r>
              <a:rPr lang="en-US" sz="1400" dirty="0" err="1"/>
              <a:t>Karena</a:t>
            </a:r>
            <a:r>
              <a:rPr lang="en-US" sz="1400" dirty="0"/>
              <a:t>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968" y="3340324"/>
            <a:ext cx="1276350" cy="4762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484483" y="387079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ukuran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berpengaruh</a:t>
            </a:r>
            <a:r>
              <a:rPr lang="en-US" sz="1400" dirty="0"/>
              <a:t> </a:t>
            </a:r>
            <a:r>
              <a:rPr lang="en-US" sz="1400" dirty="0" err="1"/>
              <a:t>terhadap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radar.</a:t>
            </a:r>
          </a:p>
        </p:txBody>
      </p:sp>
    </p:spTree>
    <p:extLst>
      <p:ext uri="{BB962C8B-B14F-4D97-AF65-F5344CB8AC3E}">
        <p14:creationId xmlns:p14="http://schemas.microsoft.com/office/powerpoint/2010/main" val="424748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6" y="546909"/>
            <a:ext cx="5682343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Faktor</a:t>
            </a:r>
            <a:r>
              <a:rPr lang="en-US" sz="1600" b="1" dirty="0"/>
              <a:t> yang </a:t>
            </a:r>
            <a:r>
              <a:rPr lang="en-US" sz="1600" b="1" dirty="0" err="1"/>
              <a:t>Dapat</a:t>
            </a:r>
            <a:r>
              <a:rPr lang="en-US" sz="1600" b="1" dirty="0"/>
              <a:t> </a:t>
            </a:r>
            <a:r>
              <a:rPr lang="en-US" sz="1600" b="1" dirty="0" err="1"/>
              <a:t>Mempengaruhi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Z</a:t>
            </a:r>
          </a:p>
          <a:p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bagian</a:t>
            </a:r>
            <a:r>
              <a:rPr lang="en-US" sz="1400" dirty="0"/>
              <a:t> </a:t>
            </a:r>
            <a:r>
              <a:rPr lang="en-US" sz="1400" dirty="0" err="1"/>
              <a:t>bawah</a:t>
            </a:r>
            <a:r>
              <a:rPr lang="en-US" sz="1400" dirty="0"/>
              <a:t> slide </a:t>
            </a:r>
            <a:r>
              <a:rPr lang="en-US" sz="1400" dirty="0" err="1"/>
              <a:t>disebutkan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(Z)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dipengaruhi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: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1. Attenuation (</a:t>
            </a:r>
            <a:r>
              <a:rPr lang="en-US" sz="1400" b="1" dirty="0" err="1">
                <a:solidFill>
                  <a:srgbClr val="FF0000"/>
                </a:solidFill>
              </a:rPr>
              <a:t>Pelemahan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Sinyal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1400" dirty="0" err="1"/>
              <a:t>Sinyal</a:t>
            </a:r>
            <a:r>
              <a:rPr lang="en-US" sz="1400" dirty="0"/>
              <a:t> radar </a:t>
            </a:r>
            <a:r>
              <a:rPr lang="en-US" sz="1400" dirty="0" err="1"/>
              <a:t>melemah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melewati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lebat</a:t>
            </a:r>
            <a:r>
              <a:rPr lang="en-US" sz="1400" dirty="0" smtClean="0"/>
              <a:t>. </a:t>
            </a:r>
            <a:r>
              <a:rPr lang="en-US" sz="1400" dirty="0" err="1" smtClean="0"/>
              <a:t>Akibatnya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dBZ</a:t>
            </a:r>
            <a:r>
              <a:rPr lang="en-US" sz="1400" dirty="0"/>
              <a:t> yang </a:t>
            </a:r>
            <a:r>
              <a:rPr lang="en-US" sz="1400" dirty="0" err="1"/>
              <a:t>terukur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kondisi</a:t>
            </a:r>
            <a:r>
              <a:rPr lang="en-US" sz="1400" dirty="0"/>
              <a:t> </a:t>
            </a:r>
            <a:r>
              <a:rPr lang="en-US" sz="1400" dirty="0" err="1"/>
              <a:t>sebenarnya</a:t>
            </a:r>
            <a:r>
              <a:rPr lang="en-US" sz="14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85" y="1962681"/>
            <a:ext cx="52142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 Beam Blockage</a:t>
            </a:r>
          </a:p>
          <a:p>
            <a:r>
              <a:rPr lang="en-US" sz="1400" dirty="0"/>
              <a:t>Beam radar </a:t>
            </a:r>
            <a:r>
              <a:rPr lang="en-US" sz="1400" dirty="0" err="1"/>
              <a:t>terhalang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Gunung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Bukit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Gedung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 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mencapai</a:t>
            </a:r>
            <a:r>
              <a:rPr lang="en-US" sz="1400" dirty="0"/>
              <a:t> target.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3495879"/>
            <a:ext cx="530134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 </a:t>
            </a:r>
            <a:r>
              <a:rPr lang="en-US" sz="1400" b="1" dirty="0" err="1">
                <a:solidFill>
                  <a:srgbClr val="FF0000"/>
                </a:solidFill>
              </a:rPr>
              <a:t>Miscalibration</a:t>
            </a: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dirty="0" err="1"/>
              <a:t>Kalibrasi</a:t>
            </a:r>
            <a:r>
              <a:rPr lang="en-US" sz="1400" dirty="0"/>
              <a:t> radar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tepat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seluruh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rendah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168728" y="4813633"/>
            <a:ext cx="55136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 Noise Bias</a:t>
            </a:r>
          </a:p>
          <a:p>
            <a:pPr algn="just"/>
            <a:r>
              <a:rPr lang="en-US" sz="1400" dirty="0" err="1"/>
              <a:t>Gangguan</a:t>
            </a:r>
            <a:r>
              <a:rPr lang="en-US" sz="1400" dirty="0"/>
              <a:t> </a:t>
            </a:r>
            <a:r>
              <a:rPr lang="en-US" sz="1400" dirty="0" err="1"/>
              <a:t>elektronik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receiver radar.</a:t>
            </a:r>
          </a:p>
          <a:p>
            <a:pPr algn="just"/>
            <a:r>
              <a:rPr lang="en-US" sz="1400" dirty="0" err="1"/>
              <a:t>Akibatnya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lemah</a:t>
            </a:r>
            <a:r>
              <a:rPr lang="en-US" sz="1400" dirty="0"/>
              <a:t> yang </a:t>
            </a:r>
            <a:r>
              <a:rPr lang="en-US" sz="1400" dirty="0" err="1"/>
              <a:t>sebenarnya</a:t>
            </a:r>
            <a:r>
              <a:rPr lang="en-US" sz="1400" dirty="0"/>
              <a:t> </a:t>
            </a:r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berasal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target </a:t>
            </a:r>
            <a:r>
              <a:rPr lang="en-US" sz="1400" dirty="0" err="1"/>
              <a:t>meteorologis</a:t>
            </a:r>
            <a:r>
              <a:rPr lang="en-US" sz="14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2343" y="54690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Kesimpulan</a:t>
            </a:r>
            <a:endParaRPr lang="en-US" b="1" dirty="0"/>
          </a:p>
          <a:p>
            <a:pPr algn="just"/>
            <a:r>
              <a:rPr lang="en-US" sz="1400" dirty="0"/>
              <a:t>Slide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menjelaskan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hal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/>
              <a:t>Air </a:t>
            </a:r>
            <a:r>
              <a:rPr lang="en-US" sz="1400" b="1" dirty="0" err="1"/>
              <a:t>cair</a:t>
            </a:r>
            <a:r>
              <a:rPr lang="en-US" sz="1400" b="1" dirty="0"/>
              <a:t> </a:t>
            </a:r>
            <a:r>
              <a:rPr lang="en-US" sz="1400" b="1" dirty="0" err="1"/>
              <a:t>memantulkan</a:t>
            </a:r>
            <a:r>
              <a:rPr lang="en-US" sz="1400" b="1" dirty="0"/>
              <a:t> radar </a:t>
            </a:r>
            <a:r>
              <a:rPr lang="en-US" sz="1400" b="1" dirty="0" err="1"/>
              <a:t>jauh</a:t>
            </a:r>
            <a:r>
              <a:rPr lang="en-US" sz="1400" b="1" dirty="0"/>
              <a:t> </a:t>
            </a:r>
            <a:r>
              <a:rPr lang="en-US" sz="1400" b="1" dirty="0" err="1"/>
              <a:t>lebih</a:t>
            </a:r>
            <a:r>
              <a:rPr lang="en-US" sz="1400" b="1" dirty="0"/>
              <a:t> </a:t>
            </a:r>
            <a:r>
              <a:rPr lang="en-US" sz="1400" b="1" dirty="0" err="1"/>
              <a:t>kuat</a:t>
            </a:r>
            <a:r>
              <a:rPr lang="en-US" sz="1400" b="1" dirty="0"/>
              <a:t> </a:t>
            </a:r>
            <a:r>
              <a:rPr lang="en-US" sz="1400" b="1" dirty="0" err="1"/>
              <a:t>daripada</a:t>
            </a:r>
            <a:r>
              <a:rPr lang="en-US" sz="1400" b="1" dirty="0"/>
              <a:t> </a:t>
            </a:r>
            <a:r>
              <a:rPr lang="en-US" sz="1400" b="1" dirty="0" err="1"/>
              <a:t>es</a:t>
            </a:r>
            <a:r>
              <a:rPr lang="en-US" sz="1400" dirty="0"/>
              <a:t>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∣K</a:t>
            </a:r>
            <a:r>
              <a:rPr lang="en-US" sz="1400" dirty="0" smtClean="0"/>
              <a:t>∣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  </a:t>
            </a:r>
            <a:r>
              <a:rPr lang="en-US" sz="1400" dirty="0"/>
              <a:t>yang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 err="1"/>
              <a:t>Ukuran</a:t>
            </a:r>
            <a:r>
              <a:rPr lang="en-US" sz="1400" b="1" dirty="0"/>
              <a:t>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b="1" dirty="0"/>
              <a:t> </a:t>
            </a:r>
            <a:r>
              <a:rPr lang="en-US" sz="1400" b="1" dirty="0" err="1"/>
              <a:t>sangat</a:t>
            </a:r>
            <a:r>
              <a:rPr lang="en-US" sz="1400" b="1" dirty="0"/>
              <a:t> </a:t>
            </a:r>
            <a:r>
              <a:rPr lang="en-US" sz="1400" b="1" dirty="0" err="1"/>
              <a:t>dominan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</a:t>
            </a:r>
            <a:r>
              <a:rPr lang="en-US" sz="1400" b="1" dirty="0" err="1"/>
              <a:t>menentukan</a:t>
            </a:r>
            <a:r>
              <a:rPr lang="en-US" sz="1400" b="1" dirty="0"/>
              <a:t> </a:t>
            </a:r>
            <a:r>
              <a:rPr lang="en-US" sz="1400" b="1" dirty="0" err="1"/>
              <a:t>reflektivitas</a:t>
            </a:r>
            <a:r>
              <a:rPr lang="en-US" sz="1400" b="1" dirty="0"/>
              <a:t> radar</a:t>
            </a:r>
            <a:r>
              <a:rPr lang="en-US" sz="1400" dirty="0"/>
              <a:t>,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</a:t>
            </a:r>
            <a:r>
              <a:rPr lang="en-US" sz="1400" dirty="0" err="1"/>
              <a:t>berbanding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pangkat</a:t>
            </a:r>
            <a:r>
              <a:rPr lang="en-US" sz="1400" dirty="0"/>
              <a:t> </a:t>
            </a:r>
            <a:r>
              <a:rPr lang="en-US" sz="1400" dirty="0" err="1"/>
              <a:t>enam</a:t>
            </a:r>
            <a:r>
              <a:rPr lang="en-US" sz="1400" dirty="0"/>
              <a:t> diameter </a:t>
            </a:r>
            <a:r>
              <a:rPr lang="en-US" sz="1400" dirty="0" err="1"/>
              <a:t>tetes</a:t>
            </a:r>
            <a:r>
              <a:rPr lang="en-US" sz="1400" dirty="0"/>
              <a:t> (</a:t>
            </a:r>
            <a:r>
              <a:rPr lang="en-US" sz="1400" dirty="0" smtClean="0"/>
              <a:t>D</a:t>
            </a:r>
            <a:r>
              <a:rPr lang="en-US" sz="1400" baseline="30000" dirty="0" smtClean="0"/>
              <a:t>6</a:t>
            </a:r>
            <a:r>
              <a:rPr lang="en-US" sz="1400" dirty="0" smtClean="0"/>
              <a:t> ). </a:t>
            </a:r>
            <a:r>
              <a:rPr lang="en-US" sz="1400" dirty="0" err="1" smtClean="0"/>
              <a:t>Oleh</a:t>
            </a:r>
            <a:r>
              <a:rPr lang="en-US" sz="1400" dirty="0" smtClean="0"/>
              <a:t>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,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menghasilkan</a:t>
            </a:r>
            <a:r>
              <a:rPr lang="en-US" sz="1400" dirty="0"/>
              <a:t> </a:t>
            </a:r>
            <a:r>
              <a:rPr lang="en-US" sz="1400" dirty="0" err="1"/>
              <a:t>pantulan</a:t>
            </a:r>
            <a:r>
              <a:rPr lang="en-US" sz="1400" dirty="0"/>
              <a:t> </a:t>
            </a:r>
            <a:r>
              <a:rPr lang="en-US" sz="1400" dirty="0" err="1"/>
              <a:t>ribuan</a:t>
            </a:r>
            <a:r>
              <a:rPr lang="en-US" sz="1400" dirty="0"/>
              <a:t> kali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kuat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, </a:t>
            </a:r>
            <a:r>
              <a:rPr lang="en-US" sz="1400" dirty="0" err="1"/>
              <a:t>meskipun</a:t>
            </a:r>
            <a:r>
              <a:rPr lang="en-US" sz="1400" dirty="0"/>
              <a:t> volume </a:t>
            </a:r>
            <a:r>
              <a:rPr lang="en-US" sz="1400" dirty="0" err="1"/>
              <a:t>airnya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sebesar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.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dasar</a:t>
            </a:r>
            <a:r>
              <a:rPr lang="en-US" sz="1400" dirty="0"/>
              <a:t> </a:t>
            </a:r>
            <a:r>
              <a:rPr lang="en-US" sz="1400" dirty="0" err="1"/>
              <a:t>mengapa</a:t>
            </a:r>
            <a:r>
              <a:rPr lang="en-US" sz="1400" dirty="0"/>
              <a:t> radar </a:t>
            </a:r>
            <a:r>
              <a:rPr lang="en-US" sz="1400" dirty="0" err="1"/>
              <a:t>mengukur</a:t>
            </a:r>
            <a:r>
              <a:rPr lang="en-US" sz="1400" dirty="0"/>
              <a:t> </a:t>
            </a:r>
            <a:r>
              <a:rPr lang="en-US" sz="1400" b="1" dirty="0" err="1"/>
              <a:t>reflektivitas</a:t>
            </a:r>
            <a:r>
              <a:rPr lang="en-US" sz="1400" b="1" dirty="0"/>
              <a:t> (</a:t>
            </a:r>
            <a:r>
              <a:rPr lang="en-US" sz="1400" b="1" dirty="0" err="1"/>
              <a:t>dBZ</a:t>
            </a:r>
            <a:r>
              <a:rPr lang="en-US" sz="1400" b="1" dirty="0"/>
              <a:t>)</a:t>
            </a:r>
            <a:r>
              <a:rPr lang="en-US" sz="1400" dirty="0"/>
              <a:t>, </a:t>
            </a:r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langsung</a:t>
            </a:r>
            <a:r>
              <a:rPr lang="en-US" sz="1400" dirty="0"/>
              <a:t> </a:t>
            </a:r>
            <a:r>
              <a:rPr lang="en-US" sz="1400" dirty="0" err="1"/>
              <a:t>curah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449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57476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 smtClean="0"/>
              <a:t>Asumsi</a:t>
            </a:r>
            <a:r>
              <a:rPr lang="en-US" sz="1400" b="1" dirty="0" smtClean="0"/>
              <a:t> </a:t>
            </a:r>
            <a:r>
              <a:rPr lang="en-US" sz="1400" b="1" dirty="0" err="1"/>
              <a:t>dasar</a:t>
            </a:r>
            <a:r>
              <a:rPr lang="en-US" sz="1400" b="1" dirty="0"/>
              <a:t> yang </a:t>
            </a:r>
            <a:r>
              <a:rPr lang="en-US" sz="1400" b="1" dirty="0" err="1"/>
              <a:t>digunakan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</a:t>
            </a:r>
            <a:r>
              <a:rPr lang="en-US" sz="1400" b="1" dirty="0" err="1"/>
              <a:t>Persamaan</a:t>
            </a:r>
            <a:r>
              <a:rPr lang="en-US" sz="1400" b="1" dirty="0"/>
              <a:t> Radar </a:t>
            </a:r>
            <a:r>
              <a:rPr lang="en-US" sz="1400" b="1" dirty="0" err="1"/>
              <a:t>Cuaca</a:t>
            </a:r>
            <a:r>
              <a:rPr lang="en-US" sz="1400" b="1" dirty="0"/>
              <a:t> (Radar Equation)</a:t>
            </a:r>
            <a:r>
              <a:rPr lang="en-US" sz="1400" dirty="0"/>
              <a:t>. </a:t>
            </a:r>
            <a:endParaRPr lang="en-US" sz="14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 err="1" smtClean="0"/>
              <a:t>Persamaan</a:t>
            </a:r>
            <a:r>
              <a:rPr lang="en-US" sz="1400" dirty="0" smtClean="0"/>
              <a:t> </a:t>
            </a:r>
            <a:r>
              <a:rPr lang="en-US" sz="1400" dirty="0"/>
              <a:t>radar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gunakan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menghitung</a:t>
            </a:r>
            <a:r>
              <a:rPr lang="en-US" sz="1400" dirty="0"/>
              <a:t> </a:t>
            </a:r>
            <a:r>
              <a:rPr lang="en-US" sz="1400" dirty="0" err="1"/>
              <a:t>reflektivitas</a:t>
            </a:r>
            <a:r>
              <a:rPr lang="en-US" sz="1400" dirty="0"/>
              <a:t> (Z) </a:t>
            </a:r>
            <a:r>
              <a:rPr lang="en-US" sz="1400" dirty="0" err="1"/>
              <a:t>sebenarnya</a:t>
            </a:r>
            <a:r>
              <a:rPr lang="en-US" sz="1400" dirty="0"/>
              <a:t> </a:t>
            </a:r>
            <a:r>
              <a:rPr lang="en-US" sz="1400" dirty="0" err="1"/>
              <a:t>dibuat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beberapa</a:t>
            </a:r>
            <a:r>
              <a:rPr lang="en-US" sz="1400" dirty="0"/>
              <a:t> </a:t>
            </a:r>
            <a:r>
              <a:rPr lang="en-US" sz="1400" dirty="0" err="1"/>
              <a:t>penyederhanaan</a:t>
            </a:r>
            <a:r>
              <a:rPr lang="en-US" sz="1400" dirty="0"/>
              <a:t>. </a:t>
            </a:r>
            <a:endParaRPr lang="en-US" sz="14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 smtClean="0"/>
              <a:t>Di </a:t>
            </a:r>
            <a:r>
              <a:rPr lang="en-US" sz="1400" dirty="0" err="1"/>
              <a:t>dunia</a:t>
            </a:r>
            <a:r>
              <a:rPr lang="en-US" sz="1400" dirty="0"/>
              <a:t> </a:t>
            </a:r>
            <a:r>
              <a:rPr lang="en-US" sz="1400" dirty="0" err="1"/>
              <a:t>nyata</a:t>
            </a:r>
            <a:r>
              <a:rPr lang="en-US" sz="1400" dirty="0"/>
              <a:t>, </a:t>
            </a:r>
            <a:r>
              <a:rPr lang="en-US" sz="1400" dirty="0" err="1"/>
              <a:t>asumsi-asumsi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terpenuhi</a:t>
            </a:r>
            <a:r>
              <a:rPr lang="en-US" sz="1400" dirty="0"/>
              <a:t> 100%,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 error </a:t>
            </a:r>
            <a:r>
              <a:rPr lang="en-US" sz="1400" dirty="0" err="1"/>
              <a:t>atau</a:t>
            </a:r>
            <a:r>
              <a:rPr lang="en-US" sz="1400" dirty="0"/>
              <a:t> bias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pengukuran</a:t>
            </a:r>
            <a:r>
              <a:rPr lang="en-US" sz="1400" dirty="0"/>
              <a:t> radar.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3286" y="2147348"/>
            <a:ext cx="574765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1. Target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terdiri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sangat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tetes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air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kecil</a:t>
            </a: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mengasumsikan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bahwa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volume yang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diamati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berisi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sangat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Contoh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54" y="2993733"/>
            <a:ext cx="1352550" cy="1295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3285" y="4321952"/>
            <a:ext cx="57476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Bukan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 smtClean="0"/>
              <a:t>. </a:t>
            </a:r>
            <a:r>
              <a:rPr lang="en-US" sz="1400" dirty="0" err="1" smtClean="0"/>
              <a:t>Karena</a:t>
            </a:r>
            <a:r>
              <a:rPr lang="en-US" sz="1400" dirty="0" smtClean="0"/>
              <a:t> </a:t>
            </a:r>
            <a:r>
              <a:rPr lang="en-US" sz="1400" dirty="0"/>
              <a:t>radar </a:t>
            </a:r>
            <a:r>
              <a:rPr lang="en-US" sz="1400" dirty="0" err="1"/>
              <a:t>cuaca</a:t>
            </a:r>
            <a:r>
              <a:rPr lang="en-US" sz="1400" dirty="0"/>
              <a:t> </a:t>
            </a:r>
            <a:r>
              <a:rPr lang="en-US" sz="1400" dirty="0" err="1"/>
              <a:t>mengukur</a:t>
            </a:r>
            <a:r>
              <a:rPr lang="en-US" sz="1400" dirty="0"/>
              <a:t> </a:t>
            </a:r>
            <a:r>
              <a:rPr lang="en-US" sz="1400" b="1" dirty="0"/>
              <a:t>target volume</a:t>
            </a:r>
            <a:r>
              <a:rPr lang="en-US" sz="1400" dirty="0"/>
              <a:t>, </a:t>
            </a:r>
            <a:r>
              <a:rPr lang="en-US" sz="1400" dirty="0" err="1"/>
              <a:t>bukan</a:t>
            </a:r>
            <a:r>
              <a:rPr lang="en-US" sz="1400" dirty="0"/>
              <a:t> target </a:t>
            </a:r>
            <a:r>
              <a:rPr lang="en-US" sz="1400" dirty="0" err="1"/>
              <a:t>tunggal</a:t>
            </a:r>
            <a:r>
              <a:rPr lang="en-US" sz="1400" dirty="0"/>
              <a:t>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7514" y="5269467"/>
            <a:ext cx="547656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Ukuran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jauh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kecil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daripada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panjang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gelombang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 smtClean="0"/>
              <a:t>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Teori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Hamburan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Rayleigh (Rayleigh Scattering)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Syaratnya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39" y="5937126"/>
            <a:ext cx="790575" cy="495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519" y="546909"/>
            <a:ext cx="4333875" cy="23336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1519" y="310145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tetes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jauh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10 cm, </a:t>
            </a:r>
            <a:r>
              <a:rPr lang="en-US" sz="1400" dirty="0" err="1"/>
              <a:t>asumsi</a:t>
            </a:r>
            <a:r>
              <a:rPr lang="en-US" sz="1400" dirty="0"/>
              <a:t> Rayleigh </a:t>
            </a:r>
            <a:r>
              <a:rPr lang="en-US" sz="1400" dirty="0" err="1"/>
              <a:t>masih</a:t>
            </a:r>
            <a:r>
              <a:rPr lang="en-US" sz="1400" dirty="0"/>
              <a:t> </a:t>
            </a:r>
            <a:r>
              <a:rPr lang="en-US" sz="1400" dirty="0" err="1"/>
              <a:t>berlaku</a:t>
            </a:r>
            <a:r>
              <a:rPr lang="en-US" sz="1400" dirty="0"/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778" y="3697737"/>
            <a:ext cx="4305300" cy="17716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83778" y="5478319"/>
            <a:ext cx="52659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Maka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Hamburan</a:t>
            </a:r>
            <a:r>
              <a:rPr lang="en-US" sz="1400" dirty="0"/>
              <a:t> Rayleigh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akurat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Terjadi</a:t>
            </a:r>
            <a:r>
              <a:rPr lang="en-US" sz="1400" dirty="0"/>
              <a:t> </a:t>
            </a:r>
            <a:r>
              <a:rPr lang="en-US" sz="1400" dirty="0" err="1"/>
              <a:t>hamburan</a:t>
            </a:r>
            <a:r>
              <a:rPr lang="en-US" sz="1400" dirty="0"/>
              <a:t> Mie (Mie Scattering).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Nilai</a:t>
            </a:r>
            <a:r>
              <a:rPr lang="en-US" sz="1400" dirty="0"/>
              <a:t> </a:t>
            </a: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478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3285" y="546909"/>
            <a:ext cx="39811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3. </a:t>
            </a:r>
            <a:r>
              <a:rPr lang="en-US" sz="1400" b="1" dirty="0" err="1"/>
              <a:t>Tetes</a:t>
            </a:r>
            <a:r>
              <a:rPr lang="en-US" sz="1400" b="1" dirty="0"/>
              <a:t> </a:t>
            </a:r>
            <a:r>
              <a:rPr lang="en-US" sz="1400" b="1" dirty="0" err="1"/>
              <a:t>hujan</a:t>
            </a:r>
            <a:r>
              <a:rPr lang="en-US" sz="1400" b="1" dirty="0"/>
              <a:t> </a:t>
            </a:r>
            <a:r>
              <a:rPr lang="en-US" sz="1400" b="1" dirty="0" err="1"/>
              <a:t>tersebar</a:t>
            </a:r>
            <a:r>
              <a:rPr lang="en-US" sz="1400" b="1" dirty="0"/>
              <a:t> </a:t>
            </a:r>
            <a:r>
              <a:rPr lang="en-US" sz="1400" b="1" dirty="0" err="1"/>
              <a:t>merata</a:t>
            </a:r>
            <a:r>
              <a:rPr lang="en-US" sz="1400" b="1" dirty="0"/>
              <a:t> </a:t>
            </a:r>
            <a:r>
              <a:rPr lang="en-US" sz="1400" b="1" dirty="0" err="1"/>
              <a:t>dalam</a:t>
            </a:r>
            <a:r>
              <a:rPr lang="en-US" sz="1400" b="1" dirty="0"/>
              <a:t> volume 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285" y="85468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mengasumsikan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distribusi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di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volume radar </a:t>
            </a:r>
            <a:r>
              <a:rPr lang="en-US" sz="1400" dirty="0" err="1"/>
              <a:t>homogen</a:t>
            </a:r>
            <a:r>
              <a:rPr lang="en-US" sz="14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02" y="1116296"/>
            <a:ext cx="1343025" cy="2667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285" y="3811373"/>
            <a:ext cx="6096000" cy="16619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/>
              <a:t>Kenyataannya</a:t>
            </a:r>
            <a:endParaRPr lang="en-US" sz="1400" b="1" dirty="0"/>
          </a:p>
          <a:p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awan</a:t>
            </a:r>
            <a:r>
              <a:rPr lang="en-US" sz="1400" dirty="0"/>
              <a:t> </a:t>
            </a:r>
            <a:r>
              <a:rPr lang="en-US" sz="1400" dirty="0" err="1"/>
              <a:t>konvektif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Ada </a:t>
            </a:r>
            <a:r>
              <a:rPr lang="en-US" sz="1400" dirty="0" err="1"/>
              <a:t>daerah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lebat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Ada </a:t>
            </a:r>
            <a:r>
              <a:rPr lang="en-US" sz="1400" dirty="0" err="1"/>
              <a:t>daerah</a:t>
            </a:r>
            <a:r>
              <a:rPr lang="en-US" sz="1400" dirty="0"/>
              <a:t> </a:t>
            </a:r>
            <a:r>
              <a:rPr lang="en-US" sz="1400" dirty="0" err="1"/>
              <a:t>hampir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. </a:t>
            </a:r>
          </a:p>
          <a:p>
            <a:r>
              <a:rPr lang="en-US" sz="1400" dirty="0" err="1"/>
              <a:t>Distribusi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merata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r>
              <a:rPr lang="en-US" sz="1400" dirty="0" err="1"/>
              <a:t>Reflektivitas</a:t>
            </a:r>
            <a:r>
              <a:rPr lang="en-US" sz="1400" dirty="0"/>
              <a:t> yang </a:t>
            </a:r>
            <a:r>
              <a:rPr lang="en-US" sz="1400" dirty="0" err="1"/>
              <a:t>dihitung</a:t>
            </a:r>
            <a:r>
              <a:rPr lang="en-US" sz="1400" dirty="0"/>
              <a:t> radar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b="1" dirty="0"/>
              <a:t>rata-rata volume</a:t>
            </a:r>
            <a:r>
              <a:rPr lang="en-US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285" y="5473366"/>
            <a:ext cx="42326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4. </a:t>
            </a:r>
            <a:r>
              <a:rPr lang="en-US" sz="1400" b="1" dirty="0" err="1"/>
              <a:t>Semua</a:t>
            </a:r>
            <a:r>
              <a:rPr lang="en-US" sz="1400" b="1" dirty="0"/>
              <a:t> </a:t>
            </a:r>
            <a:r>
              <a:rPr lang="en-US" sz="1400" b="1" dirty="0" err="1"/>
              <a:t>partikel</a:t>
            </a:r>
            <a:r>
              <a:rPr lang="en-US" sz="1400" b="1" dirty="0"/>
              <a:t> </a:t>
            </a:r>
            <a:r>
              <a:rPr lang="en-US" sz="1400" b="1" dirty="0" err="1"/>
              <a:t>memiliki</a:t>
            </a:r>
            <a:r>
              <a:rPr lang="en-US" sz="1400" b="1" dirty="0"/>
              <a:t> </a:t>
            </a:r>
            <a:r>
              <a:rPr lang="en-US" sz="1400" b="1" dirty="0" err="1"/>
              <a:t>faktor</a:t>
            </a:r>
            <a:r>
              <a:rPr lang="en-US" sz="1400" b="1" dirty="0"/>
              <a:t> </a:t>
            </a:r>
            <a:r>
              <a:rPr lang="en-US" sz="1400" b="1" dirty="0" err="1"/>
              <a:t>dielektrik</a:t>
            </a:r>
            <a:r>
              <a:rPr lang="en-US" sz="1400" b="1" dirty="0"/>
              <a:t> yang </a:t>
            </a:r>
            <a:r>
              <a:rPr lang="en-US" sz="1400" b="1" dirty="0" err="1"/>
              <a:t>sama</a:t>
            </a:r>
            <a:endParaRPr lang="en-US" sz="1400" b="1" dirty="0"/>
          </a:p>
        </p:txBody>
      </p:sp>
      <p:sp>
        <p:nvSpPr>
          <p:cNvPr id="9" name="Rectangle 8"/>
          <p:cNvSpPr/>
          <p:nvPr/>
        </p:nvSpPr>
        <p:spPr>
          <a:xfrm>
            <a:off x="163285" y="5781143"/>
            <a:ext cx="55626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menganggap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partikel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volume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:</a:t>
            </a:r>
          </a:p>
          <a:p>
            <a:r>
              <a:rPr lang="en-US" sz="1400" dirty="0"/>
              <a:t>Air </a:t>
            </a:r>
            <a:r>
              <a:rPr lang="en-US" sz="1400" dirty="0" err="1"/>
              <a:t>cair</a:t>
            </a:r>
            <a:r>
              <a:rPr lang="en-US" sz="1400" dirty="0"/>
              <a:t> </a:t>
            </a:r>
            <a:r>
              <a:rPr lang="en-US" sz="1400" dirty="0" err="1" smtClean="0"/>
              <a:t>semuanya</a:t>
            </a:r>
            <a:r>
              <a:rPr lang="en-US" sz="1400" dirty="0" smtClean="0"/>
              <a:t> </a:t>
            </a:r>
            <a:r>
              <a:rPr lang="en-US" sz="1400" dirty="0" err="1" smtClean="0"/>
              <a:t>atau</a:t>
            </a:r>
            <a:r>
              <a:rPr lang="en-US" sz="1400" dirty="0" smtClean="0"/>
              <a:t>   </a:t>
            </a:r>
            <a:r>
              <a:rPr lang="en-US" sz="1400" dirty="0" err="1" smtClean="0"/>
              <a:t>Es</a:t>
            </a:r>
            <a:r>
              <a:rPr lang="en-US" sz="1400" dirty="0" smtClean="0"/>
              <a:t> </a:t>
            </a:r>
            <a:r>
              <a:rPr lang="en-US" sz="1400" dirty="0" err="1"/>
              <a:t>semuanya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5638800" y="5565699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b="1" dirty="0" err="1"/>
              <a:t>Kenyataannya</a:t>
            </a:r>
            <a:endParaRPr lang="en-US" sz="1400" b="1" dirty="0"/>
          </a:p>
          <a:p>
            <a:pPr algn="just"/>
            <a:r>
              <a:rPr lang="en-US" sz="1400" dirty="0"/>
              <a:t>Di </a:t>
            </a:r>
            <a:r>
              <a:rPr lang="en-US" sz="1400" dirty="0" err="1"/>
              <a:t>sekitar</a:t>
            </a:r>
            <a:r>
              <a:rPr lang="en-US" sz="1400" dirty="0"/>
              <a:t> level 0°C </a:t>
            </a:r>
            <a:r>
              <a:rPr lang="en-US" sz="1400" dirty="0" err="1"/>
              <a:t>sering</a:t>
            </a:r>
            <a:r>
              <a:rPr lang="en-US" sz="1400" dirty="0"/>
              <a:t> </a:t>
            </a:r>
            <a:r>
              <a:rPr lang="en-US" sz="1400" dirty="0" err="1"/>
              <a:t>terdapat</a:t>
            </a:r>
            <a:r>
              <a:rPr lang="en-US" sz="1400" dirty="0"/>
              <a:t>:</a:t>
            </a:r>
          </a:p>
          <a:p>
            <a:pPr algn="just"/>
            <a:r>
              <a:rPr lang="en-US" sz="1400" dirty="0"/>
              <a:t>Air </a:t>
            </a:r>
            <a:r>
              <a:rPr lang="en-US" sz="1400" dirty="0" err="1"/>
              <a:t>cair</a:t>
            </a:r>
            <a:r>
              <a:rPr lang="en-US" sz="1400" dirty="0"/>
              <a:t> </a:t>
            </a:r>
            <a:r>
              <a:rPr lang="en-US" sz="1400" dirty="0" smtClean="0"/>
              <a:t>, </a:t>
            </a:r>
            <a:r>
              <a:rPr lang="en-US" sz="1400" dirty="0" err="1" smtClean="0"/>
              <a:t>Es</a:t>
            </a:r>
            <a:r>
              <a:rPr lang="en-US" sz="1400" dirty="0" smtClean="0"/>
              <a:t> , </a:t>
            </a:r>
            <a:r>
              <a:rPr lang="en-US" sz="1400" dirty="0" err="1" smtClean="0"/>
              <a:t>Salju</a:t>
            </a:r>
            <a:r>
              <a:rPr lang="en-US" sz="1400" dirty="0" smtClean="0"/>
              <a:t> </a:t>
            </a:r>
            <a:r>
              <a:rPr lang="en-US" sz="1400" dirty="0" err="1" smtClean="0"/>
              <a:t>basah</a:t>
            </a:r>
            <a:r>
              <a:rPr lang="en-US" sz="1400" dirty="0" smtClean="0"/>
              <a:t>, </a:t>
            </a:r>
            <a:r>
              <a:rPr lang="en-US" sz="1400" dirty="0" err="1" smtClean="0"/>
              <a:t>Graupel</a:t>
            </a:r>
            <a:r>
              <a:rPr lang="en-US" sz="1400" dirty="0" smtClean="0"/>
              <a:t> </a:t>
            </a:r>
            <a:r>
              <a:rPr lang="en-US" sz="1400" dirty="0" err="1" smtClean="0"/>
              <a:t>dalam</a:t>
            </a:r>
            <a:r>
              <a:rPr lang="en-US" sz="1400" dirty="0" smtClean="0"/>
              <a:t> </a:t>
            </a:r>
            <a:r>
              <a:rPr lang="en-US" sz="1400" dirty="0" err="1"/>
              <a:t>satu</a:t>
            </a:r>
            <a:r>
              <a:rPr lang="en-US" sz="1400" dirty="0"/>
              <a:t> volume radar yang </a:t>
            </a:r>
            <a:r>
              <a:rPr lang="en-US" sz="1400" dirty="0" err="1" smtClean="0"/>
              <a:t>sama</a:t>
            </a:r>
            <a:r>
              <a:rPr lang="en-US" sz="1400" dirty="0" smtClean="0"/>
              <a:t>. </a:t>
            </a:r>
            <a:r>
              <a:rPr lang="en-US" sz="1400" dirty="0" err="1" smtClean="0"/>
              <a:t>Akibatnya</a:t>
            </a:r>
            <a:r>
              <a:rPr lang="en-US" sz="1400" dirty="0" smtClean="0"/>
              <a:t> </a:t>
            </a:r>
            <a:r>
              <a:rPr lang="en-US" sz="1400" dirty="0" err="1"/>
              <a:t>asumsi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selalu</a:t>
            </a:r>
            <a:r>
              <a:rPr lang="en-US" sz="1400" dirty="0"/>
              <a:t> </a:t>
            </a:r>
            <a:r>
              <a:rPr lang="en-US" sz="1400" dirty="0" err="1"/>
              <a:t>benar</a:t>
            </a:r>
            <a:r>
              <a:rPr lang="en-US" sz="1400" dirty="0"/>
              <a:t>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03371" y="5868580"/>
            <a:ext cx="435429" cy="3483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04115" y="425329"/>
            <a:ext cx="3449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/>
              <a:t>5. </a:t>
            </a:r>
            <a:r>
              <a:rPr lang="en-US" sz="1400" b="1" dirty="0" err="1" smtClean="0"/>
              <a:t>Tidak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ada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pelemahan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sinyal</a:t>
            </a:r>
            <a:r>
              <a:rPr lang="en-US" sz="1400" b="1" dirty="0" smtClean="0"/>
              <a:t> (attenuation)</a:t>
            </a:r>
            <a:endParaRPr lang="en-US" sz="1400" b="1" dirty="0"/>
          </a:p>
        </p:txBody>
      </p:sp>
      <p:sp>
        <p:nvSpPr>
          <p:cNvPr id="13" name="Rectangle 12"/>
          <p:cNvSpPr/>
          <p:nvPr/>
        </p:nvSpPr>
        <p:spPr>
          <a:xfrm>
            <a:off x="5856514" y="71434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mengasumsikan</a:t>
            </a:r>
            <a:r>
              <a:rPr lang="en-US" sz="1400" dirty="0"/>
              <a:t> </a:t>
            </a:r>
            <a:r>
              <a:rPr lang="en-US" sz="1400" dirty="0" err="1"/>
              <a:t>sinyal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melemah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berjalan</a:t>
            </a:r>
            <a:r>
              <a:rPr lang="en-US" sz="1400" dirty="0"/>
              <a:t> </a:t>
            </a:r>
            <a:r>
              <a:rPr lang="en-US" sz="1400" dirty="0" err="1"/>
              <a:t>menuju</a:t>
            </a:r>
            <a:r>
              <a:rPr lang="en-US" sz="1400" dirty="0"/>
              <a:t> target.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147" y="1007056"/>
            <a:ext cx="2708831" cy="342343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686800" y="2157338"/>
            <a:ext cx="30371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diserap</a:t>
            </a:r>
            <a:r>
              <a:rPr lang="en-US" sz="1400" dirty="0"/>
              <a:t> </a:t>
            </a:r>
            <a:r>
              <a:rPr lang="en-US" sz="1400" dirty="0" err="1"/>
              <a:t>hujan</a:t>
            </a:r>
            <a:r>
              <a:rPr lang="en-US" sz="1400" dirty="0"/>
              <a:t> </a:t>
            </a:r>
            <a:r>
              <a:rPr lang="en-US" sz="1400" dirty="0" err="1"/>
              <a:t>sebelum</a:t>
            </a:r>
            <a:r>
              <a:rPr lang="en-US" sz="1400" dirty="0"/>
              <a:t> </a:t>
            </a:r>
            <a:r>
              <a:rPr lang="en-US" sz="1400" dirty="0" err="1"/>
              <a:t>mencapai</a:t>
            </a:r>
            <a:r>
              <a:rPr lang="en-US" sz="1400" dirty="0"/>
              <a:t> target.</a:t>
            </a:r>
          </a:p>
          <a:p>
            <a:pPr algn="just"/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Target </a:t>
            </a:r>
            <a:r>
              <a:rPr lang="en-US" sz="1400" dirty="0" err="1"/>
              <a:t>terlihat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lemah</a:t>
            </a:r>
            <a:r>
              <a:rPr lang="en-US" sz="1400" dirty="0"/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 err="1"/>
              <a:t>dBZ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rendah</a:t>
            </a:r>
            <a:r>
              <a:rPr lang="en-US" sz="1400" dirty="0"/>
              <a:t>. </a:t>
            </a:r>
          </a:p>
          <a:p>
            <a:pPr algn="just"/>
            <a:r>
              <a:rPr lang="en-US" sz="1400" dirty="0" err="1"/>
              <a:t>Fenomena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X-Band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C-Band </a:t>
            </a:r>
          </a:p>
          <a:p>
            <a:pPr algn="just"/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Radar S-Band</a:t>
            </a:r>
          </a:p>
        </p:txBody>
      </p:sp>
    </p:spTree>
    <p:extLst>
      <p:ext uri="{BB962C8B-B14F-4D97-AF65-F5344CB8AC3E}">
        <p14:creationId xmlns:p14="http://schemas.microsoft.com/office/powerpoint/2010/main" val="327660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285" y="177577"/>
            <a:ext cx="4016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RADAR EQUATION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285" y="546909"/>
            <a:ext cx="2571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6. Multiple Scattering </a:t>
            </a:r>
            <a:r>
              <a:rPr lang="en-US" sz="1400" b="1" dirty="0" err="1"/>
              <a:t>Diabaikan</a:t>
            </a:r>
            <a:endParaRPr lang="en-US" sz="1400" b="1" dirty="0"/>
          </a:p>
        </p:txBody>
      </p:sp>
      <p:sp>
        <p:nvSpPr>
          <p:cNvPr id="4" name="Rectangle 3"/>
          <p:cNvSpPr/>
          <p:nvPr/>
        </p:nvSpPr>
        <p:spPr>
          <a:xfrm>
            <a:off x="288075" y="854686"/>
            <a:ext cx="29710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Radar </a:t>
            </a:r>
            <a:r>
              <a:rPr lang="en-US" sz="1400" dirty="0" err="1"/>
              <a:t>menganggap</a:t>
            </a:r>
            <a:r>
              <a:rPr lang="en-US" sz="1400" dirty="0"/>
              <a:t> </a:t>
            </a:r>
            <a:r>
              <a:rPr lang="en-US" sz="1400" dirty="0" err="1"/>
              <a:t>gelombang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6" y="1162463"/>
            <a:ext cx="19050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Radar → </a:t>
            </a:r>
            <a:r>
              <a:rPr lang="en-US" sz="1400" dirty="0" err="1"/>
              <a:t>Tetes</a:t>
            </a:r>
            <a:r>
              <a:rPr lang="en-US" sz="1400" dirty="0"/>
              <a:t> → Radar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7189" y="1470240"/>
            <a:ext cx="20297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 smtClean="0"/>
              <a:t>Dalam</a:t>
            </a:r>
            <a:r>
              <a:rPr lang="en-US" sz="1400" dirty="0" smtClean="0"/>
              <a:t> </a:t>
            </a:r>
            <a:r>
              <a:rPr lang="en-US" sz="1400" dirty="0" err="1" smtClean="0"/>
              <a:t>satu</a:t>
            </a:r>
            <a:r>
              <a:rPr lang="en-US" sz="1400" dirty="0" smtClean="0"/>
              <a:t> </a:t>
            </a:r>
            <a:r>
              <a:rPr lang="en-US" sz="1400" dirty="0"/>
              <a:t>kali </a:t>
            </a:r>
            <a:r>
              <a:rPr lang="en-US" sz="1400" dirty="0" err="1"/>
              <a:t>pantulan</a:t>
            </a:r>
            <a:r>
              <a:rPr lang="en-US" sz="1400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75" y="1867580"/>
            <a:ext cx="2447196" cy="28218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1081" y="4914037"/>
            <a:ext cx="499229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Energi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dipantulkan</a:t>
            </a:r>
            <a:r>
              <a:rPr lang="en-US" sz="1400" dirty="0"/>
              <a:t> </a:t>
            </a:r>
            <a:r>
              <a:rPr lang="en-US" sz="1400" dirty="0" err="1"/>
              <a:t>berkali</a:t>
            </a:r>
            <a:r>
              <a:rPr lang="en-US" sz="1400" dirty="0"/>
              <a:t>-kali </a:t>
            </a:r>
            <a:r>
              <a:rPr lang="en-US" sz="1400" dirty="0" err="1"/>
              <a:t>antar</a:t>
            </a:r>
            <a:r>
              <a:rPr lang="en-US" sz="1400" dirty="0"/>
              <a:t> </a:t>
            </a:r>
            <a:r>
              <a:rPr lang="en-US" sz="1400" dirty="0" err="1"/>
              <a:t>partikel</a:t>
            </a:r>
            <a:r>
              <a:rPr lang="en-US" sz="1400" dirty="0" smtClean="0"/>
              <a:t>. </a:t>
            </a:r>
            <a:r>
              <a:rPr lang="en-US" sz="1400" dirty="0" err="1" smtClean="0"/>
              <a:t>Disebut</a:t>
            </a:r>
            <a:r>
              <a:rPr lang="en-US" sz="1400" dirty="0"/>
              <a:t>:</a:t>
            </a:r>
          </a:p>
          <a:p>
            <a:r>
              <a:rPr lang="en-US" sz="1400" b="1" dirty="0"/>
              <a:t>Multiple Scattering</a:t>
            </a:r>
            <a:endParaRPr lang="en-US" sz="1400" dirty="0"/>
          </a:p>
          <a:p>
            <a:r>
              <a:rPr lang="en-US" sz="1400" dirty="0" err="1"/>
              <a:t>Akibatnya</a:t>
            </a:r>
            <a:r>
              <a:rPr lang="en-US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Pengukuran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rumit</a:t>
            </a:r>
            <a:r>
              <a:rPr lang="en-US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Persamaan</a:t>
            </a:r>
            <a:r>
              <a:rPr lang="en-US" sz="1400" dirty="0"/>
              <a:t> radar </a:t>
            </a:r>
            <a:r>
              <a:rPr lang="en-US" sz="1400" dirty="0" err="1"/>
              <a:t>sederhana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sepenuhnya</a:t>
            </a:r>
            <a:r>
              <a:rPr lang="en-US" sz="1400" dirty="0"/>
              <a:t> </a:t>
            </a:r>
            <a:r>
              <a:rPr lang="en-US" sz="1400" dirty="0" err="1"/>
              <a:t>akurat</a:t>
            </a:r>
            <a:r>
              <a:rPr lang="en-US" sz="1400" dirty="0"/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71" y="177577"/>
            <a:ext cx="6229350" cy="3429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203371" y="3994053"/>
            <a:ext cx="633412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/>
              <a:t>Kesimpulan</a:t>
            </a:r>
            <a:endParaRPr lang="en-US" altLang="en-US" sz="1600" b="1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err="1" smtClean="0"/>
              <a:t>Persamaan</a:t>
            </a:r>
            <a:r>
              <a:rPr lang="en-US" altLang="en-US" sz="1400" b="1" dirty="0" smtClean="0"/>
              <a:t> </a:t>
            </a:r>
            <a:r>
              <a:rPr lang="en-US" altLang="en-US" sz="1400" b="1" dirty="0"/>
              <a:t>Radar </a:t>
            </a:r>
            <a:r>
              <a:rPr lang="en-US" altLang="en-US" sz="1400" b="1" dirty="0" err="1"/>
              <a:t>Meteorologi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adalah</a:t>
            </a:r>
            <a:r>
              <a:rPr lang="en-US" altLang="en-US" sz="1400" b="1" dirty="0"/>
              <a:t> model yang </a:t>
            </a:r>
            <a:r>
              <a:rPr lang="en-US" altLang="en-US" sz="1400" b="1" dirty="0" err="1"/>
              <a:t>disederhanakan</a:t>
            </a:r>
            <a:r>
              <a:rPr lang="en-US" altLang="en-US" sz="1400" dirty="0"/>
              <a:t>. Agar </a:t>
            </a:r>
            <a:r>
              <a:rPr lang="en-US" altLang="en-US" sz="1400" dirty="0" err="1"/>
              <a:t>persamaan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dapat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digunakan</a:t>
            </a:r>
            <a:r>
              <a:rPr lang="en-US" altLang="en-US" sz="1400" dirty="0" smtClean="0"/>
              <a:t>, </a:t>
            </a:r>
            <a:r>
              <a:rPr lang="en-US" altLang="en-US" sz="1400" dirty="0" err="1" smtClean="0"/>
              <a:t>maka</a:t>
            </a:r>
            <a:r>
              <a:rPr lang="en-US" altLang="en-US" sz="1400" dirty="0" smtClean="0"/>
              <a:t> :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smtClean="0"/>
              <a:t>Radar </a:t>
            </a:r>
            <a:r>
              <a:rPr lang="en-US" altLang="en-US" sz="1400" dirty="0" err="1"/>
              <a:t>mengasumsikan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partikel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hujan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berukuran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kecil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tersebar</a:t>
            </a:r>
            <a:r>
              <a:rPr lang="en-US" altLang="en-US" sz="1400" dirty="0"/>
              <a:t> </a:t>
            </a:r>
            <a:r>
              <a:rPr lang="en-US" altLang="en-US" sz="1400" dirty="0" err="1"/>
              <a:t>merata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memiliki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sifat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fisik</a:t>
            </a:r>
            <a:r>
              <a:rPr lang="en-US" altLang="en-US" sz="1400" dirty="0"/>
              <a:t> yang </a:t>
            </a:r>
            <a:r>
              <a:rPr lang="en-US" altLang="en-US" sz="1400" dirty="0" err="1"/>
              <a:t>sama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terjadi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pelemahan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sinyal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dan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ada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pantulan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ganda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antar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partikel</a:t>
            </a:r>
            <a:r>
              <a:rPr lang="en-US" altLang="en-US" sz="1400" dirty="0"/>
              <a:t>. </a:t>
            </a:r>
            <a:endParaRPr lang="en-US" altLang="en-US" sz="1400" dirty="0" smtClean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err="1" smtClean="0"/>
              <a:t>Dalam</a:t>
            </a:r>
            <a:r>
              <a:rPr lang="en-US" altLang="en-US" sz="1400" dirty="0" smtClean="0"/>
              <a:t> </a:t>
            </a:r>
            <a:r>
              <a:rPr lang="en-US" altLang="en-US" sz="1400" dirty="0" err="1"/>
              <a:t>kondisi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cuaca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ekstrem</a:t>
            </a:r>
            <a:r>
              <a:rPr lang="en-US" altLang="en-US" sz="1400" dirty="0"/>
              <a:t> (</a:t>
            </a:r>
            <a:r>
              <a:rPr lang="en-US" altLang="en-US" sz="1400" dirty="0" err="1"/>
              <a:t>hujan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sangat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lebat</a:t>
            </a:r>
            <a:r>
              <a:rPr lang="en-US" altLang="en-US" sz="1400" dirty="0"/>
              <a:t>, hail, bright band, </a:t>
            </a:r>
            <a:r>
              <a:rPr lang="en-US" altLang="en-US" sz="1400" dirty="0" err="1"/>
              <a:t>atau</a:t>
            </a:r>
            <a:r>
              <a:rPr lang="en-US" altLang="en-US" sz="1400" dirty="0"/>
              <a:t> attenuation </a:t>
            </a:r>
            <a:r>
              <a:rPr lang="en-US" altLang="en-US" sz="1400" dirty="0" err="1"/>
              <a:t>kuat</a:t>
            </a:r>
            <a:r>
              <a:rPr lang="en-US" altLang="en-US" sz="1400" dirty="0"/>
              <a:t>), </a:t>
            </a:r>
            <a:r>
              <a:rPr lang="en-US" altLang="en-US" sz="1400" dirty="0" err="1"/>
              <a:t>beberapa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asumsi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ini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tidak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terpenuhi</a:t>
            </a:r>
            <a:r>
              <a:rPr lang="en-US" altLang="en-US" sz="1400" dirty="0"/>
              <a:t> </a:t>
            </a:r>
            <a:r>
              <a:rPr lang="en-US" altLang="en-US" sz="1400" dirty="0" err="1"/>
              <a:t>sehingga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hasil</a:t>
            </a:r>
            <a:r>
              <a:rPr lang="en-US" altLang="en-US" sz="1400" dirty="0"/>
              <a:t> radar </a:t>
            </a:r>
            <a:r>
              <a:rPr lang="en-US" altLang="en-US" sz="1400" dirty="0" err="1"/>
              <a:t>dapat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mengandung</a:t>
            </a:r>
            <a:r>
              <a:rPr lang="en-US" altLang="en-US" sz="1400" dirty="0"/>
              <a:t> </a:t>
            </a:r>
            <a:r>
              <a:rPr lang="en-US" altLang="en-US" sz="1400" dirty="0" err="1"/>
              <a:t>kesalahan</a:t>
            </a:r>
            <a:r>
              <a:rPr lang="en-US" altLang="en-US" sz="1400" dirty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1080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1555" y="1553838"/>
            <a:ext cx="1219200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Kesimpulan</a:t>
            </a: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Slide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menjelaskan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bahwa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Persamaan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Meteorologi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adalah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model yang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disederhanakan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Agar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persamaan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dapat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digunakan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mengasumsikan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berukuran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kecil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tersebar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merata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memiliki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sifat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fisik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sama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tidak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terjadi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pelemahan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sinyal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tidak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ada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pantulan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ganda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antar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partikel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kondisi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cuaca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ekstrem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hujan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sangat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lebat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hail, bright band,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attenuation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kuat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beberapa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asumsi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tidak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terpenuhi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sehingga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hasil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radar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dapat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mengandung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kesalahan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memerlukan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koreksi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tambahan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76600" y="278948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/>
              <a:t>Kesimpulan</a:t>
            </a:r>
            <a:endParaRPr lang="en-US" alt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Slide </a:t>
            </a:r>
            <a:r>
              <a:rPr lang="en-US" altLang="en-US" dirty="0" err="1"/>
              <a:t>ini</a:t>
            </a:r>
            <a:r>
              <a:rPr lang="en-US" altLang="en-US" dirty="0"/>
              <a:t> </a:t>
            </a:r>
            <a:r>
              <a:rPr lang="en-US" altLang="en-US" dirty="0" err="1"/>
              <a:t>menjelaskan</a:t>
            </a:r>
            <a:r>
              <a:rPr lang="en-US" altLang="en-US" dirty="0"/>
              <a:t> </a:t>
            </a:r>
            <a:r>
              <a:rPr lang="en-US" altLang="en-US" dirty="0" err="1"/>
              <a:t>bahwa</a:t>
            </a:r>
            <a:r>
              <a:rPr lang="en-US" altLang="en-US" dirty="0"/>
              <a:t> </a:t>
            </a:r>
            <a:r>
              <a:rPr lang="en-US" altLang="en-US" b="1" dirty="0" err="1"/>
              <a:t>Persamaan</a:t>
            </a:r>
            <a:r>
              <a:rPr lang="en-US" altLang="en-US" b="1" dirty="0"/>
              <a:t> Radar </a:t>
            </a:r>
            <a:r>
              <a:rPr lang="en-US" altLang="en-US" b="1" dirty="0" err="1"/>
              <a:t>Meteorologi</a:t>
            </a:r>
            <a:r>
              <a:rPr lang="en-US" altLang="en-US" b="1" dirty="0"/>
              <a:t> </a:t>
            </a:r>
            <a:r>
              <a:rPr lang="en-US" altLang="en-US" b="1" dirty="0" err="1"/>
              <a:t>adalah</a:t>
            </a:r>
            <a:r>
              <a:rPr lang="en-US" altLang="en-US" b="1" dirty="0"/>
              <a:t> model yang </a:t>
            </a:r>
            <a:r>
              <a:rPr lang="en-US" altLang="en-US" b="1" dirty="0" err="1"/>
              <a:t>disederhanakan</a:t>
            </a:r>
            <a:r>
              <a:rPr lang="en-US" altLang="en-US" dirty="0"/>
              <a:t>. Agar </a:t>
            </a:r>
            <a:r>
              <a:rPr lang="en-US" altLang="en-US" dirty="0" err="1"/>
              <a:t>persamaan</a:t>
            </a:r>
            <a:r>
              <a:rPr lang="en-US" altLang="en-US" dirty="0"/>
              <a:t> </a:t>
            </a:r>
            <a:r>
              <a:rPr lang="en-US" altLang="en-US" dirty="0" err="1"/>
              <a:t>dapat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, radar </a:t>
            </a:r>
            <a:r>
              <a:rPr lang="en-US" altLang="en-US" dirty="0" err="1"/>
              <a:t>mengasumsikan</a:t>
            </a:r>
            <a:r>
              <a:rPr lang="en-US" altLang="en-US" dirty="0"/>
              <a:t> </a:t>
            </a:r>
            <a:r>
              <a:rPr lang="en-US" altLang="en-US" dirty="0" err="1"/>
              <a:t>partikel</a:t>
            </a:r>
            <a:r>
              <a:rPr lang="en-US" altLang="en-US" dirty="0"/>
              <a:t> </a:t>
            </a:r>
            <a:r>
              <a:rPr lang="en-US" altLang="en-US" dirty="0" err="1"/>
              <a:t>hujan</a:t>
            </a:r>
            <a:r>
              <a:rPr lang="en-US" altLang="en-US" dirty="0"/>
              <a:t> </a:t>
            </a:r>
            <a:r>
              <a:rPr lang="en-US" altLang="en-US" dirty="0" err="1"/>
              <a:t>berukuran</a:t>
            </a:r>
            <a:r>
              <a:rPr lang="en-US" altLang="en-US" dirty="0"/>
              <a:t> </a:t>
            </a:r>
            <a:r>
              <a:rPr lang="en-US" altLang="en-US" dirty="0" err="1"/>
              <a:t>kecil</a:t>
            </a:r>
            <a:r>
              <a:rPr lang="en-US" altLang="en-US" dirty="0"/>
              <a:t>, </a:t>
            </a:r>
            <a:r>
              <a:rPr lang="en-US" altLang="en-US" dirty="0" err="1"/>
              <a:t>tersebar</a:t>
            </a:r>
            <a:r>
              <a:rPr lang="en-US" altLang="en-US" dirty="0"/>
              <a:t> </a:t>
            </a:r>
            <a:r>
              <a:rPr lang="en-US" altLang="en-US" dirty="0" err="1"/>
              <a:t>merata</a:t>
            </a:r>
            <a:r>
              <a:rPr lang="en-US" altLang="en-US" dirty="0"/>
              <a:t>, </a:t>
            </a:r>
            <a:r>
              <a:rPr lang="en-US" altLang="en-US" dirty="0" err="1"/>
              <a:t>memiliki</a:t>
            </a:r>
            <a:r>
              <a:rPr lang="en-US" altLang="en-US" dirty="0"/>
              <a:t> </a:t>
            </a:r>
            <a:r>
              <a:rPr lang="en-US" altLang="en-US" dirty="0" err="1"/>
              <a:t>sifat</a:t>
            </a:r>
            <a:r>
              <a:rPr lang="en-US" altLang="en-US" dirty="0"/>
              <a:t> </a:t>
            </a:r>
            <a:r>
              <a:rPr lang="en-US" altLang="en-US" dirty="0" err="1"/>
              <a:t>fisik</a:t>
            </a:r>
            <a:r>
              <a:rPr lang="en-US" altLang="en-US" dirty="0"/>
              <a:t> yang </a:t>
            </a:r>
            <a:r>
              <a:rPr lang="en-US" altLang="en-US" dirty="0" err="1"/>
              <a:t>sama</a:t>
            </a:r>
            <a:r>
              <a:rPr lang="en-US" altLang="en-US" dirty="0"/>
              <a:t>,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terjadi</a:t>
            </a:r>
            <a:r>
              <a:rPr lang="en-US" altLang="en-US" dirty="0"/>
              <a:t> </a:t>
            </a:r>
            <a:r>
              <a:rPr lang="en-US" altLang="en-US" dirty="0" err="1"/>
              <a:t>pelemahan</a:t>
            </a:r>
            <a:r>
              <a:rPr lang="en-US" altLang="en-US" dirty="0"/>
              <a:t> </a:t>
            </a:r>
            <a:r>
              <a:rPr lang="en-US" altLang="en-US" dirty="0" err="1"/>
              <a:t>sinyal</a:t>
            </a:r>
            <a:r>
              <a:rPr lang="en-US" altLang="en-US" dirty="0"/>
              <a:t>, </a:t>
            </a:r>
            <a:r>
              <a:rPr lang="en-US" altLang="en-US" dirty="0" err="1"/>
              <a:t>dan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ada</a:t>
            </a:r>
            <a:r>
              <a:rPr lang="en-US" altLang="en-US" dirty="0"/>
              <a:t> </a:t>
            </a:r>
            <a:r>
              <a:rPr lang="en-US" altLang="en-US" dirty="0" err="1"/>
              <a:t>pantulan</a:t>
            </a:r>
            <a:r>
              <a:rPr lang="en-US" altLang="en-US" dirty="0"/>
              <a:t> </a:t>
            </a:r>
            <a:r>
              <a:rPr lang="en-US" altLang="en-US" dirty="0" err="1"/>
              <a:t>ganda</a:t>
            </a:r>
            <a:r>
              <a:rPr lang="en-US" altLang="en-US" dirty="0"/>
              <a:t> </a:t>
            </a:r>
            <a:r>
              <a:rPr lang="en-US" altLang="en-US" dirty="0" err="1"/>
              <a:t>antar</a:t>
            </a:r>
            <a:r>
              <a:rPr lang="en-US" altLang="en-US" dirty="0"/>
              <a:t> </a:t>
            </a:r>
            <a:r>
              <a:rPr lang="en-US" altLang="en-US" dirty="0" err="1"/>
              <a:t>partikel</a:t>
            </a:r>
            <a:r>
              <a:rPr lang="en-US" altLang="en-US" dirty="0"/>
              <a:t>.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kondisi</a:t>
            </a:r>
            <a:r>
              <a:rPr lang="en-US" altLang="en-US" dirty="0"/>
              <a:t> </a:t>
            </a:r>
            <a:r>
              <a:rPr lang="en-US" altLang="en-US" dirty="0" err="1"/>
              <a:t>cuaca</a:t>
            </a:r>
            <a:r>
              <a:rPr lang="en-US" altLang="en-US" dirty="0"/>
              <a:t> </a:t>
            </a:r>
            <a:r>
              <a:rPr lang="en-US" altLang="en-US" dirty="0" err="1"/>
              <a:t>ekstrem</a:t>
            </a:r>
            <a:r>
              <a:rPr lang="en-US" altLang="en-US" dirty="0"/>
              <a:t> (</a:t>
            </a:r>
            <a:r>
              <a:rPr lang="en-US" altLang="en-US" dirty="0" err="1"/>
              <a:t>hujan</a:t>
            </a:r>
            <a:r>
              <a:rPr lang="en-US" altLang="en-US" dirty="0"/>
              <a:t> </a:t>
            </a:r>
            <a:r>
              <a:rPr lang="en-US" altLang="en-US" dirty="0" err="1"/>
              <a:t>sangat</a:t>
            </a:r>
            <a:r>
              <a:rPr lang="en-US" altLang="en-US" dirty="0"/>
              <a:t> </a:t>
            </a:r>
            <a:r>
              <a:rPr lang="en-US" altLang="en-US" dirty="0" err="1"/>
              <a:t>lebat</a:t>
            </a:r>
            <a:r>
              <a:rPr lang="en-US" altLang="en-US" dirty="0"/>
              <a:t>, hail, bright band, </a:t>
            </a:r>
            <a:r>
              <a:rPr lang="en-US" altLang="en-US" dirty="0" err="1"/>
              <a:t>atau</a:t>
            </a:r>
            <a:r>
              <a:rPr lang="en-US" altLang="en-US" dirty="0"/>
              <a:t> attenuation </a:t>
            </a:r>
            <a:r>
              <a:rPr lang="en-US" altLang="en-US" dirty="0" err="1"/>
              <a:t>kuat</a:t>
            </a:r>
            <a:r>
              <a:rPr lang="en-US" altLang="en-US" dirty="0"/>
              <a:t>), </a:t>
            </a:r>
            <a:r>
              <a:rPr lang="en-US" altLang="en-US" dirty="0" err="1"/>
              <a:t>beberapa</a:t>
            </a:r>
            <a:r>
              <a:rPr lang="en-US" altLang="en-US" dirty="0"/>
              <a:t> </a:t>
            </a:r>
            <a:r>
              <a:rPr lang="en-US" altLang="en-US" dirty="0" err="1"/>
              <a:t>asumsi</a:t>
            </a:r>
            <a:r>
              <a:rPr lang="en-US" altLang="en-US" dirty="0"/>
              <a:t> </a:t>
            </a:r>
            <a:r>
              <a:rPr lang="en-US" altLang="en-US" dirty="0" err="1"/>
              <a:t>ini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terpenuhi</a:t>
            </a:r>
            <a:r>
              <a:rPr lang="en-US" altLang="en-US" dirty="0"/>
              <a:t> </a:t>
            </a:r>
            <a:r>
              <a:rPr lang="en-US" altLang="en-US" dirty="0" err="1"/>
              <a:t>sehingga</a:t>
            </a:r>
            <a:r>
              <a:rPr lang="en-US" altLang="en-US" dirty="0"/>
              <a:t> </a:t>
            </a:r>
            <a:r>
              <a:rPr lang="en-US" altLang="en-US" dirty="0" err="1"/>
              <a:t>hasil</a:t>
            </a:r>
            <a:r>
              <a:rPr lang="en-US" altLang="en-US" dirty="0"/>
              <a:t> radar </a:t>
            </a:r>
            <a:r>
              <a:rPr lang="en-US" altLang="en-US" dirty="0" err="1"/>
              <a:t>dapat</a:t>
            </a:r>
            <a:r>
              <a:rPr lang="en-US" altLang="en-US" dirty="0"/>
              <a:t> </a:t>
            </a:r>
            <a:r>
              <a:rPr lang="en-US" altLang="en-US" dirty="0" err="1"/>
              <a:t>mengandung</a:t>
            </a:r>
            <a:r>
              <a:rPr lang="en-US" altLang="en-US" dirty="0"/>
              <a:t> </a:t>
            </a:r>
            <a:r>
              <a:rPr lang="en-US" altLang="en-US" dirty="0" err="1"/>
              <a:t>kesalahan</a:t>
            </a:r>
            <a:r>
              <a:rPr lang="en-US" altLang="en-US" dirty="0"/>
              <a:t> </a:t>
            </a:r>
            <a:endParaRPr lang="en-US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6627" name="HTMLTextArea1" r:id="rId2" imgW="2600280" imgH="1114560"/>
        </mc:Choice>
        <mc:Fallback>
          <p:control name="HTMLTextArea1" r:id="rId2" imgW="2600280" imgH="1114560">
            <p:pic>
              <p:nvPicPr>
                <p:cNvPr id="3" name="HTMLTextArea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451555" y="2325512"/>
                  <a:ext cx="2601913" cy="1112838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76290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8553</Words>
  <Application>Microsoft Office PowerPoint</Application>
  <PresentationFormat>Widescreen</PresentationFormat>
  <Paragraphs>1133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NURFA</dc:creator>
  <cp:lastModifiedBy>NURFA</cp:lastModifiedBy>
  <cp:revision>60</cp:revision>
  <dcterms:created xsi:type="dcterms:W3CDTF">2026-06-02T02:06:20Z</dcterms:created>
  <dcterms:modified xsi:type="dcterms:W3CDTF">2026-06-03T05:40:47Z</dcterms:modified>
</cp:coreProperties>
</file>